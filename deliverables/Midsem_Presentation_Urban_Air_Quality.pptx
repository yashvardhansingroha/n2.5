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2.xml" ContentType="application/vnd.openxmlformats-officedocument.drawingml.chart+xml"/>
  <Override PartName="/ppt/notesSlides/notesSlide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YAshvardhan Singroha" userId="2b6f4790360757f4" providerId="LiveId" clId="{81BCDABE-0B48-46ED-902A-7C971A84CBAE}"/>
    <pc:docChg chg="custSel modSld">
      <pc:chgData name="YAshvardhan Singroha" userId="2b6f4790360757f4" providerId="LiveId" clId="{81BCDABE-0B48-46ED-902A-7C971A84CBAE}" dt="2026-10-10T05:17:13.271" v="0" actId="20577"/>
      <pc:docMkLst>
        <pc:docMk/>
      </pc:docMkLst>
      <pc:sldChg chg="modSp mod">
        <pc:chgData name="YAshvardhan Singroha" userId="2b6f4790360757f4" providerId="LiveId" clId="{81BCDABE-0B48-46ED-902A-7C971A84CBAE}" dt="2026-10-10T05:17:13.271" v="0" actId="20577"/>
        <pc:sldMkLst>
          <pc:docMk/>
          <pc:sldMk cId="32122914" sldId="256"/>
        </pc:sldMkLst>
        <pc:spChg chg="mod">
          <ac:chgData name="YAshvardhan Singroha" userId="2b6f4790360757f4" providerId="LiveId" clId="{81BCDABE-0B48-46ED-902A-7C971A84CBAE}" dt="2026-10-10T05:17:13.271" v="0" actId="20577"/>
          <ac:spMkLst>
            <pc:docMk/>
            <pc:sldMk cId="32122914" sldId="256"/>
            <ac:spMk id="6" creationId="{A58C0E22-8EF3-483A-B42F-8819FEC1D59B}"/>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Within 1 ug/m3</c:v>
          </c:tx>
          <c:spPr>
            <a:solidFill>
              <a:srgbClr val="0C8582"/>
            </a:solidFill>
          </c:spPr>
          <c:invertIfNegative val="1"/>
          <c:dLbls>
            <c:spPr>
              <a:noFill/>
              <a:ln>
                <a:noFill/>
              </a:ln>
              <a:effectLst/>
            </c:sp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PM2.5</c:v>
                </c:pt>
                <c:pt idx="1">
                  <c:v>PM10</c:v>
                </c:pt>
              </c:strCache>
            </c:strRef>
          </c:cat>
          <c:val>
            <c:numRef>
              <c:f>'Chart Data'!$B$2:$B$3</c:f>
              <c:numCache>
                <c:formatCode>General</c:formatCode>
                <c:ptCount val="2"/>
                <c:pt idx="0">
                  <c:v>98.9</c:v>
                </c:pt>
                <c:pt idx="1">
                  <c:v>97.7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0B1D-480C-A700-55A0B699F4B5}"/>
            </c:ext>
          </c:extLst>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defRPr>
            </a:pPr>
            <a:endParaRPr lang="en-US"/>
          </a:p>
        </c:txPr>
        <c:crossAx val="48672768"/>
        <c:crosses val="autoZero"/>
        <c:auto val="1"/>
        <c:lblAlgn val="ctr"/>
        <c:lblOffset val="100"/>
        <c:noMultiLvlLbl val="1"/>
      </c:catAx>
      <c:valAx>
        <c:axId val="48672768"/>
        <c:scaling>
          <c:orientation val="minMax"/>
          <c:max val="100"/>
          <c:min val="0"/>
        </c:scaling>
        <c:delete val="1"/>
        <c:axPos val="l"/>
        <c:numFmt formatCode="General" sourceLinked="1"/>
        <c:majorTickMark val="none"/>
        <c:minorTickMark val="none"/>
        <c:tickLblPos val="nextTo"/>
        <c:crossAx val="48650112"/>
        <c:crosses val="autoZero"/>
        <c:crossBetween val="between"/>
        <c:majorUnit val="25"/>
      </c:valAx>
    </c:plotArea>
    <c:plotVisOnly val="1"/>
    <c:dispBlanksAs val="zero"/>
    <c:showDLblsOverMax val="1"/>
  </c:chart>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lineChart>
        <c:grouping val="standard"/>
        <c:varyColors val="0"/>
        <c:ser>
          <c:idx val="0"/>
          <c:order val="0"/>
          <c:tx>
            <c:v>Station PM10 modeled outlook</c:v>
          </c:tx>
          <c:marker>
            <c:symbol val="none"/>
          </c:marker>
          <c:dLbls>
            <c:spPr>
              <a:noFill/>
              <a:ln>
                <a:noFill/>
              </a:ln>
              <a:effectLst/>
            </c:sp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Data'!$A$2:$A$8</c:f>
              <c:strCache>
                <c:ptCount val="7"/>
                <c:pt idx="0">
                  <c:v>10-10</c:v>
                </c:pt>
                <c:pt idx="1">
                  <c:v>10-11</c:v>
                </c:pt>
                <c:pt idx="2">
                  <c:v>10-12</c:v>
                </c:pt>
                <c:pt idx="3">
                  <c:v>10-13</c:v>
                </c:pt>
                <c:pt idx="4">
                  <c:v>10-14</c:v>
                </c:pt>
                <c:pt idx="5">
                  <c:v>10-15</c:v>
                </c:pt>
                <c:pt idx="6">
                  <c:v>10-16</c:v>
                </c:pt>
              </c:strCache>
            </c:strRef>
          </c:cat>
          <c:val>
            <c:numRef>
              <c:f>'Chart Data'!$B$2:$B$8</c:f>
              <c:numCache>
                <c:formatCode>General</c:formatCode>
                <c:ptCount val="7"/>
                <c:pt idx="0">
                  <c:v>168</c:v>
                </c:pt>
                <c:pt idx="1">
                  <c:v>142.9</c:v>
                </c:pt>
                <c:pt idx="2">
                  <c:v>132.69999999999999</c:v>
                </c:pt>
                <c:pt idx="3">
                  <c:v>172.7</c:v>
                </c:pt>
                <c:pt idx="4">
                  <c:v>189.7</c:v>
                </c:pt>
                <c:pt idx="5">
                  <c:v>185.5</c:v>
                </c:pt>
                <c:pt idx="6">
                  <c:v>158.80000000000001</c:v>
                </c:pt>
              </c:numCache>
            </c:numRef>
          </c:val>
          <c:smooth val="1"/>
          <c:extLst>
            <c:ext xmlns:c16="http://schemas.microsoft.com/office/drawing/2014/chart" uri="{C3380CC4-5D6E-409C-BE32-E72D297353CC}">
              <c16:uniqueId val="{00000000-139E-4058-85CF-A5037493F9E8}"/>
            </c:ext>
          </c:extLst>
        </c:ser>
        <c:dLbls>
          <c:showLegendKey val="0"/>
          <c:showVal val="1"/>
          <c:showCatName val="0"/>
          <c:showSerName val="0"/>
          <c:showPercent val="0"/>
          <c:showBubbleSize val="0"/>
        </c:dLbls>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a:solidFill>
                  <a:srgbClr val="666666"/>
                </a:solidFill>
              </a:defRPr>
            </a:pPr>
            <a:endParaRPr lang="en-US"/>
          </a:p>
        </c:txPr>
        <c:crossAx val="48672768"/>
        <c:crosses val="autoZero"/>
        <c:auto val="1"/>
        <c:lblAlgn val="ctr"/>
        <c:lblOffset val="100"/>
        <c:noMultiLvlLbl val="1"/>
      </c:catAx>
      <c:valAx>
        <c:axId val="48672768"/>
        <c:scaling>
          <c:orientation val="minMax"/>
        </c:scaling>
        <c:delete val="1"/>
        <c:axPos val="l"/>
        <c:numFmt formatCode="General" sourceLinked="1"/>
        <c:majorTickMark val="none"/>
        <c:minorTickMark val="none"/>
        <c:tickLblPos val="nextTo"/>
        <c:crossAx val="48650112"/>
        <c:crosses val="autoZero"/>
        <c:crossBetween val="between"/>
      </c:valAx>
    </c:plotArea>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Introduce the research question: can a model improve on carrying forward yesterday's PM? This is a prototype, not an official health alert.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prototype and historical evaluations are implemented. Prospective live accuracy remains work in progress. Do not call the system complete or clinically validated.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Open-Meteo CAMS global history starts in August 2022. Station observations are from CPCB CAAQM via XKDR and OpenAQ. Missing particulate targets are not imputed. Sources: https://open-meteo.com/en/docs/air-quality-api ; https://airquality.xkdr.org/ ; https://docs.openaq.org/aws/about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Our gate required at least 95% of matched hourly readings within 1 ug/m3 and median signed difference no greater than 1 ug/m3. PM2.5 achieved 98.9%; PM10 97.7%. Unmatched hours remain. OpenAQ unit strings contain replacement characters, so byte-level unit equality was not verifiable. See results.json source_audit.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shared model has 21 inputs. All rolling PM features are shifted before the target date. Weather imputation and Isolation Forest are fitted only on training dates. If anomaly filtering leaves fewer than 10 normal rows, fitting falls back to all usable training rows. Calendar signals are activity proxies, not measured traffic.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 random train/test shuffle. Preprocessing and fit use training rows only. Each one-day test prediction may use the true previous-day PM. The final test uses stitched historical-forecast weather, not one archived forecast frozen before each target date. Human development did inspect final metrics, so this is not a pristine blind trial. Source: https://open-meteo.com/en/docs/historical-forecast-api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Station PM10 Random Forest achieved R2 0.732, exceedance recall 92.3%, precision 88.4%, false-positive rate 26.2% and exceedance base rate 68.4%. Station PM2.5 Random Forest scored 11.52 on the final test versus persistence 12.12, but won only 7/10 earlier windows; the rule required 8/10, so it was not promoted. Do not compare raw PM2.5 and PM10 MAEs across concentration scales. Internal evidence: results.json saved 9 October 2026.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saved forecast is a dated example, not a promise for the presentation day. The app internally bridges missing days. At issuance on 9 October, the first displayed station date 10 October has effective lead 5, not 1. If the station grows more than five days stale, CAMS becomes the outlook. It is not an official health alert.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latest 180 days are excluded from fitting and programmatic model selection, but were inspected during project development. Do not claim a one-time blind test. Prospective accuracy needs forecasts timestamped before their targets and matched to later outcomes. CPCB 24-hour standards: PM2.5 60 ug/m3, PM10 100 ug/m3. Source: https://cpcb.gov.in/upload/NAAQS_2019.pdf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10A0B41-6141-4C98-B661-46EA1B01BE7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B01BF87B-5339-46BD-AE64-032831A4BBCD}"/>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9049890B-E1F0-4240-8402-5489F5C0B049}"/>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50AA3A8C-8C00-41F2-9B55-B6339E1EE216}"/>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64FBCBD4-984F-42C7-B6D2-B24B9F679178}"/>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C290C4AD-EF70-4292-AAB3-F6C2F7F032E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AD67D726-11FE-4ED3-A72D-1B3FF535414C}"/>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3" name="Right column">
            <a:extLst>
              <a:ext uri="{FF2B5EF4-FFF2-40B4-BE49-F238E27FC236}">
                <a16:creationId xmlns:a16="http://schemas.microsoft.com/office/drawing/2014/main" id="{F73A85B3-7A12-4D7B-8B67-988171A1E2CE}"/>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8C4B167F-C938-4F4A-B2BA-F98A49DE1DF4}"/>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3D64A834-CCAD-482F-ACD8-13B37EFAD3AB}"/>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9"/>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397184E-6B1F-4B1C-A909-490901A1BFDC}"/>
              </a:ext>
            </a:extLst>
          </p:cNvPr>
          <p:cNvSpPr>
            <a:spLocks noGrp="1"/>
          </p:cNvSpPr>
          <p:nvPr/>
        </p:nvSpPr>
        <p:spPr>
          <a:xfrm>
            <a:off x="723900" y="1219200"/>
            <a:ext cx="10287000" cy="2000250"/>
          </a:xfrm>
          <a:prstGeom prst="rect">
            <a:avLst/>
          </a:prstGeom>
          <a:noFill/>
          <a:ln w="0">
            <a:noFill/>
            <a:prstDash val="solid"/>
          </a:ln>
        </p:spPr>
        <p:txBody>
          <a:bodyPr/>
          <a:lstStyle>
            <a:defPPr>
              <a:defRPr sz="4200" b="1">
                <a:solidFill>
                  <a:srgbClr val="14272E"/>
                </a:solidFill>
                <a:latin typeface="Arial"/>
                <a:ea typeface="Arial"/>
                <a:cs typeface="Arial"/>
              </a:defRPr>
            </a:defPPr>
          </a:lstStyle>
          <a:p>
            <a:pPr>
              <a:defRPr sz="4200" b="1">
                <a:solidFill>
                  <a:srgbClr val="14272E"/>
                </a:solidFill>
                <a:latin typeface="Arial"/>
                <a:ea typeface="Arial"/>
                <a:cs typeface="Arial"/>
              </a:defRPr>
            </a:pPr>
            <a:r>
              <a:rPr sz="4200" b="1">
                <a:solidFill>
                  <a:srgbClr val="14272E"/>
                </a:solidFill>
                <a:latin typeface="Arial"/>
                <a:ea typeface="Arial"/>
                <a:cs typeface="Arial"/>
              </a:rPr>
              <a:t>Urban Air Quality</a:t>
            </a:r>
          </a:p>
          <a:p>
            <a:pPr>
              <a:defRPr sz="4200" b="1">
                <a:solidFill>
                  <a:srgbClr val="14272E"/>
                </a:solidFill>
                <a:latin typeface="Arial"/>
                <a:ea typeface="Arial"/>
                <a:cs typeface="Arial"/>
              </a:defRPr>
            </a:pPr>
            <a:r>
              <a:rPr sz="4200" b="1">
                <a:solidFill>
                  <a:srgbClr val="14272E"/>
                </a:solidFill>
                <a:latin typeface="Arial"/>
                <a:ea typeface="Arial"/>
                <a:cs typeface="Arial"/>
              </a:rPr>
              <a:t>Early Warning System</a:t>
            </a:r>
          </a:p>
        </p:txBody>
      </p:sp>
      <p:sp>
        <p:nvSpPr>
          <p:cNvPr id="2" name="Rectangle 1">
            <a:extLst>
              <a:ext uri="{FF2B5EF4-FFF2-40B4-BE49-F238E27FC236}">
                <a16:creationId xmlns:a16="http://schemas.microsoft.com/office/drawing/2014/main" id="{D094A83A-BC72-4F74-A76F-27575FDFB88B}"/>
              </a:ext>
            </a:extLst>
          </p:cNvPr>
          <p:cNvSpPr>
            <a:spLocks noGrp="1"/>
          </p:cNvSpPr>
          <p:nvPr/>
        </p:nvSpPr>
        <p:spPr>
          <a:xfrm>
            <a:off x="742950" y="3476625"/>
            <a:ext cx="8572500" cy="19050"/>
          </a:xfrm>
          <a:prstGeom prst="rect">
            <a:avLst/>
          </a:prstGeom>
          <a:solidFill>
            <a:srgbClr val="0C8582"/>
          </a:solidFill>
          <a:ln w="0">
            <a:noFill/>
            <a:prstDash val="solid"/>
          </a:ln>
        </p:spPr>
      </p:sp>
      <p:sp>
        <p:nvSpPr>
          <p:cNvPr id="3" name="Rectangle 2">
            <a:extLst>
              <a:ext uri="{FF2B5EF4-FFF2-40B4-BE49-F238E27FC236}">
                <a16:creationId xmlns:a16="http://schemas.microsoft.com/office/drawing/2014/main" id="{F9613E6B-0BD0-4938-A199-893DA48DE072}"/>
              </a:ext>
            </a:extLst>
          </p:cNvPr>
          <p:cNvSpPr>
            <a:spLocks noGrp="1"/>
          </p:cNvSpPr>
          <p:nvPr/>
        </p:nvSpPr>
        <p:spPr>
          <a:xfrm>
            <a:off x="742950" y="3733800"/>
            <a:ext cx="8858250" cy="457200"/>
          </a:xfrm>
          <a:prstGeom prst="rect">
            <a:avLst/>
          </a:prstGeom>
          <a:noFill/>
          <a:ln w="0">
            <a:noFill/>
            <a:prstDash val="solid"/>
          </a:ln>
        </p:spPr>
        <p:txBody>
          <a:bodyPr/>
          <a:lstStyle>
            <a:defPPr>
              <a:defRPr sz="1875" b="0">
                <a:solidFill>
                  <a:srgbClr val="53656B"/>
                </a:solidFill>
                <a:latin typeface="Arial"/>
                <a:ea typeface="Arial"/>
                <a:cs typeface="Arial"/>
              </a:defRPr>
            </a:defPPr>
          </a:lstStyle>
          <a:p>
            <a:pPr>
              <a:defRPr sz="1875" b="0">
                <a:solidFill>
                  <a:srgbClr val="53656B"/>
                </a:solidFill>
                <a:latin typeface="Arial"/>
                <a:ea typeface="Arial"/>
                <a:cs typeface="Arial"/>
              </a:defRPr>
            </a:pPr>
            <a:r>
              <a:rPr sz="1875" b="0">
                <a:solidFill>
                  <a:srgbClr val="53656B"/>
                </a:solidFill>
                <a:latin typeface="Arial"/>
                <a:ea typeface="Arial"/>
                <a:cs typeface="Arial"/>
              </a:rPr>
              <a:t>Mid-semester project progress</a:t>
            </a:r>
          </a:p>
        </p:txBody>
      </p:sp>
      <p:sp>
        <p:nvSpPr>
          <p:cNvPr id="4" name="Rectangle 3">
            <a:extLst>
              <a:ext uri="{FF2B5EF4-FFF2-40B4-BE49-F238E27FC236}">
                <a16:creationId xmlns:a16="http://schemas.microsoft.com/office/drawing/2014/main" id="{E157B836-BE2B-4E11-BD08-1AF8C9E0B7F5}"/>
              </a:ext>
            </a:extLst>
          </p:cNvPr>
          <p:cNvSpPr>
            <a:spLocks noGrp="1"/>
          </p:cNvSpPr>
          <p:nvPr/>
        </p:nvSpPr>
        <p:spPr>
          <a:xfrm>
            <a:off x="742950" y="4295775"/>
            <a:ext cx="10001250" cy="428625"/>
          </a:xfrm>
          <a:prstGeom prst="rect">
            <a:avLst/>
          </a:prstGeom>
          <a:noFill/>
          <a:ln w="0">
            <a:noFill/>
            <a:prstDash val="solid"/>
          </a:ln>
        </p:spPr>
        <p:txBody>
          <a:bodyPr/>
          <a:lstStyle>
            <a:defPPr>
              <a:defRPr sz="1650" b="0">
                <a:solidFill>
                  <a:srgbClr val="14272E"/>
                </a:solidFill>
                <a:latin typeface="Arial"/>
                <a:ea typeface="Arial"/>
                <a:cs typeface="Arial"/>
              </a:defRPr>
            </a:defPPr>
          </a:lstStyle>
          <a:p>
            <a:pPr>
              <a:defRPr sz="1650" b="0">
                <a:solidFill>
                  <a:srgbClr val="14272E"/>
                </a:solidFill>
                <a:latin typeface="Arial"/>
                <a:ea typeface="Arial"/>
                <a:cs typeface="Arial"/>
              </a:defRPr>
            </a:pPr>
            <a:r>
              <a:rPr sz="1650" b="0">
                <a:solidFill>
                  <a:srgbClr val="14272E"/>
                </a:solidFill>
                <a:latin typeface="Arial"/>
                <a:ea typeface="Arial"/>
                <a:cs typeface="Arial"/>
              </a:rPr>
              <a:t>PM2.5 and PM10 daily forecasting in Delhi</a:t>
            </a:r>
          </a:p>
        </p:txBody>
      </p:sp>
      <p:sp>
        <p:nvSpPr>
          <p:cNvPr id="5" name="Rectangle 4">
            <a:extLst>
              <a:ext uri="{FF2B5EF4-FFF2-40B4-BE49-F238E27FC236}">
                <a16:creationId xmlns:a16="http://schemas.microsoft.com/office/drawing/2014/main" id="{BE7A4D0F-FAF7-4129-8710-54F169451C7D}"/>
              </a:ext>
            </a:extLst>
          </p:cNvPr>
          <p:cNvSpPr>
            <a:spLocks noGrp="1"/>
          </p:cNvSpPr>
          <p:nvPr/>
        </p:nvSpPr>
        <p:spPr>
          <a:xfrm>
            <a:off x="742950" y="5391150"/>
            <a:ext cx="7620000" cy="323850"/>
          </a:xfrm>
          <a:prstGeom prst="rect">
            <a:avLst/>
          </a:prstGeom>
          <a:noFill/>
          <a:ln w="0">
            <a:noFill/>
            <a:prstDash val="solid"/>
          </a:ln>
        </p:spPr>
        <p:txBody>
          <a:bodyPr/>
          <a:lstStyle>
            <a:defPPr>
              <a:defRPr sz="1425" b="0">
                <a:solidFill>
                  <a:srgbClr val="14272E"/>
                </a:solidFill>
                <a:latin typeface="Arial"/>
                <a:ea typeface="Arial"/>
                <a:cs typeface="Arial"/>
              </a:defRPr>
            </a:defPPr>
          </a:lstStyle>
          <a:p>
            <a:pPr>
              <a:defRPr sz="1425" b="0">
                <a:solidFill>
                  <a:srgbClr val="14272E"/>
                </a:solidFill>
                <a:latin typeface="Arial"/>
                <a:ea typeface="Arial"/>
                <a:cs typeface="Arial"/>
              </a:defRPr>
            </a:pPr>
            <a:r>
              <a:rPr sz="1425" b="0">
                <a:solidFill>
                  <a:srgbClr val="14272E"/>
                </a:solidFill>
                <a:latin typeface="Arial"/>
                <a:ea typeface="Arial"/>
                <a:cs typeface="Arial"/>
              </a:rPr>
              <a:t>Submitted to Prof. Anupam Singhal</a:t>
            </a:r>
          </a:p>
        </p:txBody>
      </p:sp>
      <p:sp>
        <p:nvSpPr>
          <p:cNvPr id="6" name="Rectangle 5">
            <a:extLst>
              <a:ext uri="{FF2B5EF4-FFF2-40B4-BE49-F238E27FC236}">
                <a16:creationId xmlns:a16="http://schemas.microsoft.com/office/drawing/2014/main" id="{A58C0E22-8EF3-483A-B42F-8819FEC1D59B}"/>
              </a:ext>
            </a:extLst>
          </p:cNvPr>
          <p:cNvSpPr>
            <a:spLocks noGrp="1"/>
          </p:cNvSpPr>
          <p:nvPr/>
        </p:nvSpPr>
        <p:spPr>
          <a:xfrm>
            <a:off x="742950" y="5791200"/>
            <a:ext cx="10001250" cy="285750"/>
          </a:xfrm>
          <a:prstGeom prst="rect">
            <a:avLst/>
          </a:prstGeom>
          <a:noFill/>
          <a:ln w="0">
            <a:noFill/>
            <a:prstDash val="solid"/>
          </a:ln>
        </p:spPr>
        <p:txBody>
          <a:bodyPr/>
          <a:lstStyle>
            <a:defPPr>
              <a:defRPr sz="1200" b="0">
                <a:solidFill>
                  <a:srgbClr val="53656B"/>
                </a:solidFill>
                <a:latin typeface="Arial"/>
                <a:ea typeface="Arial"/>
                <a:cs typeface="Arial"/>
              </a:defRPr>
            </a:defPPr>
          </a:lstStyle>
          <a:p>
            <a:pPr>
              <a:defRPr sz="1200" b="0">
                <a:solidFill>
                  <a:srgbClr val="53656B"/>
                </a:solidFill>
                <a:latin typeface="Arial"/>
                <a:ea typeface="Arial"/>
                <a:cs typeface="Arial"/>
              </a:defRPr>
            </a:pPr>
            <a:r>
              <a:rPr lang="en-US" sz="1200" b="0">
                <a:solidFill>
                  <a:srgbClr val="53656B"/>
                </a:solidFill>
                <a:latin typeface="Arial"/>
                <a:ea typeface="Arial"/>
                <a:cs typeface="Arial"/>
              </a:rPr>
              <a:t>Submitted by Yashvardhan Singroha    |    10 October 2026</a:t>
            </a:r>
            <a:endParaRPr sz="1200" b="0">
              <a:solidFill>
                <a:srgbClr val="53656B"/>
              </a:solidFill>
              <a:latin typeface="Arial"/>
              <a:ea typeface="Arial"/>
              <a:cs typeface="Arial"/>
            </a:endParaRPr>
          </a:p>
        </p:txBody>
      </p:sp>
    </p:spTree>
    <p:extLst>
      <p:ext uri="{BB962C8B-B14F-4D97-AF65-F5344CB8AC3E}">
        <p14:creationId xmlns:p14="http://schemas.microsoft.com/office/powerpoint/2010/main" val="321229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9"/>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56E1E30-A389-42A2-B040-DD1DC44C1019}"/>
              </a:ext>
            </a:extLst>
          </p:cNvPr>
          <p:cNvSpPr>
            <a:spLocks noGrp="1"/>
          </p:cNvSpPr>
          <p:nvPr/>
        </p:nvSpPr>
        <p:spPr>
          <a:xfrm>
            <a:off x="723900" y="514350"/>
            <a:ext cx="10744200" cy="857250"/>
          </a:xfrm>
          <a:prstGeom prst="rect">
            <a:avLst/>
          </a:prstGeom>
          <a:noFill/>
          <a:ln w="0">
            <a:noFill/>
            <a:prstDash val="solid"/>
          </a:ln>
        </p:spPr>
        <p:txBody>
          <a:bodyPr/>
          <a:lstStyle>
            <a:defPPr>
              <a:defRPr sz="2700" b="1">
                <a:solidFill>
                  <a:srgbClr val="14272E"/>
                </a:solidFill>
                <a:latin typeface="Arial"/>
                <a:ea typeface="Arial"/>
                <a:cs typeface="Arial"/>
              </a:defRPr>
            </a:defPPr>
          </a:lstStyle>
          <a:p>
            <a:pPr>
              <a:defRPr sz="2700" b="1">
                <a:solidFill>
                  <a:srgbClr val="14272E"/>
                </a:solidFill>
                <a:latin typeface="Arial"/>
                <a:ea typeface="Arial"/>
                <a:cs typeface="Arial"/>
              </a:defRPr>
            </a:pPr>
            <a:r>
              <a:rPr sz="2700" b="1">
                <a:solidFill>
                  <a:srgbClr val="14272E"/>
                </a:solidFill>
                <a:latin typeface="Arial"/>
                <a:ea typeface="Arial"/>
                <a:cs typeface="Arial"/>
              </a:rPr>
              <a:t>Research question and project status</a:t>
            </a:r>
          </a:p>
        </p:txBody>
      </p:sp>
      <p:sp>
        <p:nvSpPr>
          <p:cNvPr id="2" name="Rectangle 1">
            <a:extLst>
              <a:ext uri="{FF2B5EF4-FFF2-40B4-BE49-F238E27FC236}">
                <a16:creationId xmlns:a16="http://schemas.microsoft.com/office/drawing/2014/main" id="{2A1836E0-D683-435A-B75A-96E7597444FC}"/>
              </a:ext>
            </a:extLst>
          </p:cNvPr>
          <p:cNvSpPr>
            <a:spLocks noGrp="1"/>
          </p:cNvSpPr>
          <p:nvPr/>
        </p:nvSpPr>
        <p:spPr>
          <a:xfrm>
            <a:off x="11115675" y="6286500"/>
            <a:ext cx="428625" cy="228600"/>
          </a:xfrm>
          <a:prstGeom prst="rect">
            <a:avLst/>
          </a:prstGeom>
          <a:noFill/>
          <a:ln w="0">
            <a:noFill/>
            <a:prstDash val="solid"/>
          </a:ln>
        </p:spPr>
        <p:txBody>
          <a:bodyPr/>
          <a:lstStyle>
            <a:defPPr>
              <a:defRPr sz="1050" b="0">
                <a:solidFill>
                  <a:srgbClr val="53656B"/>
                </a:solidFill>
                <a:latin typeface="Arial"/>
                <a:ea typeface="Arial"/>
                <a:cs typeface="Arial"/>
              </a:defRPr>
            </a:defPPr>
          </a:lstStyle>
          <a:p>
            <a:pPr>
              <a:defRPr sz="1050" b="0">
                <a:solidFill>
                  <a:srgbClr val="53656B"/>
                </a:solidFill>
                <a:latin typeface="Arial"/>
                <a:ea typeface="Arial"/>
                <a:cs typeface="Arial"/>
              </a:defRPr>
            </a:pPr>
            <a:r>
              <a:rPr sz="1050" b="0">
                <a:solidFill>
                  <a:srgbClr val="53656B"/>
                </a:solidFill>
                <a:latin typeface="Arial"/>
                <a:ea typeface="Arial"/>
                <a:cs typeface="Arial"/>
              </a:rPr>
              <a:t>02</a:t>
            </a:r>
          </a:p>
        </p:txBody>
      </p:sp>
      <p:sp>
        <p:nvSpPr>
          <p:cNvPr id="3" name="Rectangle 2">
            <a:extLst>
              <a:ext uri="{FF2B5EF4-FFF2-40B4-BE49-F238E27FC236}">
                <a16:creationId xmlns:a16="http://schemas.microsoft.com/office/drawing/2014/main" id="{F204E856-D5D5-4D4E-9D7A-D8AA27760D3C}"/>
              </a:ext>
            </a:extLst>
          </p:cNvPr>
          <p:cNvSpPr>
            <a:spLocks noGrp="1"/>
          </p:cNvSpPr>
          <p:nvPr/>
        </p:nvSpPr>
        <p:spPr>
          <a:xfrm>
            <a:off x="762000" y="1857375"/>
            <a:ext cx="10287000" cy="838200"/>
          </a:xfrm>
          <a:prstGeom prst="rect">
            <a:avLst/>
          </a:prstGeom>
          <a:noFill/>
          <a:ln w="0">
            <a:noFill/>
            <a:prstDash val="solid"/>
          </a:ln>
        </p:spPr>
        <p:txBody>
          <a:bodyPr/>
          <a:lstStyle>
            <a:defPPr>
              <a:defRPr sz="2250" b="1">
                <a:solidFill>
                  <a:srgbClr val="14272E"/>
                </a:solidFill>
                <a:latin typeface="Arial"/>
                <a:ea typeface="Arial"/>
                <a:cs typeface="Arial"/>
              </a:defRPr>
            </a:defPPr>
          </a:lstStyle>
          <a:p>
            <a:pPr>
              <a:defRPr sz="2250" b="1">
                <a:solidFill>
                  <a:srgbClr val="14272E"/>
                </a:solidFill>
                <a:latin typeface="Arial"/>
                <a:ea typeface="Arial"/>
                <a:cs typeface="Arial"/>
              </a:defRPr>
            </a:pPr>
            <a:r>
              <a:rPr sz="2250" b="1">
                <a:solidFill>
                  <a:srgbClr val="14272E"/>
                </a:solidFill>
                <a:latin typeface="Arial"/>
                <a:ea typeface="Arial"/>
                <a:cs typeface="Arial"/>
              </a:rPr>
              <a:t>Can weather, prior PM and calendar effects beat persistence?</a:t>
            </a:r>
          </a:p>
        </p:txBody>
      </p:sp>
      <p:sp>
        <p:nvSpPr>
          <p:cNvPr id="4" name="Rectangle 3">
            <a:extLst>
              <a:ext uri="{FF2B5EF4-FFF2-40B4-BE49-F238E27FC236}">
                <a16:creationId xmlns:a16="http://schemas.microsoft.com/office/drawing/2014/main" id="{29E9A157-AE0A-4904-AE1A-658EA29DF77D}"/>
              </a:ext>
            </a:extLst>
          </p:cNvPr>
          <p:cNvSpPr>
            <a:spLocks noGrp="1"/>
          </p:cNvSpPr>
          <p:nvPr/>
        </p:nvSpPr>
        <p:spPr>
          <a:xfrm>
            <a:off x="762000" y="2857500"/>
            <a:ext cx="10334625" cy="19050"/>
          </a:xfrm>
          <a:prstGeom prst="rect">
            <a:avLst/>
          </a:prstGeom>
          <a:solidFill>
            <a:srgbClr val="D8E0E1"/>
          </a:solidFill>
          <a:ln w="0">
            <a:noFill/>
            <a:prstDash val="solid"/>
          </a:ln>
        </p:spPr>
      </p:sp>
      <p:sp>
        <p:nvSpPr>
          <p:cNvPr id="5" name="Rectangle 4">
            <a:extLst>
              <a:ext uri="{FF2B5EF4-FFF2-40B4-BE49-F238E27FC236}">
                <a16:creationId xmlns:a16="http://schemas.microsoft.com/office/drawing/2014/main" id="{2FB95FBC-02B9-480B-B87C-F440ACA233B4}"/>
              </a:ext>
            </a:extLst>
          </p:cNvPr>
          <p:cNvSpPr>
            <a:spLocks noGrp="1"/>
          </p:cNvSpPr>
          <p:nvPr/>
        </p:nvSpPr>
        <p:spPr>
          <a:xfrm>
            <a:off x="762000" y="3257550"/>
            <a:ext cx="4572000" cy="438150"/>
          </a:xfrm>
          <a:prstGeom prst="rect">
            <a:avLst/>
          </a:prstGeom>
          <a:noFill/>
          <a:ln w="0">
            <a:noFill/>
            <a:prstDash val="solid"/>
          </a:ln>
        </p:spPr>
        <p:txBody>
          <a:bodyPr/>
          <a:lstStyle>
            <a:defPPr>
              <a:defRPr sz="1800" b="1">
                <a:solidFill>
                  <a:srgbClr val="0C8582"/>
                </a:solidFill>
                <a:latin typeface="Arial"/>
                <a:ea typeface="Arial"/>
                <a:cs typeface="Arial"/>
              </a:defRPr>
            </a:defPPr>
          </a:lstStyle>
          <a:p>
            <a:pPr>
              <a:defRPr sz="1800" b="1">
                <a:solidFill>
                  <a:srgbClr val="0C8582"/>
                </a:solidFill>
                <a:latin typeface="Arial"/>
                <a:ea typeface="Arial"/>
                <a:cs typeface="Arial"/>
              </a:defRPr>
            </a:pPr>
            <a:r>
              <a:rPr sz="1800" b="1">
                <a:solidFill>
                  <a:srgbClr val="0C8582"/>
                </a:solidFill>
                <a:latin typeface="Arial"/>
                <a:ea typeface="Arial"/>
                <a:cs typeface="Arial"/>
              </a:rPr>
              <a:t>Completed</a:t>
            </a:r>
          </a:p>
        </p:txBody>
      </p:sp>
      <p:sp>
        <p:nvSpPr>
          <p:cNvPr id="6" name="Rectangle 5">
            <a:extLst>
              <a:ext uri="{FF2B5EF4-FFF2-40B4-BE49-F238E27FC236}">
                <a16:creationId xmlns:a16="http://schemas.microsoft.com/office/drawing/2014/main" id="{7572A2E2-D59D-40C1-8A3E-36976CD4A657}"/>
              </a:ext>
            </a:extLst>
          </p:cNvPr>
          <p:cNvSpPr>
            <a:spLocks noGrp="1"/>
          </p:cNvSpPr>
          <p:nvPr/>
        </p:nvSpPr>
        <p:spPr>
          <a:xfrm>
            <a:off x="762000" y="3800475"/>
            <a:ext cx="4857750" cy="1714500"/>
          </a:xfrm>
          <a:prstGeom prst="rect">
            <a:avLst/>
          </a:prstGeom>
          <a:noFill/>
          <a:ln w="0">
            <a:noFill/>
            <a:prstDash val="solid"/>
          </a:ln>
        </p:spPr>
        <p:txBody>
          <a:bodyPr/>
          <a:lstStyle>
            <a:defPPr>
              <a:defRPr sz="1650" b="0">
                <a:solidFill>
                  <a:srgbClr val="14272E"/>
                </a:solidFill>
                <a:latin typeface="Arial"/>
                <a:ea typeface="Arial"/>
                <a:cs typeface="Arial"/>
              </a:defRPr>
            </a:defPPr>
          </a:lstStyle>
          <a:p>
            <a:pPr>
              <a:defRPr sz="1650" b="0">
                <a:solidFill>
                  <a:srgbClr val="14272E"/>
                </a:solidFill>
                <a:latin typeface="Arial"/>
                <a:ea typeface="Arial"/>
                <a:cs typeface="Arial"/>
              </a:defRPr>
            </a:pPr>
            <a:r>
              <a:rPr sz="1650" b="0">
                <a:solidFill>
                  <a:srgbClr val="14272E"/>
                </a:solidFill>
                <a:latin typeface="Arial"/>
                <a:ea typeface="Arial"/>
                <a:cs typeface="Arial"/>
              </a:rPr>
              <a:t>Two-pollutant acquisition and caching</a:t>
            </a:r>
          </a:p>
          <a:p>
            <a:pPr>
              <a:defRPr sz="1650" b="0">
                <a:solidFill>
                  <a:srgbClr val="14272E"/>
                </a:solidFill>
                <a:latin typeface="Arial"/>
                <a:ea typeface="Arial"/>
                <a:cs typeface="Arial"/>
              </a:defRPr>
            </a:pPr>
            <a:r>
              <a:rPr sz="1650" b="0">
                <a:solidFill>
                  <a:srgbClr val="14272E"/>
                </a:solidFill>
                <a:latin typeface="Arial"/>
                <a:ea typeface="Arial"/>
                <a:cs typeface="Arial"/>
              </a:rPr>
              <a:t>Audited station archive merge</a:t>
            </a:r>
          </a:p>
          <a:p>
            <a:pPr>
              <a:defRPr sz="1650" b="0">
                <a:solidFill>
                  <a:srgbClr val="14272E"/>
                </a:solidFill>
                <a:latin typeface="Arial"/>
                <a:ea typeface="Arial"/>
                <a:cs typeface="Arial"/>
              </a:defRPr>
            </a:pPr>
            <a:r>
              <a:rPr sz="1650" b="0">
                <a:solidFill>
                  <a:srgbClr val="14272E"/>
                </a:solidFill>
                <a:latin typeface="Arial"/>
                <a:ea typeface="Arial"/>
                <a:cs typeface="Arial"/>
              </a:rPr>
              <a:t>Chronological backtests and live dashboard</a:t>
            </a:r>
          </a:p>
        </p:txBody>
      </p:sp>
      <p:sp>
        <p:nvSpPr>
          <p:cNvPr id="7" name="Rectangle 6">
            <a:extLst>
              <a:ext uri="{FF2B5EF4-FFF2-40B4-BE49-F238E27FC236}">
                <a16:creationId xmlns:a16="http://schemas.microsoft.com/office/drawing/2014/main" id="{C1DA5C60-E5B6-46E5-8609-01A56725BCF1}"/>
              </a:ext>
            </a:extLst>
          </p:cNvPr>
          <p:cNvSpPr>
            <a:spLocks noGrp="1"/>
          </p:cNvSpPr>
          <p:nvPr/>
        </p:nvSpPr>
        <p:spPr>
          <a:xfrm>
            <a:off x="6210300" y="3257550"/>
            <a:ext cx="4572000" cy="438150"/>
          </a:xfrm>
          <a:prstGeom prst="rect">
            <a:avLst/>
          </a:prstGeom>
          <a:noFill/>
          <a:ln w="0">
            <a:noFill/>
            <a:prstDash val="solid"/>
          </a:ln>
        </p:spPr>
        <p:txBody>
          <a:bodyPr/>
          <a:lstStyle>
            <a:defPPr>
              <a:defRPr sz="1800" b="1">
                <a:solidFill>
                  <a:srgbClr val="D05D4C"/>
                </a:solidFill>
                <a:latin typeface="Arial"/>
                <a:ea typeface="Arial"/>
                <a:cs typeface="Arial"/>
              </a:defRPr>
            </a:defPPr>
          </a:lstStyle>
          <a:p>
            <a:pPr>
              <a:defRPr sz="1800" b="1">
                <a:solidFill>
                  <a:srgbClr val="D05D4C"/>
                </a:solidFill>
                <a:latin typeface="Arial"/>
                <a:ea typeface="Arial"/>
                <a:cs typeface="Arial"/>
              </a:defRPr>
            </a:pPr>
            <a:r>
              <a:rPr sz="1800" b="1">
                <a:solidFill>
                  <a:srgbClr val="D05D4C"/>
                </a:solidFill>
                <a:latin typeface="Arial"/>
                <a:ea typeface="Arial"/>
                <a:cs typeface="Arial"/>
              </a:rPr>
              <a:t>Next stage</a:t>
            </a:r>
          </a:p>
        </p:txBody>
      </p:sp>
      <p:sp>
        <p:nvSpPr>
          <p:cNvPr id="8" name="Rectangle 7">
            <a:extLst>
              <a:ext uri="{FF2B5EF4-FFF2-40B4-BE49-F238E27FC236}">
                <a16:creationId xmlns:a16="http://schemas.microsoft.com/office/drawing/2014/main" id="{5584D7D1-D6A4-4EA2-8DE6-44BF56C17F1C}"/>
              </a:ext>
            </a:extLst>
          </p:cNvPr>
          <p:cNvSpPr>
            <a:spLocks noGrp="1"/>
          </p:cNvSpPr>
          <p:nvPr/>
        </p:nvSpPr>
        <p:spPr>
          <a:xfrm>
            <a:off x="6210300" y="3800475"/>
            <a:ext cx="4762500" cy="1714500"/>
          </a:xfrm>
          <a:prstGeom prst="rect">
            <a:avLst/>
          </a:prstGeom>
          <a:noFill/>
          <a:ln w="0">
            <a:noFill/>
            <a:prstDash val="solid"/>
          </a:ln>
        </p:spPr>
        <p:txBody>
          <a:bodyPr/>
          <a:lstStyle>
            <a:defPPr>
              <a:defRPr sz="1650" b="0">
                <a:solidFill>
                  <a:srgbClr val="14272E"/>
                </a:solidFill>
                <a:latin typeface="Arial"/>
                <a:ea typeface="Arial"/>
                <a:cs typeface="Arial"/>
              </a:defRPr>
            </a:defPPr>
          </a:lstStyle>
          <a:p>
            <a:pPr>
              <a:defRPr sz="1650" b="0">
                <a:solidFill>
                  <a:srgbClr val="14272E"/>
                </a:solidFill>
                <a:latin typeface="Arial"/>
                <a:ea typeface="Arial"/>
                <a:cs typeface="Arial"/>
              </a:defRPr>
            </a:pPr>
            <a:r>
              <a:rPr sz="1650" b="0">
                <a:solidFill>
                  <a:srgbClr val="14272E"/>
                </a:solidFill>
                <a:latin typeface="Arial"/>
                <a:ea typeface="Arial"/>
                <a:cs typeface="Arial"/>
              </a:rPr>
              <a:t>Prospective forecast versus later actuals</a:t>
            </a:r>
          </a:p>
          <a:p>
            <a:pPr>
              <a:defRPr sz="1650" b="0">
                <a:solidFill>
                  <a:srgbClr val="14272E"/>
                </a:solidFill>
                <a:latin typeface="Arial"/>
                <a:ea typeface="Arial"/>
                <a:cs typeface="Arial"/>
              </a:defRPr>
            </a:pPr>
            <a:r>
              <a:rPr sz="1650" b="0">
                <a:solidFill>
                  <a:srgbClr val="14272E"/>
                </a:solidFill>
                <a:latin typeface="Arial"/>
                <a:ea typeface="Arial"/>
                <a:cs typeface="Arial"/>
              </a:rPr>
              <a:t>Fixed issue-time weather validation</a:t>
            </a:r>
          </a:p>
          <a:p>
            <a:pPr>
              <a:defRPr sz="1650" b="0">
                <a:solidFill>
                  <a:srgbClr val="14272E"/>
                </a:solidFill>
                <a:latin typeface="Arial"/>
                <a:ea typeface="Arial"/>
                <a:cs typeface="Arial"/>
              </a:defRPr>
            </a:pPr>
            <a:r>
              <a:rPr sz="1650" b="0">
                <a:solidFill>
                  <a:srgbClr val="14272E"/>
                </a:solidFill>
                <a:latin typeface="Arial"/>
                <a:ea typeface="Arial"/>
                <a:cs typeface="Arial"/>
              </a:rPr>
              <a:t>Longer station and fire coverage</a:t>
            </a:r>
          </a:p>
        </p:txBody>
      </p:sp>
    </p:spTree>
    <p:extLst>
      <p:ext uri="{BB962C8B-B14F-4D97-AF65-F5344CB8AC3E}">
        <p14:creationId xmlns:p14="http://schemas.microsoft.com/office/powerpoint/2010/main" val="153809808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9"/>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056EF0E-DA97-4234-8952-BE504BFCB953}"/>
              </a:ext>
            </a:extLst>
          </p:cNvPr>
          <p:cNvSpPr>
            <a:spLocks noGrp="1"/>
          </p:cNvSpPr>
          <p:nvPr/>
        </p:nvSpPr>
        <p:spPr>
          <a:xfrm>
            <a:off x="723900" y="514350"/>
            <a:ext cx="10744200" cy="857250"/>
          </a:xfrm>
          <a:prstGeom prst="rect">
            <a:avLst/>
          </a:prstGeom>
          <a:noFill/>
          <a:ln w="0">
            <a:noFill/>
            <a:prstDash val="solid"/>
          </a:ln>
        </p:spPr>
        <p:txBody>
          <a:bodyPr/>
          <a:lstStyle>
            <a:defPPr>
              <a:defRPr sz="2700" b="1">
                <a:solidFill>
                  <a:srgbClr val="14272E"/>
                </a:solidFill>
                <a:latin typeface="Arial"/>
                <a:ea typeface="Arial"/>
                <a:cs typeface="Arial"/>
              </a:defRPr>
            </a:defPPr>
          </a:lstStyle>
          <a:p>
            <a:pPr>
              <a:defRPr sz="2700" b="1">
                <a:solidFill>
                  <a:srgbClr val="14272E"/>
                </a:solidFill>
                <a:latin typeface="Arial"/>
                <a:ea typeface="Arial"/>
                <a:cs typeface="Arial"/>
              </a:defRPr>
            </a:pPr>
            <a:r>
              <a:rPr sz="2700" b="1">
                <a:solidFill>
                  <a:srgbClr val="14272E"/>
                </a:solidFill>
                <a:latin typeface="Arial"/>
                <a:ea typeface="Arial"/>
                <a:cs typeface="Arial"/>
              </a:rPr>
              <a:t>Two distinct targets, uneven five-year coverage</a:t>
            </a:r>
          </a:p>
        </p:txBody>
      </p:sp>
      <p:sp>
        <p:nvSpPr>
          <p:cNvPr id="2" name="Rectangle 1">
            <a:extLst>
              <a:ext uri="{FF2B5EF4-FFF2-40B4-BE49-F238E27FC236}">
                <a16:creationId xmlns:a16="http://schemas.microsoft.com/office/drawing/2014/main" id="{81A2CA1E-61BD-484B-95F8-C8730BF25F76}"/>
              </a:ext>
            </a:extLst>
          </p:cNvPr>
          <p:cNvSpPr>
            <a:spLocks noGrp="1"/>
          </p:cNvSpPr>
          <p:nvPr/>
        </p:nvSpPr>
        <p:spPr>
          <a:xfrm>
            <a:off x="742950" y="1304925"/>
            <a:ext cx="10477500" cy="533400"/>
          </a:xfrm>
          <a:prstGeom prst="rect">
            <a:avLst/>
          </a:prstGeom>
          <a:noFill/>
          <a:ln w="0">
            <a:noFill/>
            <a:prstDash val="solid"/>
          </a:ln>
        </p:spPr>
        <p:txBody>
          <a:bodyPr/>
          <a:lstStyle>
            <a:defPPr>
              <a:defRPr sz="1350" b="0">
                <a:solidFill>
                  <a:srgbClr val="53656B"/>
                </a:solidFill>
                <a:latin typeface="Arial"/>
                <a:ea typeface="Arial"/>
                <a:cs typeface="Arial"/>
              </a:defRPr>
            </a:defPPr>
          </a:lstStyle>
          <a:p>
            <a:pPr>
              <a:defRPr sz="1350" b="0">
                <a:solidFill>
                  <a:srgbClr val="53656B"/>
                </a:solidFill>
                <a:latin typeface="Arial"/>
                <a:ea typeface="Arial"/>
                <a:cs typeface="Arial"/>
              </a:defRPr>
            </a:pPr>
            <a:r>
              <a:rPr sz="1350" b="0">
                <a:solidFill>
                  <a:srgbClr val="53656B"/>
                </a:solidFill>
                <a:latin typeface="Arial"/>
                <a:ea typeface="Arial"/>
                <a:cs typeface="Arial"/>
              </a:rPr>
              <a:t>Five years is the calendar window. Valid daily targets are fewer.</a:t>
            </a:r>
          </a:p>
        </p:txBody>
      </p:sp>
      <p:sp>
        <p:nvSpPr>
          <p:cNvPr id="3" name="Rectangle 2">
            <a:extLst>
              <a:ext uri="{FF2B5EF4-FFF2-40B4-BE49-F238E27FC236}">
                <a16:creationId xmlns:a16="http://schemas.microsoft.com/office/drawing/2014/main" id="{2134F17B-FDB7-4BB9-9DC2-EAD35F514EB3}"/>
              </a:ext>
            </a:extLst>
          </p:cNvPr>
          <p:cNvSpPr>
            <a:spLocks noGrp="1"/>
          </p:cNvSpPr>
          <p:nvPr/>
        </p:nvSpPr>
        <p:spPr>
          <a:xfrm>
            <a:off x="11115675" y="6286500"/>
            <a:ext cx="428625" cy="228600"/>
          </a:xfrm>
          <a:prstGeom prst="rect">
            <a:avLst/>
          </a:prstGeom>
          <a:noFill/>
          <a:ln w="0">
            <a:noFill/>
            <a:prstDash val="solid"/>
          </a:ln>
        </p:spPr>
        <p:txBody>
          <a:bodyPr/>
          <a:lstStyle>
            <a:defPPr>
              <a:defRPr sz="1050" b="0">
                <a:solidFill>
                  <a:srgbClr val="53656B"/>
                </a:solidFill>
                <a:latin typeface="Arial"/>
                <a:ea typeface="Arial"/>
                <a:cs typeface="Arial"/>
              </a:defRPr>
            </a:defPPr>
          </a:lstStyle>
          <a:p>
            <a:pPr>
              <a:defRPr sz="1050" b="0">
                <a:solidFill>
                  <a:srgbClr val="53656B"/>
                </a:solidFill>
                <a:latin typeface="Arial"/>
                <a:ea typeface="Arial"/>
                <a:cs typeface="Arial"/>
              </a:defRPr>
            </a:pPr>
            <a:r>
              <a:rPr sz="1050" b="0">
                <a:solidFill>
                  <a:srgbClr val="53656B"/>
                </a:solidFill>
                <a:latin typeface="Arial"/>
                <a:ea typeface="Arial"/>
                <a:cs typeface="Arial"/>
              </a:rPr>
              <a:t>03</a:t>
            </a:r>
          </a:p>
        </p:txBody>
      </p:sp>
      <p:graphicFrame>
        <p:nvGraphicFramePr>
          <p:cNvPr id="4" name="Table 3">
            <a:extLst>
              <a:ext uri="{FF2B5EF4-FFF2-40B4-BE49-F238E27FC236}">
                <a16:creationId xmlns:a16="http://schemas.microsoft.com/office/drawing/2014/main" id="{1AE92F6C-4915-4740-9EFD-DD7DCA61D565}"/>
              </a:ext>
            </a:extLst>
          </p:cNvPr>
          <p:cNvGraphicFramePr/>
          <p:nvPr/>
        </p:nvGraphicFramePr>
        <p:xfrm>
          <a:off x="762000" y="2238375"/>
          <a:ext cx="10668000" cy="2714625"/>
        </p:xfrm>
        <a:graphic>
          <a:graphicData uri="http://schemas.openxmlformats.org/drawingml/2006/table">
            <a:tbl>
              <a:tblPr firstRow="1" bandRow="1"/>
              <a:tblGrid>
                <a:gridCol w="3429000">
                  <a:extLst>
                    <a:ext uri="{9D8B030D-6E8A-4147-A177-3AD203B41FA5}">
                      <a16:colId xmlns:a16="http://schemas.microsoft.com/office/drawing/2014/main" val="20000"/>
                    </a:ext>
                  </a:extLst>
                </a:gridCol>
                <a:gridCol w="4667250">
                  <a:extLst>
                    <a:ext uri="{9D8B030D-6E8A-4147-A177-3AD203B41FA5}">
                      <a16:colId xmlns:a16="http://schemas.microsoft.com/office/drawing/2014/main" val="20001"/>
                    </a:ext>
                  </a:extLst>
                </a:gridCol>
                <a:gridCol w="2571750">
                  <a:extLst>
                    <a:ext uri="{9D8B030D-6E8A-4147-A177-3AD203B41FA5}">
                      <a16:colId xmlns:a16="http://schemas.microsoft.com/office/drawing/2014/main" val="20002"/>
                    </a:ext>
                  </a:extLst>
                </a:gridCol>
              </a:tblGrid>
              <a:tr h="542925">
                <a:tc>
                  <a:txBody>
                    <a:bodyPr/>
                    <a:lstStyle/>
                    <a:p>
                      <a:r>
                        <a:rPr sz="1275" b="1">
                          <a:solidFill>
                            <a:srgbClr val="FFFFFF"/>
                          </a:solidFill>
                          <a:latin typeface="Arial"/>
                          <a:ea typeface="Arial"/>
                          <a:cs typeface="Arial"/>
                        </a:rPr>
                        <a:t>Target</a:t>
                      </a:r>
                    </a:p>
                  </a:txBody>
                  <a:tcPr>
                    <a:solidFill>
                      <a:srgbClr val="14272E"/>
                    </a:solidFill>
                  </a:tcPr>
                </a:tc>
                <a:tc>
                  <a:txBody>
                    <a:bodyPr/>
                    <a:lstStyle/>
                    <a:p>
                      <a:r>
                        <a:rPr sz="1275" b="1">
                          <a:solidFill>
                            <a:srgbClr val="FFFFFF"/>
                          </a:solidFill>
                          <a:latin typeface="Arial"/>
                          <a:ea typeface="Arial"/>
                          <a:cs typeface="Arial"/>
                        </a:rPr>
                        <a:t>Calendar span</a:t>
                      </a:r>
                    </a:p>
                  </a:txBody>
                  <a:tcPr>
                    <a:solidFill>
                      <a:srgbClr val="14272E"/>
                    </a:solidFill>
                  </a:tcPr>
                </a:tc>
                <a:tc>
                  <a:txBody>
                    <a:bodyPr/>
                    <a:lstStyle/>
                    <a:p>
                      <a:r>
                        <a:rPr sz="1275" b="1">
                          <a:solidFill>
                            <a:srgbClr val="FFFFFF"/>
                          </a:solidFill>
                          <a:latin typeface="Arial"/>
                          <a:ea typeface="Arial"/>
                          <a:cs typeface="Arial"/>
                        </a:rPr>
                        <a:t>Valid days</a:t>
                      </a:r>
                    </a:p>
                  </a:txBody>
                  <a:tcPr>
                    <a:solidFill>
                      <a:srgbClr val="14272E"/>
                    </a:solidFill>
                  </a:tcPr>
                </a:tc>
                <a:extLst>
                  <a:ext uri="{0D108BD9-81ED-4DB2-BD59-A6C34878D82A}">
                    <a16:rowId xmlns:a16="http://schemas.microsoft.com/office/drawing/2014/main" val="10000"/>
                  </a:ext>
                </a:extLst>
              </a:tr>
              <a:tr h="542925">
                <a:tc>
                  <a:txBody>
                    <a:bodyPr/>
                    <a:lstStyle/>
                    <a:p>
                      <a:r>
                        <a:rPr sz="1350" b="0">
                          <a:solidFill>
                            <a:srgbClr val="14272E"/>
                          </a:solidFill>
                          <a:latin typeface="Arial"/>
                          <a:ea typeface="Arial"/>
                          <a:cs typeface="Arial"/>
                        </a:rPr>
                        <a:t>CAMS modeled PM2.5</a:t>
                      </a:r>
                    </a:p>
                  </a:txBody>
                  <a:tcPr>
                    <a:solidFill>
                      <a:srgbClr val="FFFFFF"/>
                    </a:solidFill>
                  </a:tcPr>
                </a:tc>
                <a:tc>
                  <a:txBody>
                    <a:bodyPr/>
                    <a:lstStyle/>
                    <a:p>
                      <a:r>
                        <a:rPr sz="1350" b="0">
                          <a:solidFill>
                            <a:srgbClr val="14272E"/>
                          </a:solidFill>
                          <a:latin typeface="Arial"/>
                          <a:ea typeface="Arial"/>
                          <a:cs typeface="Arial"/>
                        </a:rPr>
                        <a:t>9 Oct 2021 - 8 Oct 2026</a:t>
                      </a:r>
                    </a:p>
                  </a:txBody>
                  <a:tcPr>
                    <a:solidFill>
                      <a:srgbClr val="FFFFFF"/>
                    </a:solidFill>
                  </a:tcPr>
                </a:tc>
                <a:tc>
                  <a:txBody>
                    <a:bodyPr/>
                    <a:lstStyle/>
                    <a:p>
                      <a:r>
                        <a:rPr sz="1350" b="0">
                          <a:solidFill>
                            <a:srgbClr val="14272E"/>
                          </a:solidFill>
                          <a:latin typeface="Arial"/>
                          <a:ea typeface="Arial"/>
                          <a:cs typeface="Arial"/>
                        </a:rPr>
                        <a:t>1,526 / 1,826</a:t>
                      </a:r>
                    </a:p>
                  </a:txBody>
                  <a:tcPr>
                    <a:solidFill>
                      <a:srgbClr val="FFFFFF"/>
                    </a:solidFill>
                  </a:tcPr>
                </a:tc>
                <a:extLst>
                  <a:ext uri="{0D108BD9-81ED-4DB2-BD59-A6C34878D82A}">
                    <a16:rowId xmlns:a16="http://schemas.microsoft.com/office/drawing/2014/main" val="10001"/>
                  </a:ext>
                </a:extLst>
              </a:tr>
              <a:tr h="542925">
                <a:tc>
                  <a:txBody>
                    <a:bodyPr/>
                    <a:lstStyle/>
                    <a:p>
                      <a:r>
                        <a:rPr sz="1350" b="0">
                          <a:solidFill>
                            <a:srgbClr val="14272E"/>
                          </a:solidFill>
                          <a:latin typeface="Arial"/>
                          <a:ea typeface="Arial"/>
                          <a:cs typeface="Arial"/>
                        </a:rPr>
                        <a:t>CAMS modeled PM10</a:t>
                      </a:r>
                    </a:p>
                  </a:txBody>
                  <a:tcPr>
                    <a:solidFill>
                      <a:srgbClr val="EFF3F3"/>
                    </a:solidFill>
                  </a:tcPr>
                </a:tc>
                <a:tc>
                  <a:txBody>
                    <a:bodyPr/>
                    <a:lstStyle/>
                    <a:p>
                      <a:r>
                        <a:rPr sz="1350" b="0">
                          <a:solidFill>
                            <a:srgbClr val="14272E"/>
                          </a:solidFill>
                          <a:latin typeface="Arial"/>
                          <a:ea typeface="Arial"/>
                          <a:cs typeface="Arial"/>
                        </a:rPr>
                        <a:t>9 Oct 2021 - 8 Oct 2026</a:t>
                      </a:r>
                    </a:p>
                  </a:txBody>
                  <a:tcPr>
                    <a:solidFill>
                      <a:srgbClr val="EFF3F3"/>
                    </a:solidFill>
                  </a:tcPr>
                </a:tc>
                <a:tc>
                  <a:txBody>
                    <a:bodyPr/>
                    <a:lstStyle/>
                    <a:p>
                      <a:r>
                        <a:rPr sz="1350" b="0">
                          <a:solidFill>
                            <a:srgbClr val="14272E"/>
                          </a:solidFill>
                          <a:latin typeface="Arial"/>
                          <a:ea typeface="Arial"/>
                          <a:cs typeface="Arial"/>
                        </a:rPr>
                        <a:t>1,526 / 1,826</a:t>
                      </a:r>
                    </a:p>
                  </a:txBody>
                  <a:tcPr>
                    <a:solidFill>
                      <a:srgbClr val="EFF3F3"/>
                    </a:solidFill>
                  </a:tcPr>
                </a:tc>
                <a:extLst>
                  <a:ext uri="{0D108BD9-81ED-4DB2-BD59-A6C34878D82A}">
                    <a16:rowId xmlns:a16="http://schemas.microsoft.com/office/drawing/2014/main" val="10002"/>
                  </a:ext>
                </a:extLst>
              </a:tr>
              <a:tr h="542925">
                <a:tc>
                  <a:txBody>
                    <a:bodyPr/>
                    <a:lstStyle/>
                    <a:p>
                      <a:r>
                        <a:rPr sz="1350" b="0">
                          <a:solidFill>
                            <a:srgbClr val="14272E"/>
                          </a:solidFill>
                          <a:latin typeface="Arial"/>
                          <a:ea typeface="Arial"/>
                          <a:cs typeface="Arial"/>
                        </a:rPr>
                        <a:t>R.K. Puram PM2.5</a:t>
                      </a:r>
                    </a:p>
                  </a:txBody>
                  <a:tcPr>
                    <a:solidFill>
                      <a:srgbClr val="FFFFFF"/>
                    </a:solidFill>
                  </a:tcPr>
                </a:tc>
                <a:tc>
                  <a:txBody>
                    <a:bodyPr/>
                    <a:lstStyle/>
                    <a:p>
                      <a:r>
                        <a:rPr sz="1350" b="0">
                          <a:solidFill>
                            <a:srgbClr val="14272E"/>
                          </a:solidFill>
                          <a:latin typeface="Arial"/>
                          <a:ea typeface="Arial"/>
                          <a:cs typeface="Arial"/>
                        </a:rPr>
                        <a:t>6 Oct 2021 - 5 Oct 2026</a:t>
                      </a:r>
                    </a:p>
                  </a:txBody>
                  <a:tcPr>
                    <a:solidFill>
                      <a:srgbClr val="FFFFFF"/>
                    </a:solidFill>
                  </a:tcPr>
                </a:tc>
                <a:tc>
                  <a:txBody>
                    <a:bodyPr/>
                    <a:lstStyle/>
                    <a:p>
                      <a:r>
                        <a:rPr sz="1350" b="0">
                          <a:solidFill>
                            <a:srgbClr val="14272E"/>
                          </a:solidFill>
                          <a:latin typeface="Arial"/>
                          <a:ea typeface="Arial"/>
                          <a:cs typeface="Arial"/>
                        </a:rPr>
                        <a:t>1,610 / 1,826</a:t>
                      </a:r>
                    </a:p>
                  </a:txBody>
                  <a:tcPr>
                    <a:solidFill>
                      <a:srgbClr val="FFFFFF"/>
                    </a:solidFill>
                  </a:tcPr>
                </a:tc>
                <a:extLst>
                  <a:ext uri="{0D108BD9-81ED-4DB2-BD59-A6C34878D82A}">
                    <a16:rowId xmlns:a16="http://schemas.microsoft.com/office/drawing/2014/main" val="10003"/>
                  </a:ext>
                </a:extLst>
              </a:tr>
              <a:tr h="542925">
                <a:tc>
                  <a:txBody>
                    <a:bodyPr/>
                    <a:lstStyle/>
                    <a:p>
                      <a:r>
                        <a:rPr sz="1350" b="0">
                          <a:solidFill>
                            <a:srgbClr val="14272E"/>
                          </a:solidFill>
                          <a:latin typeface="Arial"/>
                          <a:ea typeface="Arial"/>
                          <a:cs typeface="Arial"/>
                        </a:rPr>
                        <a:t>R.K. Puram PM10</a:t>
                      </a:r>
                    </a:p>
                  </a:txBody>
                  <a:tcPr>
                    <a:solidFill>
                      <a:srgbClr val="EFF3F3"/>
                    </a:solidFill>
                  </a:tcPr>
                </a:tc>
                <a:tc>
                  <a:txBody>
                    <a:bodyPr/>
                    <a:lstStyle/>
                    <a:p>
                      <a:r>
                        <a:rPr sz="1350" b="0">
                          <a:solidFill>
                            <a:srgbClr val="14272E"/>
                          </a:solidFill>
                          <a:latin typeface="Arial"/>
                          <a:ea typeface="Arial"/>
                          <a:cs typeface="Arial"/>
                        </a:rPr>
                        <a:t>6 Oct 2021 - 5 Oct 2026</a:t>
                      </a:r>
                    </a:p>
                  </a:txBody>
                  <a:tcPr>
                    <a:solidFill>
                      <a:srgbClr val="EFF3F3"/>
                    </a:solidFill>
                  </a:tcPr>
                </a:tc>
                <a:tc>
                  <a:txBody>
                    <a:bodyPr/>
                    <a:lstStyle/>
                    <a:p>
                      <a:r>
                        <a:rPr sz="1350" b="0">
                          <a:solidFill>
                            <a:srgbClr val="14272E"/>
                          </a:solidFill>
                          <a:latin typeface="Arial"/>
                          <a:ea typeface="Arial"/>
                          <a:cs typeface="Arial"/>
                        </a:rPr>
                        <a:t>1,594 / 1,826</a:t>
                      </a:r>
                    </a:p>
                  </a:txBody>
                  <a:tcPr>
                    <a:solidFill>
                      <a:srgbClr val="EFF3F3"/>
                    </a:solidFill>
                  </a:tcPr>
                </a:tc>
                <a:extLst>
                  <a:ext uri="{0D108BD9-81ED-4DB2-BD59-A6C34878D82A}">
                    <a16:rowId xmlns:a16="http://schemas.microsoft.com/office/drawing/2014/main" val="10004"/>
                  </a:ext>
                </a:extLst>
              </a:tr>
            </a:tbl>
          </a:graphicData>
        </a:graphic>
      </p:graphicFrame>
      <p:sp>
        <p:nvSpPr>
          <p:cNvPr id="5" name="Rectangle 4">
            <a:extLst>
              <a:ext uri="{FF2B5EF4-FFF2-40B4-BE49-F238E27FC236}">
                <a16:creationId xmlns:a16="http://schemas.microsoft.com/office/drawing/2014/main" id="{8AE7D995-B9F6-4F35-B95B-684F34481286}"/>
              </a:ext>
            </a:extLst>
          </p:cNvPr>
          <p:cNvSpPr>
            <a:spLocks noGrp="1"/>
          </p:cNvSpPr>
          <p:nvPr/>
        </p:nvSpPr>
        <p:spPr>
          <a:xfrm>
            <a:off x="781050" y="5353050"/>
            <a:ext cx="10477500" cy="666750"/>
          </a:xfrm>
          <a:prstGeom prst="rect">
            <a:avLst/>
          </a:prstGeom>
          <a:noFill/>
          <a:ln w="0">
            <a:noFill/>
            <a:prstDash val="solid"/>
          </a:ln>
        </p:spPr>
        <p:txBody>
          <a:bodyPr/>
          <a:lstStyle>
            <a:defPPr>
              <a:defRPr sz="1500" b="0">
                <a:solidFill>
                  <a:srgbClr val="53656B"/>
                </a:solidFill>
                <a:latin typeface="Arial"/>
                <a:ea typeface="Arial"/>
                <a:cs typeface="Arial"/>
              </a:defRPr>
            </a:defPPr>
          </a:lstStyle>
          <a:p>
            <a:pPr>
              <a:defRPr sz="1500" b="0">
                <a:solidFill>
                  <a:srgbClr val="53656B"/>
                </a:solidFill>
                <a:latin typeface="Arial"/>
                <a:ea typeface="Arial"/>
                <a:cs typeface="Arial"/>
              </a:defRPr>
            </a:pPr>
            <a:r>
              <a:rPr sz="1500" b="0">
                <a:solidFill>
                  <a:srgbClr val="53656B"/>
                </a:solidFill>
                <a:latin typeface="Arial"/>
                <a:ea typeface="Arial"/>
                <a:cs typeface="Arial"/>
              </a:rPr>
              <a:t>CAMS is modeled atmospheric output. R.K. Puram is a station observation series.</a:t>
            </a:r>
          </a:p>
        </p:txBody>
      </p:sp>
    </p:spTree>
    <p:extLst>
      <p:ext uri="{BB962C8B-B14F-4D97-AF65-F5344CB8AC3E}">
        <p14:creationId xmlns:p14="http://schemas.microsoft.com/office/powerpoint/2010/main" val="20181988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9"/>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C31D40E9-2531-4A8B-82B0-E7D80A6C1C2C}"/>
              </a:ext>
            </a:extLst>
          </p:cNvPr>
          <p:cNvSpPr>
            <a:spLocks noGrp="1"/>
          </p:cNvSpPr>
          <p:nvPr/>
        </p:nvSpPr>
        <p:spPr>
          <a:xfrm>
            <a:off x="723900" y="514350"/>
            <a:ext cx="10744200" cy="857250"/>
          </a:xfrm>
          <a:prstGeom prst="rect">
            <a:avLst/>
          </a:prstGeom>
          <a:noFill/>
          <a:ln w="0">
            <a:noFill/>
            <a:prstDash val="solid"/>
          </a:ln>
        </p:spPr>
        <p:txBody>
          <a:bodyPr/>
          <a:lstStyle>
            <a:defPPr>
              <a:defRPr sz="2700" b="1">
                <a:solidFill>
                  <a:srgbClr val="14272E"/>
                </a:solidFill>
                <a:latin typeface="Arial"/>
                <a:ea typeface="Arial"/>
                <a:cs typeface="Arial"/>
              </a:defRPr>
            </a:defPPr>
          </a:lstStyle>
          <a:p>
            <a:pPr>
              <a:defRPr sz="2700" b="1">
                <a:solidFill>
                  <a:srgbClr val="14272E"/>
                </a:solidFill>
                <a:latin typeface="Arial"/>
                <a:ea typeface="Arial"/>
                <a:cs typeface="Arial"/>
              </a:defRPr>
            </a:pPr>
            <a:r>
              <a:rPr sz="2700" b="1">
                <a:solidFill>
                  <a:srgbClr val="14272E"/>
                </a:solidFill>
                <a:latin typeface="Arial"/>
                <a:ea typeface="Arial"/>
                <a:cs typeface="Arial"/>
              </a:rPr>
              <a:t>Station sources pass the overlap gate</a:t>
            </a:r>
          </a:p>
        </p:txBody>
      </p:sp>
      <p:sp>
        <p:nvSpPr>
          <p:cNvPr id="2" name="Rectangle 1">
            <a:extLst>
              <a:ext uri="{FF2B5EF4-FFF2-40B4-BE49-F238E27FC236}">
                <a16:creationId xmlns:a16="http://schemas.microsoft.com/office/drawing/2014/main" id="{953B6E25-489E-4C44-86B3-679F6C7A3A96}"/>
              </a:ext>
            </a:extLst>
          </p:cNvPr>
          <p:cNvSpPr>
            <a:spLocks noGrp="1"/>
          </p:cNvSpPr>
          <p:nvPr/>
        </p:nvSpPr>
        <p:spPr>
          <a:xfrm>
            <a:off x="742950" y="1304925"/>
            <a:ext cx="10477500" cy="533400"/>
          </a:xfrm>
          <a:prstGeom prst="rect">
            <a:avLst/>
          </a:prstGeom>
          <a:noFill/>
          <a:ln w="0">
            <a:noFill/>
            <a:prstDash val="solid"/>
          </a:ln>
        </p:spPr>
        <p:txBody>
          <a:bodyPr/>
          <a:lstStyle>
            <a:defPPr>
              <a:defRPr sz="1350" b="0">
                <a:solidFill>
                  <a:srgbClr val="53656B"/>
                </a:solidFill>
                <a:latin typeface="Arial"/>
                <a:ea typeface="Arial"/>
                <a:cs typeface="Arial"/>
              </a:defRPr>
            </a:defPPr>
          </a:lstStyle>
          <a:p>
            <a:pPr>
              <a:defRPr sz="1350" b="0">
                <a:solidFill>
                  <a:srgbClr val="53656B"/>
                </a:solidFill>
                <a:latin typeface="Arial"/>
                <a:ea typeface="Arial"/>
                <a:cs typeface="Arial"/>
              </a:defRPr>
            </a:pPr>
            <a:r>
              <a:rPr sz="1350" b="0">
                <a:solidFill>
                  <a:srgbClr val="53656B"/>
                </a:solidFill>
                <a:latin typeface="Arial"/>
                <a:ea typeface="Arial"/>
                <a:cs typeface="Arial"/>
              </a:rPr>
              <a:t>Matched local hours from XKDR and OpenAQ, February to September 2025</a:t>
            </a:r>
          </a:p>
        </p:txBody>
      </p:sp>
      <p:sp>
        <p:nvSpPr>
          <p:cNvPr id="3" name="Rectangle 2">
            <a:extLst>
              <a:ext uri="{FF2B5EF4-FFF2-40B4-BE49-F238E27FC236}">
                <a16:creationId xmlns:a16="http://schemas.microsoft.com/office/drawing/2014/main" id="{71DFA387-7472-42AA-9F2B-23E40279F9CF}"/>
              </a:ext>
            </a:extLst>
          </p:cNvPr>
          <p:cNvSpPr>
            <a:spLocks noGrp="1"/>
          </p:cNvSpPr>
          <p:nvPr/>
        </p:nvSpPr>
        <p:spPr>
          <a:xfrm>
            <a:off x="11115675" y="6286500"/>
            <a:ext cx="428625" cy="228600"/>
          </a:xfrm>
          <a:prstGeom prst="rect">
            <a:avLst/>
          </a:prstGeom>
          <a:noFill/>
          <a:ln w="0">
            <a:noFill/>
            <a:prstDash val="solid"/>
          </a:ln>
        </p:spPr>
        <p:txBody>
          <a:bodyPr/>
          <a:lstStyle>
            <a:defPPr>
              <a:defRPr sz="1050" b="0">
                <a:solidFill>
                  <a:srgbClr val="53656B"/>
                </a:solidFill>
                <a:latin typeface="Arial"/>
                <a:ea typeface="Arial"/>
                <a:cs typeface="Arial"/>
              </a:defRPr>
            </a:defPPr>
          </a:lstStyle>
          <a:p>
            <a:pPr>
              <a:defRPr sz="1050" b="0">
                <a:solidFill>
                  <a:srgbClr val="53656B"/>
                </a:solidFill>
                <a:latin typeface="Arial"/>
                <a:ea typeface="Arial"/>
                <a:cs typeface="Arial"/>
              </a:defRPr>
            </a:pPr>
            <a:r>
              <a:rPr sz="1050" b="0">
                <a:solidFill>
                  <a:srgbClr val="53656B"/>
                </a:solidFill>
                <a:latin typeface="Arial"/>
                <a:ea typeface="Arial"/>
                <a:cs typeface="Arial"/>
              </a:rPr>
              <a:t>04</a:t>
            </a:r>
          </a:p>
        </p:txBody>
      </p:sp>
      <p:sp>
        <p:nvSpPr>
          <p:cNvPr id="4" name="Rectangle 3">
            <a:extLst>
              <a:ext uri="{FF2B5EF4-FFF2-40B4-BE49-F238E27FC236}">
                <a16:creationId xmlns:a16="http://schemas.microsoft.com/office/drawing/2014/main" id="{CABC746E-7E04-4063-8779-70E7A9F19690}"/>
              </a:ext>
            </a:extLst>
          </p:cNvPr>
          <p:cNvSpPr>
            <a:spLocks noGrp="1"/>
          </p:cNvSpPr>
          <p:nvPr/>
        </p:nvSpPr>
        <p:spPr>
          <a:xfrm>
            <a:off x="762000" y="2209800"/>
            <a:ext cx="3238500" cy="857250"/>
          </a:xfrm>
          <a:prstGeom prst="rect">
            <a:avLst/>
          </a:prstGeom>
          <a:noFill/>
          <a:ln w="0">
            <a:noFill/>
            <a:prstDash val="solid"/>
          </a:ln>
        </p:spPr>
        <p:txBody>
          <a:bodyPr/>
          <a:lstStyle>
            <a:defPPr>
              <a:defRPr sz="4275" b="1">
                <a:solidFill>
                  <a:srgbClr val="14272E"/>
                </a:solidFill>
                <a:latin typeface="Arial"/>
                <a:ea typeface="Arial"/>
                <a:cs typeface="Arial"/>
              </a:defRPr>
            </a:defPPr>
          </a:lstStyle>
          <a:p>
            <a:pPr>
              <a:defRPr sz="4275" b="1">
                <a:solidFill>
                  <a:srgbClr val="14272E"/>
                </a:solidFill>
                <a:latin typeface="Arial"/>
                <a:ea typeface="Arial"/>
                <a:cs typeface="Arial"/>
              </a:defRPr>
            </a:pPr>
            <a:r>
              <a:rPr sz="4275" b="1">
                <a:solidFill>
                  <a:srgbClr val="14272E"/>
                </a:solidFill>
                <a:latin typeface="Arial"/>
                <a:ea typeface="Arial"/>
                <a:cs typeface="Arial"/>
              </a:rPr>
              <a:t>6,167</a:t>
            </a:r>
          </a:p>
        </p:txBody>
      </p:sp>
      <p:sp>
        <p:nvSpPr>
          <p:cNvPr id="5" name="Rectangle 4">
            <a:extLst>
              <a:ext uri="{FF2B5EF4-FFF2-40B4-BE49-F238E27FC236}">
                <a16:creationId xmlns:a16="http://schemas.microsoft.com/office/drawing/2014/main" id="{B57113FD-57E1-4394-A1B6-7CCAC3AF656B}"/>
              </a:ext>
            </a:extLst>
          </p:cNvPr>
          <p:cNvSpPr>
            <a:spLocks noGrp="1"/>
          </p:cNvSpPr>
          <p:nvPr/>
        </p:nvSpPr>
        <p:spPr>
          <a:xfrm>
            <a:off x="762000" y="2990850"/>
            <a:ext cx="3238500" cy="381000"/>
          </a:xfrm>
          <a:prstGeom prst="rect">
            <a:avLst/>
          </a:prstGeom>
          <a:noFill/>
          <a:ln w="0">
            <a:noFill/>
            <a:prstDash val="solid"/>
          </a:ln>
        </p:spPr>
        <p:txBody>
          <a:bodyPr/>
          <a:lstStyle>
            <a:defPPr>
              <a:defRPr sz="1650" b="0">
                <a:solidFill>
                  <a:srgbClr val="53656B"/>
                </a:solidFill>
                <a:latin typeface="Arial"/>
                <a:ea typeface="Arial"/>
                <a:cs typeface="Arial"/>
              </a:defRPr>
            </a:defPPr>
          </a:lstStyle>
          <a:p>
            <a:pPr>
              <a:defRPr sz="1650" b="0">
                <a:solidFill>
                  <a:srgbClr val="53656B"/>
                </a:solidFill>
                <a:latin typeface="Arial"/>
                <a:ea typeface="Arial"/>
                <a:cs typeface="Arial"/>
              </a:defRPr>
            </a:pPr>
            <a:r>
              <a:rPr sz="1650" b="0">
                <a:solidFill>
                  <a:srgbClr val="53656B"/>
                </a:solidFill>
                <a:latin typeface="Arial"/>
                <a:ea typeface="Arial"/>
                <a:cs typeface="Arial"/>
              </a:rPr>
              <a:t>matched hours</a:t>
            </a:r>
          </a:p>
        </p:txBody>
      </p:sp>
      <p:sp>
        <p:nvSpPr>
          <p:cNvPr id="6" name="Rectangle 5">
            <a:extLst>
              <a:ext uri="{FF2B5EF4-FFF2-40B4-BE49-F238E27FC236}">
                <a16:creationId xmlns:a16="http://schemas.microsoft.com/office/drawing/2014/main" id="{05DA066C-D0EB-4E31-BD0B-2102DAB856B6}"/>
              </a:ext>
            </a:extLst>
          </p:cNvPr>
          <p:cNvSpPr>
            <a:spLocks noGrp="1"/>
          </p:cNvSpPr>
          <p:nvPr/>
        </p:nvSpPr>
        <p:spPr>
          <a:xfrm>
            <a:off x="762000" y="4010025"/>
            <a:ext cx="3238500" cy="838200"/>
          </a:xfrm>
          <a:prstGeom prst="rect">
            <a:avLst/>
          </a:prstGeom>
          <a:noFill/>
          <a:ln w="0">
            <a:noFill/>
            <a:prstDash val="solid"/>
          </a:ln>
        </p:spPr>
        <p:txBody>
          <a:bodyPr/>
          <a:lstStyle>
            <a:defPPr>
              <a:defRPr sz="4275" b="1">
                <a:solidFill>
                  <a:srgbClr val="0C8582"/>
                </a:solidFill>
                <a:latin typeface="Arial"/>
                <a:ea typeface="Arial"/>
                <a:cs typeface="Arial"/>
              </a:defRPr>
            </a:defPPr>
          </a:lstStyle>
          <a:p>
            <a:pPr>
              <a:defRPr sz="4275" b="1">
                <a:solidFill>
                  <a:srgbClr val="0C8582"/>
                </a:solidFill>
                <a:latin typeface="Arial"/>
                <a:ea typeface="Arial"/>
                <a:cs typeface="Arial"/>
              </a:defRPr>
            </a:pPr>
            <a:r>
              <a:rPr sz="4275" b="1">
                <a:solidFill>
                  <a:srgbClr val="0C8582"/>
                </a:solidFill>
                <a:latin typeface="Arial"/>
                <a:ea typeface="Arial"/>
                <a:cs typeface="Arial"/>
              </a:rPr>
              <a:t>95%</a:t>
            </a:r>
          </a:p>
        </p:txBody>
      </p:sp>
      <p:sp>
        <p:nvSpPr>
          <p:cNvPr id="7" name="Rectangle 6">
            <a:extLst>
              <a:ext uri="{FF2B5EF4-FFF2-40B4-BE49-F238E27FC236}">
                <a16:creationId xmlns:a16="http://schemas.microsoft.com/office/drawing/2014/main" id="{1C3E35F9-8D0B-4D79-851A-21F2BC6ED0B7}"/>
              </a:ext>
            </a:extLst>
          </p:cNvPr>
          <p:cNvSpPr>
            <a:spLocks noGrp="1"/>
          </p:cNvSpPr>
          <p:nvPr/>
        </p:nvSpPr>
        <p:spPr>
          <a:xfrm>
            <a:off x="762000" y="4829175"/>
            <a:ext cx="3333750" cy="400050"/>
          </a:xfrm>
          <a:prstGeom prst="rect">
            <a:avLst/>
          </a:prstGeom>
          <a:noFill/>
          <a:ln w="0">
            <a:noFill/>
            <a:prstDash val="solid"/>
          </a:ln>
        </p:spPr>
        <p:txBody>
          <a:bodyPr/>
          <a:lstStyle>
            <a:defPPr>
              <a:defRPr sz="1575" b="0">
                <a:solidFill>
                  <a:srgbClr val="53656B"/>
                </a:solidFill>
                <a:latin typeface="Arial"/>
                <a:ea typeface="Arial"/>
                <a:cs typeface="Arial"/>
              </a:defRPr>
            </a:defPPr>
          </a:lstStyle>
          <a:p>
            <a:pPr>
              <a:defRPr sz="1575" b="0">
                <a:solidFill>
                  <a:srgbClr val="53656B"/>
                </a:solidFill>
                <a:latin typeface="Arial"/>
                <a:ea typeface="Arial"/>
                <a:cs typeface="Arial"/>
              </a:defRPr>
            </a:pPr>
            <a:r>
              <a:rPr sz="1575" b="0">
                <a:solidFill>
                  <a:srgbClr val="53656B"/>
                </a:solidFill>
                <a:latin typeface="Arial"/>
                <a:ea typeface="Arial"/>
                <a:cs typeface="Arial"/>
              </a:rPr>
              <a:t>preset agreement gate</a:t>
            </a:r>
          </a:p>
        </p:txBody>
      </p:sp>
      <p:sp>
        <p:nvSpPr>
          <p:cNvPr id="8" name="Rectangle 7">
            <a:extLst>
              <a:ext uri="{FF2B5EF4-FFF2-40B4-BE49-F238E27FC236}">
                <a16:creationId xmlns:a16="http://schemas.microsoft.com/office/drawing/2014/main" id="{420AB82A-A3B3-431F-87DE-8208F65B457C}"/>
              </a:ext>
            </a:extLst>
          </p:cNvPr>
          <p:cNvSpPr>
            <a:spLocks noGrp="1"/>
          </p:cNvSpPr>
          <p:nvPr/>
        </p:nvSpPr>
        <p:spPr>
          <a:xfrm>
            <a:off x="4476750" y="1933575"/>
            <a:ext cx="6477000" cy="304800"/>
          </a:xfrm>
          <a:prstGeom prst="rect">
            <a:avLst/>
          </a:prstGeom>
          <a:noFill/>
          <a:ln w="0">
            <a:noFill/>
            <a:prstDash val="solid"/>
          </a:ln>
        </p:spPr>
        <p:txBody>
          <a:bodyPr/>
          <a:lstStyle>
            <a:defPPr>
              <a:defRPr sz="1275" b="0">
                <a:solidFill>
                  <a:srgbClr val="53656B"/>
                </a:solidFill>
                <a:latin typeface="Arial"/>
                <a:ea typeface="Arial"/>
                <a:cs typeface="Arial"/>
              </a:defRPr>
            </a:defPPr>
          </a:lstStyle>
          <a:p>
            <a:pPr>
              <a:defRPr sz="1275" b="0">
                <a:solidFill>
                  <a:srgbClr val="53656B"/>
                </a:solidFill>
                <a:latin typeface="Arial"/>
                <a:ea typeface="Arial"/>
                <a:cs typeface="Arial"/>
              </a:defRPr>
            </a:pPr>
            <a:r>
              <a:rPr sz="1275" b="0">
                <a:solidFill>
                  <a:srgbClr val="53656B"/>
                </a:solidFill>
                <a:latin typeface="Arial"/>
                <a:ea typeface="Arial"/>
                <a:cs typeface="Arial"/>
              </a:rPr>
              <a:t>Matched readings within 1 ug/m3 (%)</a:t>
            </a:r>
          </a:p>
        </p:txBody>
      </p:sp>
      <p:graphicFrame>
        <p:nvGraphicFramePr>
          <p:cNvPr id="9" name="Chart">
            <a:extLst>
              <a:ext uri="{FF2B5EF4-FFF2-40B4-BE49-F238E27FC236}">
                <a16:creationId xmlns:a16="http://schemas.microsoft.com/office/drawing/2014/main" id="{5C0A8720-C72F-492A-A3A5-3F9650F6CCB8}"/>
              </a:ext>
            </a:extLst>
          </p:cNvPr>
          <p:cNvGraphicFramePr/>
          <p:nvPr/>
        </p:nvGraphicFramePr>
        <p:xfrm>
          <a:off x="4333875" y="2305050"/>
          <a:ext cx="6762750" cy="3143250"/>
        </p:xfrm>
        <a:graphic>
          <a:graphicData uri="http://schemas.openxmlformats.org/drawingml/2006/chart">
            <c:chart xmlns:c="http://schemas.openxmlformats.org/drawingml/2006/chart" xmlns:r="http://schemas.openxmlformats.org/officeDocument/2006/relationships" r:id="rId3"/>
          </a:graphicData>
        </a:graphic>
      </p:graphicFrame>
      <p:sp>
        <p:nvSpPr>
          <p:cNvPr id="10" name="Rectangle 9">
            <a:extLst>
              <a:ext uri="{FF2B5EF4-FFF2-40B4-BE49-F238E27FC236}">
                <a16:creationId xmlns:a16="http://schemas.microsoft.com/office/drawing/2014/main" id="{BCE2EBC1-2321-4B78-AF8B-5033675D8D63}"/>
              </a:ext>
            </a:extLst>
          </p:cNvPr>
          <p:cNvSpPr>
            <a:spLocks noGrp="1"/>
          </p:cNvSpPr>
          <p:nvPr/>
        </p:nvSpPr>
        <p:spPr>
          <a:xfrm>
            <a:off x="781050" y="5810250"/>
            <a:ext cx="10287000" cy="361950"/>
          </a:xfrm>
          <a:prstGeom prst="rect">
            <a:avLst/>
          </a:prstGeom>
          <a:noFill/>
          <a:ln w="0">
            <a:noFill/>
            <a:prstDash val="solid"/>
          </a:ln>
        </p:spPr>
        <p:txBody>
          <a:bodyPr/>
          <a:lstStyle>
            <a:defPPr>
              <a:defRPr sz="1350" b="0">
                <a:solidFill>
                  <a:srgbClr val="53656B"/>
                </a:solidFill>
                <a:latin typeface="Arial"/>
                <a:ea typeface="Arial"/>
                <a:cs typeface="Arial"/>
              </a:defRPr>
            </a:defPPr>
          </a:lstStyle>
          <a:p>
            <a:pPr>
              <a:defRPr sz="1350" b="0">
                <a:solidFill>
                  <a:srgbClr val="53656B"/>
                </a:solidFill>
                <a:latin typeface="Arial"/>
                <a:ea typeface="Arial"/>
                <a:cs typeface="Arial"/>
              </a:defRPr>
            </a:pPr>
            <a:r>
              <a:rPr sz="1350" b="0">
                <a:solidFill>
                  <a:srgbClr val="53656B"/>
                </a:solidFill>
                <a:latin typeface="Arial"/>
                <a:ea typeface="Arial"/>
                <a:cs typeface="Arial"/>
              </a:rPr>
              <a:t>Median signed difference: 0.0 ug/m3 for both pollutants.</a:t>
            </a:r>
          </a:p>
        </p:txBody>
      </p:sp>
    </p:spTree>
    <p:extLst>
      <p:ext uri="{BB962C8B-B14F-4D97-AF65-F5344CB8AC3E}">
        <p14:creationId xmlns:p14="http://schemas.microsoft.com/office/powerpoint/2010/main" val="16088642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9"/>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C48B7783-755A-4405-8664-A6087E484442}"/>
              </a:ext>
            </a:extLst>
          </p:cNvPr>
          <p:cNvSpPr>
            <a:spLocks noGrp="1"/>
          </p:cNvSpPr>
          <p:nvPr/>
        </p:nvSpPr>
        <p:spPr>
          <a:xfrm>
            <a:off x="723900" y="514350"/>
            <a:ext cx="10744200" cy="857250"/>
          </a:xfrm>
          <a:prstGeom prst="rect">
            <a:avLst/>
          </a:prstGeom>
          <a:noFill/>
          <a:ln w="0">
            <a:noFill/>
            <a:prstDash val="solid"/>
          </a:ln>
        </p:spPr>
        <p:txBody>
          <a:bodyPr/>
          <a:lstStyle>
            <a:defPPr>
              <a:defRPr sz="2700" b="1">
                <a:solidFill>
                  <a:srgbClr val="14272E"/>
                </a:solidFill>
                <a:latin typeface="Arial"/>
                <a:ea typeface="Arial"/>
                <a:cs typeface="Arial"/>
              </a:defRPr>
            </a:defPPr>
          </a:lstStyle>
          <a:p>
            <a:pPr>
              <a:defRPr sz="2700" b="1">
                <a:solidFill>
                  <a:srgbClr val="14272E"/>
                </a:solidFill>
                <a:latin typeface="Arial"/>
                <a:ea typeface="Arial"/>
                <a:cs typeface="Arial"/>
              </a:defRPr>
            </a:pPr>
            <a:r>
              <a:rPr sz="2700" b="1">
                <a:solidFill>
                  <a:srgbClr val="14272E"/>
                </a:solidFill>
                <a:latin typeface="Arial"/>
                <a:ea typeface="Arial"/>
                <a:cs typeface="Arial"/>
              </a:rPr>
              <a:t>Date-aware features and simple comparators</a:t>
            </a:r>
          </a:p>
        </p:txBody>
      </p:sp>
      <p:sp>
        <p:nvSpPr>
          <p:cNvPr id="2" name="Rectangle 1">
            <a:extLst>
              <a:ext uri="{FF2B5EF4-FFF2-40B4-BE49-F238E27FC236}">
                <a16:creationId xmlns:a16="http://schemas.microsoft.com/office/drawing/2014/main" id="{6991EE9F-1766-43BB-AE91-01D404DE301E}"/>
              </a:ext>
            </a:extLst>
          </p:cNvPr>
          <p:cNvSpPr>
            <a:spLocks noGrp="1"/>
          </p:cNvSpPr>
          <p:nvPr/>
        </p:nvSpPr>
        <p:spPr>
          <a:xfrm>
            <a:off x="11115675" y="6286500"/>
            <a:ext cx="428625" cy="228600"/>
          </a:xfrm>
          <a:prstGeom prst="rect">
            <a:avLst/>
          </a:prstGeom>
          <a:noFill/>
          <a:ln w="0">
            <a:noFill/>
            <a:prstDash val="solid"/>
          </a:ln>
        </p:spPr>
        <p:txBody>
          <a:bodyPr/>
          <a:lstStyle>
            <a:defPPr>
              <a:defRPr sz="1050" b="0">
                <a:solidFill>
                  <a:srgbClr val="53656B"/>
                </a:solidFill>
                <a:latin typeface="Arial"/>
                <a:ea typeface="Arial"/>
                <a:cs typeface="Arial"/>
              </a:defRPr>
            </a:defPPr>
          </a:lstStyle>
          <a:p>
            <a:pPr>
              <a:defRPr sz="1050" b="0">
                <a:solidFill>
                  <a:srgbClr val="53656B"/>
                </a:solidFill>
                <a:latin typeface="Arial"/>
                <a:ea typeface="Arial"/>
                <a:cs typeface="Arial"/>
              </a:defRPr>
            </a:pPr>
            <a:r>
              <a:rPr sz="1050" b="0">
                <a:solidFill>
                  <a:srgbClr val="53656B"/>
                </a:solidFill>
                <a:latin typeface="Arial"/>
                <a:ea typeface="Arial"/>
                <a:cs typeface="Arial"/>
              </a:rPr>
              <a:t>05</a:t>
            </a:r>
          </a:p>
        </p:txBody>
      </p:sp>
      <p:sp>
        <p:nvSpPr>
          <p:cNvPr id="3" name="Rectangle 2">
            <a:extLst>
              <a:ext uri="{FF2B5EF4-FFF2-40B4-BE49-F238E27FC236}">
                <a16:creationId xmlns:a16="http://schemas.microsoft.com/office/drawing/2014/main" id="{FC39780C-C14F-4815-AE53-6B8E1E06C278}"/>
              </a:ext>
            </a:extLst>
          </p:cNvPr>
          <p:cNvSpPr>
            <a:spLocks noGrp="1"/>
          </p:cNvSpPr>
          <p:nvPr/>
        </p:nvSpPr>
        <p:spPr>
          <a:xfrm>
            <a:off x="781050" y="1857375"/>
            <a:ext cx="2857500" cy="400050"/>
          </a:xfrm>
          <a:prstGeom prst="rect">
            <a:avLst/>
          </a:prstGeom>
          <a:noFill/>
          <a:ln w="0">
            <a:noFill/>
            <a:prstDash val="solid"/>
          </a:ln>
        </p:spPr>
        <p:txBody>
          <a:bodyPr/>
          <a:lstStyle>
            <a:defPPr>
              <a:defRPr sz="1875" b="1">
                <a:solidFill>
                  <a:srgbClr val="0C8582"/>
                </a:solidFill>
                <a:latin typeface="Arial"/>
                <a:ea typeface="Arial"/>
                <a:cs typeface="Arial"/>
              </a:defRPr>
            </a:defPPr>
          </a:lstStyle>
          <a:p>
            <a:pPr>
              <a:defRPr sz="1875" b="1">
                <a:solidFill>
                  <a:srgbClr val="0C8582"/>
                </a:solidFill>
                <a:latin typeface="Arial"/>
                <a:ea typeface="Arial"/>
                <a:cs typeface="Arial"/>
              </a:defRPr>
            </a:pPr>
            <a:r>
              <a:rPr sz="1875" b="1">
                <a:solidFill>
                  <a:srgbClr val="0C8582"/>
                </a:solidFill>
                <a:latin typeface="Arial"/>
                <a:ea typeface="Arial"/>
                <a:cs typeface="Arial"/>
              </a:rPr>
              <a:t>Weather</a:t>
            </a:r>
          </a:p>
        </p:txBody>
      </p:sp>
      <p:sp>
        <p:nvSpPr>
          <p:cNvPr id="4" name="Rectangle 3">
            <a:extLst>
              <a:ext uri="{FF2B5EF4-FFF2-40B4-BE49-F238E27FC236}">
                <a16:creationId xmlns:a16="http://schemas.microsoft.com/office/drawing/2014/main" id="{DF477E43-DFFD-4A85-9DA5-A5A46F4546A5}"/>
              </a:ext>
            </a:extLst>
          </p:cNvPr>
          <p:cNvSpPr>
            <a:spLocks noGrp="1"/>
          </p:cNvSpPr>
          <p:nvPr/>
        </p:nvSpPr>
        <p:spPr>
          <a:xfrm>
            <a:off x="781050" y="2362200"/>
            <a:ext cx="2952750" cy="2381250"/>
          </a:xfrm>
          <a:prstGeom prst="rect">
            <a:avLst/>
          </a:prstGeom>
          <a:noFill/>
          <a:ln w="0">
            <a:noFill/>
            <a:prstDash val="solid"/>
          </a:ln>
        </p:spPr>
        <p:txBody>
          <a:bodyPr/>
          <a:lstStyle>
            <a:defPPr>
              <a:defRPr sz="1575" b="0">
                <a:solidFill>
                  <a:srgbClr val="14272E"/>
                </a:solidFill>
                <a:latin typeface="Arial"/>
                <a:ea typeface="Arial"/>
                <a:cs typeface="Arial"/>
              </a:defRPr>
            </a:defPPr>
          </a:lstStyle>
          <a:p>
            <a:pPr>
              <a:defRPr sz="1575" b="0">
                <a:solidFill>
                  <a:srgbClr val="14272E"/>
                </a:solidFill>
                <a:latin typeface="Arial"/>
                <a:ea typeface="Arial"/>
                <a:cs typeface="Arial"/>
              </a:defRPr>
            </a:pPr>
            <a:r>
              <a:rPr sz="1575" b="0">
                <a:solidFill>
                  <a:srgbClr val="14272E"/>
                </a:solidFill>
                <a:latin typeface="Arial"/>
                <a:ea typeface="Arial"/>
                <a:cs typeface="Arial"/>
              </a:rPr>
              <a:t>Temperature, humidity, wind, rain, pressure, cloud cover, gusts and boundary-layer height</a:t>
            </a:r>
          </a:p>
        </p:txBody>
      </p:sp>
      <p:sp>
        <p:nvSpPr>
          <p:cNvPr id="5" name="Rectangle 4">
            <a:extLst>
              <a:ext uri="{FF2B5EF4-FFF2-40B4-BE49-F238E27FC236}">
                <a16:creationId xmlns:a16="http://schemas.microsoft.com/office/drawing/2014/main" id="{8ECF0EC7-1374-45E5-8B2A-65551558F5FD}"/>
              </a:ext>
            </a:extLst>
          </p:cNvPr>
          <p:cNvSpPr>
            <a:spLocks noGrp="1"/>
          </p:cNvSpPr>
          <p:nvPr/>
        </p:nvSpPr>
        <p:spPr>
          <a:xfrm>
            <a:off x="4419600" y="1857375"/>
            <a:ext cx="3238500" cy="400050"/>
          </a:xfrm>
          <a:prstGeom prst="rect">
            <a:avLst/>
          </a:prstGeom>
          <a:noFill/>
          <a:ln w="0">
            <a:noFill/>
            <a:prstDash val="solid"/>
          </a:ln>
        </p:spPr>
        <p:txBody>
          <a:bodyPr/>
          <a:lstStyle>
            <a:defPPr>
              <a:defRPr sz="1875" b="1">
                <a:solidFill>
                  <a:srgbClr val="0C8582"/>
                </a:solidFill>
                <a:latin typeface="Arial"/>
                <a:ea typeface="Arial"/>
                <a:cs typeface="Arial"/>
              </a:defRPr>
            </a:defPPr>
          </a:lstStyle>
          <a:p>
            <a:pPr>
              <a:defRPr sz="1875" b="1">
                <a:solidFill>
                  <a:srgbClr val="0C8582"/>
                </a:solidFill>
                <a:latin typeface="Arial"/>
                <a:ea typeface="Arial"/>
                <a:cs typeface="Arial"/>
              </a:defRPr>
            </a:pPr>
            <a:r>
              <a:rPr sz="1875" b="1">
                <a:solidFill>
                  <a:srgbClr val="0C8582"/>
                </a:solidFill>
                <a:latin typeface="Arial"/>
                <a:ea typeface="Arial"/>
                <a:cs typeface="Arial"/>
              </a:rPr>
              <a:t>Pollution history</a:t>
            </a:r>
          </a:p>
        </p:txBody>
      </p:sp>
      <p:sp>
        <p:nvSpPr>
          <p:cNvPr id="6" name="Rectangle 5">
            <a:extLst>
              <a:ext uri="{FF2B5EF4-FFF2-40B4-BE49-F238E27FC236}">
                <a16:creationId xmlns:a16="http://schemas.microsoft.com/office/drawing/2014/main" id="{DE25556D-977B-41F1-A278-CB9EC8D2847A}"/>
              </a:ext>
            </a:extLst>
          </p:cNvPr>
          <p:cNvSpPr>
            <a:spLocks noGrp="1"/>
          </p:cNvSpPr>
          <p:nvPr/>
        </p:nvSpPr>
        <p:spPr>
          <a:xfrm>
            <a:off x="4419600" y="2362200"/>
            <a:ext cx="2952750" cy="2381250"/>
          </a:xfrm>
          <a:prstGeom prst="rect">
            <a:avLst/>
          </a:prstGeom>
          <a:noFill/>
          <a:ln w="0">
            <a:noFill/>
            <a:prstDash val="solid"/>
          </a:ln>
        </p:spPr>
        <p:txBody>
          <a:bodyPr/>
          <a:lstStyle>
            <a:defPPr>
              <a:defRPr sz="1575" b="0">
                <a:solidFill>
                  <a:srgbClr val="14272E"/>
                </a:solidFill>
                <a:latin typeface="Arial"/>
                <a:ea typeface="Arial"/>
                <a:cs typeface="Arial"/>
              </a:defRPr>
            </a:defPPr>
          </a:lstStyle>
          <a:p>
            <a:pPr>
              <a:defRPr sz="1575" b="0">
                <a:solidFill>
                  <a:srgbClr val="14272E"/>
                </a:solidFill>
                <a:latin typeface="Arial"/>
                <a:ea typeface="Arial"/>
                <a:cs typeface="Arial"/>
              </a:defRPr>
            </a:pPr>
            <a:r>
              <a:rPr sz="1575" b="0">
                <a:solidFill>
                  <a:srgbClr val="14272E"/>
                </a:solidFill>
                <a:latin typeface="Arial"/>
                <a:ea typeface="Arial"/>
                <a:cs typeface="Arial"/>
              </a:rPr>
              <a:t>Exact calendar-day lags 1, 2, 3 and 7; complete prior seven-day mean</a:t>
            </a:r>
          </a:p>
        </p:txBody>
      </p:sp>
      <p:sp>
        <p:nvSpPr>
          <p:cNvPr id="7" name="Rectangle 6">
            <a:extLst>
              <a:ext uri="{FF2B5EF4-FFF2-40B4-BE49-F238E27FC236}">
                <a16:creationId xmlns:a16="http://schemas.microsoft.com/office/drawing/2014/main" id="{BC079B43-F384-4202-8DE0-514F38C56B30}"/>
              </a:ext>
            </a:extLst>
          </p:cNvPr>
          <p:cNvSpPr>
            <a:spLocks noGrp="1"/>
          </p:cNvSpPr>
          <p:nvPr/>
        </p:nvSpPr>
        <p:spPr>
          <a:xfrm>
            <a:off x="8048625" y="1857375"/>
            <a:ext cx="2857500" cy="400050"/>
          </a:xfrm>
          <a:prstGeom prst="rect">
            <a:avLst/>
          </a:prstGeom>
          <a:noFill/>
          <a:ln w="0">
            <a:noFill/>
            <a:prstDash val="solid"/>
          </a:ln>
        </p:spPr>
        <p:txBody>
          <a:bodyPr/>
          <a:lstStyle>
            <a:defPPr>
              <a:defRPr sz="1875" b="1">
                <a:solidFill>
                  <a:srgbClr val="0C8582"/>
                </a:solidFill>
                <a:latin typeface="Arial"/>
                <a:ea typeface="Arial"/>
                <a:cs typeface="Arial"/>
              </a:defRPr>
            </a:defPPr>
          </a:lstStyle>
          <a:p>
            <a:pPr>
              <a:defRPr sz="1875" b="1">
                <a:solidFill>
                  <a:srgbClr val="0C8582"/>
                </a:solidFill>
                <a:latin typeface="Arial"/>
                <a:ea typeface="Arial"/>
                <a:cs typeface="Arial"/>
              </a:defRPr>
            </a:pPr>
            <a:r>
              <a:rPr sz="1875" b="1">
                <a:solidFill>
                  <a:srgbClr val="0C8582"/>
                </a:solidFill>
                <a:latin typeface="Arial"/>
                <a:ea typeface="Arial"/>
                <a:cs typeface="Arial"/>
              </a:rPr>
              <a:t>Calendar</a:t>
            </a:r>
          </a:p>
        </p:txBody>
      </p:sp>
      <p:sp>
        <p:nvSpPr>
          <p:cNvPr id="8" name="Rectangle 7">
            <a:extLst>
              <a:ext uri="{FF2B5EF4-FFF2-40B4-BE49-F238E27FC236}">
                <a16:creationId xmlns:a16="http://schemas.microsoft.com/office/drawing/2014/main" id="{69175D41-527F-4768-A460-5DD04F08879C}"/>
              </a:ext>
            </a:extLst>
          </p:cNvPr>
          <p:cNvSpPr>
            <a:spLocks noGrp="1"/>
          </p:cNvSpPr>
          <p:nvPr/>
        </p:nvSpPr>
        <p:spPr>
          <a:xfrm>
            <a:off x="8048625" y="2362200"/>
            <a:ext cx="2857500" cy="2381250"/>
          </a:xfrm>
          <a:prstGeom prst="rect">
            <a:avLst/>
          </a:prstGeom>
          <a:noFill/>
          <a:ln w="0">
            <a:noFill/>
            <a:prstDash val="solid"/>
          </a:ln>
        </p:spPr>
        <p:txBody>
          <a:bodyPr/>
          <a:lstStyle>
            <a:defPPr>
              <a:defRPr sz="1575" b="0">
                <a:solidFill>
                  <a:srgbClr val="14272E"/>
                </a:solidFill>
                <a:latin typeface="Arial"/>
                <a:ea typeface="Arial"/>
                <a:cs typeface="Arial"/>
              </a:defRPr>
            </a:defPPr>
          </a:lstStyle>
          <a:p>
            <a:pPr>
              <a:defRPr sz="1575" b="0">
                <a:solidFill>
                  <a:srgbClr val="14272E"/>
                </a:solidFill>
                <a:latin typeface="Arial"/>
                <a:ea typeface="Arial"/>
                <a:cs typeface="Arial"/>
              </a:defRPr>
            </a:pPr>
            <a:r>
              <a:rPr sz="1575" b="0">
                <a:solidFill>
                  <a:srgbClr val="14272E"/>
                </a:solidFill>
                <a:latin typeface="Arial"/>
                <a:ea typeface="Arial"/>
                <a:cs typeface="Arial"/>
              </a:rPr>
              <a:t>Season, weekend, Indian public holidays and Diwali proximity</a:t>
            </a:r>
          </a:p>
        </p:txBody>
      </p:sp>
      <p:sp>
        <p:nvSpPr>
          <p:cNvPr id="9" name="Rectangle 8">
            <a:extLst>
              <a:ext uri="{FF2B5EF4-FFF2-40B4-BE49-F238E27FC236}">
                <a16:creationId xmlns:a16="http://schemas.microsoft.com/office/drawing/2014/main" id="{7EA94BA3-E775-4486-A4C2-B108D0239398}"/>
              </a:ext>
            </a:extLst>
          </p:cNvPr>
          <p:cNvSpPr>
            <a:spLocks noGrp="1"/>
          </p:cNvSpPr>
          <p:nvPr/>
        </p:nvSpPr>
        <p:spPr>
          <a:xfrm>
            <a:off x="762000" y="4714875"/>
            <a:ext cx="10287000" cy="19050"/>
          </a:xfrm>
          <a:prstGeom prst="rect">
            <a:avLst/>
          </a:prstGeom>
          <a:solidFill>
            <a:srgbClr val="D8E0E1"/>
          </a:solidFill>
          <a:ln w="0">
            <a:noFill/>
            <a:prstDash val="solid"/>
          </a:ln>
        </p:spPr>
      </p:sp>
      <p:sp>
        <p:nvSpPr>
          <p:cNvPr id="10" name="Rectangle 9">
            <a:extLst>
              <a:ext uri="{FF2B5EF4-FFF2-40B4-BE49-F238E27FC236}">
                <a16:creationId xmlns:a16="http://schemas.microsoft.com/office/drawing/2014/main" id="{FF43D8A1-3008-4573-9909-8D203B965BEE}"/>
              </a:ext>
            </a:extLst>
          </p:cNvPr>
          <p:cNvSpPr>
            <a:spLocks noGrp="1"/>
          </p:cNvSpPr>
          <p:nvPr/>
        </p:nvSpPr>
        <p:spPr>
          <a:xfrm>
            <a:off x="781050" y="5048250"/>
            <a:ext cx="10191750" cy="685800"/>
          </a:xfrm>
          <a:prstGeom prst="rect">
            <a:avLst/>
          </a:prstGeom>
          <a:noFill/>
          <a:ln w="0">
            <a:noFill/>
            <a:prstDash val="solid"/>
          </a:ln>
        </p:spPr>
        <p:txBody>
          <a:bodyPr/>
          <a:lstStyle>
            <a:defPPr>
              <a:defRPr sz="1650" b="1">
                <a:solidFill>
                  <a:srgbClr val="14272E"/>
                </a:solidFill>
                <a:latin typeface="Arial"/>
                <a:ea typeface="Arial"/>
                <a:cs typeface="Arial"/>
              </a:defRPr>
            </a:defPPr>
          </a:lstStyle>
          <a:p>
            <a:pPr>
              <a:defRPr sz="1650" b="1">
                <a:solidFill>
                  <a:srgbClr val="14272E"/>
                </a:solidFill>
                <a:latin typeface="Arial"/>
                <a:ea typeface="Arial"/>
                <a:cs typeface="Arial"/>
              </a:defRPr>
            </a:pPr>
            <a:r>
              <a:rPr sz="1650" b="1">
                <a:solidFill>
                  <a:srgbClr val="14272E"/>
                </a:solidFill>
                <a:latin typeface="Arial"/>
                <a:ea typeface="Arial"/>
                <a:cs typeface="Arial"/>
              </a:rPr>
              <a:t>Persistence   |   Seven-day mean   |   Climatology   |   Ridge   |   Random Forest</a:t>
            </a:r>
          </a:p>
        </p:txBody>
      </p:sp>
      <p:sp>
        <p:nvSpPr>
          <p:cNvPr id="11" name="Rectangle 10">
            <a:extLst>
              <a:ext uri="{FF2B5EF4-FFF2-40B4-BE49-F238E27FC236}">
                <a16:creationId xmlns:a16="http://schemas.microsoft.com/office/drawing/2014/main" id="{866B19E2-5435-4537-B731-CECF8D908DB7}"/>
              </a:ext>
            </a:extLst>
          </p:cNvPr>
          <p:cNvSpPr>
            <a:spLocks noGrp="1"/>
          </p:cNvSpPr>
          <p:nvPr/>
        </p:nvSpPr>
        <p:spPr>
          <a:xfrm>
            <a:off x="781050" y="5895975"/>
            <a:ext cx="10477500" cy="342900"/>
          </a:xfrm>
          <a:prstGeom prst="rect">
            <a:avLst/>
          </a:prstGeom>
          <a:noFill/>
          <a:ln w="0">
            <a:noFill/>
            <a:prstDash val="solid"/>
          </a:ln>
        </p:spPr>
        <p:txBody>
          <a:bodyPr/>
          <a:lstStyle>
            <a:defPPr>
              <a:defRPr sz="1275" b="0">
                <a:solidFill>
                  <a:srgbClr val="53656B"/>
                </a:solidFill>
                <a:latin typeface="Arial"/>
                <a:ea typeface="Arial"/>
                <a:cs typeface="Arial"/>
              </a:defRPr>
            </a:defPPr>
          </a:lstStyle>
          <a:p>
            <a:pPr>
              <a:defRPr sz="1275" b="0">
                <a:solidFill>
                  <a:srgbClr val="53656B"/>
                </a:solidFill>
                <a:latin typeface="Arial"/>
                <a:ea typeface="Arial"/>
                <a:cs typeface="Arial"/>
              </a:defRPr>
            </a:pPr>
            <a:r>
              <a:rPr sz="1275" b="0">
                <a:solidFill>
                  <a:srgbClr val="53656B"/>
                </a:solidFill>
                <a:latin typeface="Arial"/>
                <a:ea typeface="Arial"/>
                <a:cs typeface="Arial"/>
              </a:rPr>
              <a:t>Satellite fire detections are optional research data; they are not in this five-year model.</a:t>
            </a:r>
          </a:p>
        </p:txBody>
      </p:sp>
    </p:spTree>
    <p:extLst>
      <p:ext uri="{BB962C8B-B14F-4D97-AF65-F5344CB8AC3E}">
        <p14:creationId xmlns:p14="http://schemas.microsoft.com/office/powerpoint/2010/main" val="4614695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9"/>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8D087042-EF65-46D4-8791-70944BE7AC98}"/>
              </a:ext>
            </a:extLst>
          </p:cNvPr>
          <p:cNvSpPr>
            <a:spLocks noGrp="1"/>
          </p:cNvSpPr>
          <p:nvPr/>
        </p:nvSpPr>
        <p:spPr>
          <a:xfrm>
            <a:off x="723900" y="514350"/>
            <a:ext cx="10744200" cy="857250"/>
          </a:xfrm>
          <a:prstGeom prst="rect">
            <a:avLst/>
          </a:prstGeom>
          <a:noFill/>
          <a:ln w="0">
            <a:noFill/>
            <a:prstDash val="solid"/>
          </a:ln>
        </p:spPr>
        <p:txBody>
          <a:bodyPr/>
          <a:lstStyle>
            <a:defPPr>
              <a:defRPr sz="2700" b="1">
                <a:solidFill>
                  <a:srgbClr val="14272E"/>
                </a:solidFill>
                <a:latin typeface="Arial"/>
                <a:ea typeface="Arial"/>
                <a:cs typeface="Arial"/>
              </a:defRPr>
            </a:defPPr>
          </a:lstStyle>
          <a:p>
            <a:pPr>
              <a:defRPr sz="2700" b="1">
                <a:solidFill>
                  <a:srgbClr val="14272E"/>
                </a:solidFill>
                <a:latin typeface="Arial"/>
                <a:ea typeface="Arial"/>
                <a:cs typeface="Arial"/>
              </a:defRPr>
            </a:pPr>
            <a:r>
              <a:rPr sz="2700" b="1">
                <a:solidFill>
                  <a:srgbClr val="14272E"/>
                </a:solidFill>
                <a:latin typeface="Arial"/>
                <a:ea typeface="Arial"/>
                <a:cs typeface="Arial"/>
              </a:rPr>
              <a:t>The latest 180 days stay out of model fitting</a:t>
            </a:r>
          </a:p>
        </p:txBody>
      </p:sp>
      <p:sp>
        <p:nvSpPr>
          <p:cNvPr id="2" name="Rectangle 1">
            <a:extLst>
              <a:ext uri="{FF2B5EF4-FFF2-40B4-BE49-F238E27FC236}">
                <a16:creationId xmlns:a16="http://schemas.microsoft.com/office/drawing/2014/main" id="{35B046F8-3913-471E-9680-97B3DFCD6DB0}"/>
              </a:ext>
            </a:extLst>
          </p:cNvPr>
          <p:cNvSpPr>
            <a:spLocks noGrp="1"/>
          </p:cNvSpPr>
          <p:nvPr/>
        </p:nvSpPr>
        <p:spPr>
          <a:xfrm>
            <a:off x="11115675" y="6286500"/>
            <a:ext cx="428625" cy="228600"/>
          </a:xfrm>
          <a:prstGeom prst="rect">
            <a:avLst/>
          </a:prstGeom>
          <a:noFill/>
          <a:ln w="0">
            <a:noFill/>
            <a:prstDash val="solid"/>
          </a:ln>
        </p:spPr>
        <p:txBody>
          <a:bodyPr/>
          <a:lstStyle>
            <a:defPPr>
              <a:defRPr sz="1050" b="0">
                <a:solidFill>
                  <a:srgbClr val="53656B"/>
                </a:solidFill>
                <a:latin typeface="Arial"/>
                <a:ea typeface="Arial"/>
                <a:cs typeface="Arial"/>
              </a:defRPr>
            </a:defPPr>
          </a:lstStyle>
          <a:p>
            <a:pPr>
              <a:defRPr sz="1050" b="0">
                <a:solidFill>
                  <a:srgbClr val="53656B"/>
                </a:solidFill>
                <a:latin typeface="Arial"/>
                <a:ea typeface="Arial"/>
                <a:cs typeface="Arial"/>
              </a:defRPr>
            </a:pPr>
            <a:r>
              <a:rPr sz="1050" b="0">
                <a:solidFill>
                  <a:srgbClr val="53656B"/>
                </a:solidFill>
                <a:latin typeface="Arial"/>
                <a:ea typeface="Arial"/>
                <a:cs typeface="Arial"/>
              </a:rPr>
              <a:t>06</a:t>
            </a:r>
          </a:p>
        </p:txBody>
      </p:sp>
      <p:sp>
        <p:nvSpPr>
          <p:cNvPr id="3" name="Rectangle 2">
            <a:extLst>
              <a:ext uri="{FF2B5EF4-FFF2-40B4-BE49-F238E27FC236}">
                <a16:creationId xmlns:a16="http://schemas.microsoft.com/office/drawing/2014/main" id="{828F87CB-4C93-4078-A402-C4DED54EDEE2}"/>
              </a:ext>
            </a:extLst>
          </p:cNvPr>
          <p:cNvSpPr>
            <a:spLocks noGrp="1"/>
          </p:cNvSpPr>
          <p:nvPr/>
        </p:nvSpPr>
        <p:spPr>
          <a:xfrm>
            <a:off x="781050" y="1933575"/>
            <a:ext cx="1047750" cy="1066800"/>
          </a:xfrm>
          <a:prstGeom prst="rect">
            <a:avLst/>
          </a:prstGeom>
          <a:noFill/>
          <a:ln w="0">
            <a:noFill/>
            <a:prstDash val="solid"/>
          </a:ln>
        </p:spPr>
        <p:txBody>
          <a:bodyPr/>
          <a:lstStyle>
            <a:defPPr>
              <a:defRPr sz="4725" b="1">
                <a:solidFill>
                  <a:srgbClr val="0C8582"/>
                </a:solidFill>
                <a:latin typeface="Arial"/>
                <a:ea typeface="Arial"/>
                <a:cs typeface="Arial"/>
              </a:defRPr>
            </a:defPPr>
          </a:lstStyle>
          <a:p>
            <a:pPr>
              <a:defRPr sz="4725" b="1">
                <a:solidFill>
                  <a:srgbClr val="0C8582"/>
                </a:solidFill>
                <a:latin typeface="Arial"/>
                <a:ea typeface="Arial"/>
                <a:cs typeface="Arial"/>
              </a:defRPr>
            </a:pPr>
            <a:r>
              <a:rPr sz="4725" b="1">
                <a:solidFill>
                  <a:srgbClr val="0C8582"/>
                </a:solidFill>
                <a:latin typeface="Arial"/>
                <a:ea typeface="Arial"/>
                <a:cs typeface="Arial"/>
              </a:rPr>
              <a:t>1</a:t>
            </a:r>
          </a:p>
        </p:txBody>
      </p:sp>
      <p:sp>
        <p:nvSpPr>
          <p:cNvPr id="4" name="Rectangle 3">
            <a:extLst>
              <a:ext uri="{FF2B5EF4-FFF2-40B4-BE49-F238E27FC236}">
                <a16:creationId xmlns:a16="http://schemas.microsoft.com/office/drawing/2014/main" id="{8F527CB1-6C1B-4AF1-9B5A-D7BBF34669B8}"/>
              </a:ext>
            </a:extLst>
          </p:cNvPr>
          <p:cNvSpPr>
            <a:spLocks noGrp="1"/>
          </p:cNvSpPr>
          <p:nvPr/>
        </p:nvSpPr>
        <p:spPr>
          <a:xfrm>
            <a:off x="1666875" y="2057400"/>
            <a:ext cx="7429500" cy="400050"/>
          </a:xfrm>
          <a:prstGeom prst="rect">
            <a:avLst/>
          </a:prstGeom>
          <a:noFill/>
          <a:ln w="0">
            <a:noFill/>
            <a:prstDash val="solid"/>
          </a:ln>
        </p:spPr>
        <p:txBody>
          <a:bodyPr/>
          <a:lstStyle>
            <a:defPPr>
              <a:defRPr sz="2025" b="1">
                <a:solidFill>
                  <a:srgbClr val="14272E"/>
                </a:solidFill>
                <a:latin typeface="Arial"/>
                <a:ea typeface="Arial"/>
                <a:cs typeface="Arial"/>
              </a:defRPr>
            </a:defPPr>
          </a:lstStyle>
          <a:p>
            <a:pPr>
              <a:defRPr sz="2025" b="1">
                <a:solidFill>
                  <a:srgbClr val="14272E"/>
                </a:solidFill>
                <a:latin typeface="Arial"/>
                <a:ea typeface="Arial"/>
                <a:cs typeface="Arial"/>
              </a:defRPr>
            </a:pPr>
            <a:r>
              <a:rPr sz="2025" b="1">
                <a:solidFill>
                  <a:srgbClr val="14272E"/>
                </a:solidFill>
                <a:latin typeface="Arial"/>
                <a:ea typeface="Arial"/>
                <a:cs typeface="Arial"/>
              </a:rPr>
              <a:t>Earlier seasonal windows</a:t>
            </a:r>
          </a:p>
        </p:txBody>
      </p:sp>
      <p:sp>
        <p:nvSpPr>
          <p:cNvPr id="5" name="Rectangle 4">
            <a:extLst>
              <a:ext uri="{FF2B5EF4-FFF2-40B4-BE49-F238E27FC236}">
                <a16:creationId xmlns:a16="http://schemas.microsoft.com/office/drawing/2014/main" id="{231DC4BE-D776-4D35-9203-18EC2696457F}"/>
              </a:ext>
            </a:extLst>
          </p:cNvPr>
          <p:cNvSpPr>
            <a:spLocks noGrp="1"/>
          </p:cNvSpPr>
          <p:nvPr/>
        </p:nvSpPr>
        <p:spPr>
          <a:xfrm>
            <a:off x="1666875" y="2514600"/>
            <a:ext cx="8572500" cy="381000"/>
          </a:xfrm>
          <a:prstGeom prst="rect">
            <a:avLst/>
          </a:prstGeom>
          <a:noFill/>
          <a:ln w="0">
            <a:noFill/>
            <a:prstDash val="solid"/>
          </a:ln>
        </p:spPr>
        <p:txBody>
          <a:bodyPr/>
          <a:lstStyle>
            <a:defPPr>
              <a:defRPr sz="1575" b="0">
                <a:solidFill>
                  <a:srgbClr val="53656B"/>
                </a:solidFill>
                <a:latin typeface="Arial"/>
                <a:ea typeface="Arial"/>
                <a:cs typeface="Arial"/>
              </a:defRPr>
            </a:defPPr>
          </a:lstStyle>
          <a:p>
            <a:pPr>
              <a:defRPr sz="1575" b="0">
                <a:solidFill>
                  <a:srgbClr val="53656B"/>
                </a:solidFill>
                <a:latin typeface="Arial"/>
                <a:ea typeface="Arial"/>
                <a:cs typeface="Arial"/>
              </a:defRPr>
            </a:pPr>
            <a:r>
              <a:rPr sz="1575" b="0">
                <a:solidFill>
                  <a:srgbClr val="53656B"/>
                </a:solidFill>
                <a:latin typeface="Arial"/>
                <a:ea typeface="Arial"/>
                <a:cs typeface="Arial"/>
              </a:rPr>
              <a:t>Select a method using chronological holdouts.</a:t>
            </a:r>
          </a:p>
        </p:txBody>
      </p:sp>
      <p:sp>
        <p:nvSpPr>
          <p:cNvPr id="6" name="Rectangle 5">
            <a:extLst>
              <a:ext uri="{FF2B5EF4-FFF2-40B4-BE49-F238E27FC236}">
                <a16:creationId xmlns:a16="http://schemas.microsoft.com/office/drawing/2014/main" id="{6998659E-09B9-4046-A4C5-16057CBEB4D7}"/>
              </a:ext>
            </a:extLst>
          </p:cNvPr>
          <p:cNvSpPr>
            <a:spLocks noGrp="1"/>
          </p:cNvSpPr>
          <p:nvPr/>
        </p:nvSpPr>
        <p:spPr>
          <a:xfrm>
            <a:off x="781050" y="3095625"/>
            <a:ext cx="10287000" cy="19050"/>
          </a:xfrm>
          <a:prstGeom prst="rect">
            <a:avLst/>
          </a:prstGeom>
          <a:solidFill>
            <a:srgbClr val="D8E0E1"/>
          </a:solidFill>
          <a:ln w="0">
            <a:noFill/>
            <a:prstDash val="solid"/>
          </a:ln>
        </p:spPr>
      </p:sp>
      <p:sp>
        <p:nvSpPr>
          <p:cNvPr id="7" name="Rectangle 6">
            <a:extLst>
              <a:ext uri="{FF2B5EF4-FFF2-40B4-BE49-F238E27FC236}">
                <a16:creationId xmlns:a16="http://schemas.microsoft.com/office/drawing/2014/main" id="{E7F6188B-75AB-4895-BBEB-8D4663176667}"/>
              </a:ext>
            </a:extLst>
          </p:cNvPr>
          <p:cNvSpPr>
            <a:spLocks noGrp="1"/>
          </p:cNvSpPr>
          <p:nvPr/>
        </p:nvSpPr>
        <p:spPr>
          <a:xfrm>
            <a:off x="781050" y="3390900"/>
            <a:ext cx="1047750" cy="1066800"/>
          </a:xfrm>
          <a:prstGeom prst="rect">
            <a:avLst/>
          </a:prstGeom>
          <a:noFill/>
          <a:ln w="0">
            <a:noFill/>
            <a:prstDash val="solid"/>
          </a:ln>
        </p:spPr>
        <p:txBody>
          <a:bodyPr/>
          <a:lstStyle>
            <a:defPPr>
              <a:defRPr sz="4725" b="1">
                <a:solidFill>
                  <a:srgbClr val="0C8582"/>
                </a:solidFill>
                <a:latin typeface="Arial"/>
                <a:ea typeface="Arial"/>
                <a:cs typeface="Arial"/>
              </a:defRPr>
            </a:defPPr>
          </a:lstStyle>
          <a:p>
            <a:pPr>
              <a:defRPr sz="4725" b="1">
                <a:solidFill>
                  <a:srgbClr val="0C8582"/>
                </a:solidFill>
                <a:latin typeface="Arial"/>
                <a:ea typeface="Arial"/>
                <a:cs typeface="Arial"/>
              </a:defRPr>
            </a:pPr>
            <a:r>
              <a:rPr sz="4725" b="1">
                <a:solidFill>
                  <a:srgbClr val="0C8582"/>
                </a:solidFill>
                <a:latin typeface="Arial"/>
                <a:ea typeface="Arial"/>
                <a:cs typeface="Arial"/>
              </a:rPr>
              <a:t>2</a:t>
            </a:r>
          </a:p>
        </p:txBody>
      </p:sp>
      <p:sp>
        <p:nvSpPr>
          <p:cNvPr id="8" name="Rectangle 7">
            <a:extLst>
              <a:ext uri="{FF2B5EF4-FFF2-40B4-BE49-F238E27FC236}">
                <a16:creationId xmlns:a16="http://schemas.microsoft.com/office/drawing/2014/main" id="{7C757DC0-4CCA-4B94-B061-9AE2350D5F9B}"/>
              </a:ext>
            </a:extLst>
          </p:cNvPr>
          <p:cNvSpPr>
            <a:spLocks noGrp="1"/>
          </p:cNvSpPr>
          <p:nvPr/>
        </p:nvSpPr>
        <p:spPr>
          <a:xfrm>
            <a:off x="1666875" y="3514725"/>
            <a:ext cx="7429500" cy="400050"/>
          </a:xfrm>
          <a:prstGeom prst="rect">
            <a:avLst/>
          </a:prstGeom>
          <a:noFill/>
          <a:ln w="0">
            <a:noFill/>
            <a:prstDash val="solid"/>
          </a:ln>
        </p:spPr>
        <p:txBody>
          <a:bodyPr/>
          <a:lstStyle>
            <a:defPPr>
              <a:defRPr sz="2025" b="1">
                <a:solidFill>
                  <a:srgbClr val="14272E"/>
                </a:solidFill>
                <a:latin typeface="Arial"/>
                <a:ea typeface="Arial"/>
                <a:cs typeface="Arial"/>
              </a:defRPr>
            </a:defPPr>
          </a:lstStyle>
          <a:p>
            <a:pPr>
              <a:defRPr sz="2025" b="1">
                <a:solidFill>
                  <a:srgbClr val="14272E"/>
                </a:solidFill>
                <a:latin typeface="Arial"/>
                <a:ea typeface="Arial"/>
                <a:cs typeface="Arial"/>
              </a:defRPr>
            </a:pPr>
            <a:r>
              <a:rPr sz="2025" b="1">
                <a:solidFill>
                  <a:srgbClr val="14272E"/>
                </a:solidFill>
                <a:latin typeface="Arial"/>
                <a:ea typeface="Arial"/>
                <a:cs typeface="Arial"/>
              </a:rPr>
              <a:t>Final 180 calendar days</a:t>
            </a:r>
          </a:p>
        </p:txBody>
      </p:sp>
      <p:sp>
        <p:nvSpPr>
          <p:cNvPr id="9" name="Rectangle 8">
            <a:extLst>
              <a:ext uri="{FF2B5EF4-FFF2-40B4-BE49-F238E27FC236}">
                <a16:creationId xmlns:a16="http://schemas.microsoft.com/office/drawing/2014/main" id="{19DCD03C-470B-4FEC-8AD4-6BADABA2DF6A}"/>
              </a:ext>
            </a:extLst>
          </p:cNvPr>
          <p:cNvSpPr>
            <a:spLocks noGrp="1"/>
          </p:cNvSpPr>
          <p:nvPr/>
        </p:nvSpPr>
        <p:spPr>
          <a:xfrm>
            <a:off x="1666875" y="3971925"/>
            <a:ext cx="8858250" cy="381000"/>
          </a:xfrm>
          <a:prstGeom prst="rect">
            <a:avLst/>
          </a:prstGeom>
          <a:noFill/>
          <a:ln w="0">
            <a:noFill/>
            <a:prstDash val="solid"/>
          </a:ln>
        </p:spPr>
        <p:txBody>
          <a:bodyPr/>
          <a:lstStyle>
            <a:defPPr>
              <a:defRPr sz="1575" b="0">
                <a:solidFill>
                  <a:srgbClr val="53656B"/>
                </a:solidFill>
                <a:latin typeface="Arial"/>
                <a:ea typeface="Arial"/>
                <a:cs typeface="Arial"/>
              </a:defRPr>
            </a:defPPr>
          </a:lstStyle>
          <a:p>
            <a:pPr>
              <a:defRPr sz="1575" b="0">
                <a:solidFill>
                  <a:srgbClr val="53656B"/>
                </a:solidFill>
                <a:latin typeface="Arial"/>
                <a:ea typeface="Arial"/>
                <a:cs typeface="Arial"/>
              </a:defRPr>
            </a:pPr>
            <a:r>
              <a:rPr sz="1575" b="0">
                <a:solidFill>
                  <a:srgbClr val="53656B"/>
                </a:solidFill>
                <a:latin typeface="Arial"/>
                <a:ea typeface="Arial"/>
                <a:cs typeface="Arial"/>
              </a:rPr>
              <a:t>Score every method on the same available dates.</a:t>
            </a:r>
          </a:p>
        </p:txBody>
      </p:sp>
      <p:sp>
        <p:nvSpPr>
          <p:cNvPr id="10" name="Rectangle 9">
            <a:extLst>
              <a:ext uri="{FF2B5EF4-FFF2-40B4-BE49-F238E27FC236}">
                <a16:creationId xmlns:a16="http://schemas.microsoft.com/office/drawing/2014/main" id="{4DCB897D-03E9-4FE2-989E-2D180391BE35}"/>
              </a:ext>
            </a:extLst>
          </p:cNvPr>
          <p:cNvSpPr>
            <a:spLocks noGrp="1"/>
          </p:cNvSpPr>
          <p:nvPr/>
        </p:nvSpPr>
        <p:spPr>
          <a:xfrm>
            <a:off x="781050" y="4572000"/>
            <a:ext cx="10287000" cy="19050"/>
          </a:xfrm>
          <a:prstGeom prst="rect">
            <a:avLst/>
          </a:prstGeom>
          <a:solidFill>
            <a:srgbClr val="D8E0E1"/>
          </a:solidFill>
          <a:ln w="0">
            <a:noFill/>
            <a:prstDash val="solid"/>
          </a:ln>
        </p:spPr>
      </p:sp>
      <p:sp>
        <p:nvSpPr>
          <p:cNvPr id="11" name="Rectangle 10">
            <a:extLst>
              <a:ext uri="{FF2B5EF4-FFF2-40B4-BE49-F238E27FC236}">
                <a16:creationId xmlns:a16="http://schemas.microsoft.com/office/drawing/2014/main" id="{08A506D3-0779-43EF-8B2C-BD493BE7AFDB}"/>
              </a:ext>
            </a:extLst>
          </p:cNvPr>
          <p:cNvSpPr>
            <a:spLocks noGrp="1"/>
          </p:cNvSpPr>
          <p:nvPr/>
        </p:nvSpPr>
        <p:spPr>
          <a:xfrm>
            <a:off x="781050" y="4857750"/>
            <a:ext cx="1047750" cy="1066800"/>
          </a:xfrm>
          <a:prstGeom prst="rect">
            <a:avLst/>
          </a:prstGeom>
          <a:noFill/>
          <a:ln w="0">
            <a:noFill/>
            <a:prstDash val="solid"/>
          </a:ln>
        </p:spPr>
        <p:txBody>
          <a:bodyPr/>
          <a:lstStyle>
            <a:defPPr>
              <a:defRPr sz="4725" b="1">
                <a:solidFill>
                  <a:srgbClr val="0C8582"/>
                </a:solidFill>
                <a:latin typeface="Arial"/>
                <a:ea typeface="Arial"/>
                <a:cs typeface="Arial"/>
              </a:defRPr>
            </a:defPPr>
          </a:lstStyle>
          <a:p>
            <a:pPr>
              <a:defRPr sz="4725" b="1">
                <a:solidFill>
                  <a:srgbClr val="0C8582"/>
                </a:solidFill>
                <a:latin typeface="Arial"/>
                <a:ea typeface="Arial"/>
                <a:cs typeface="Arial"/>
              </a:defRPr>
            </a:pPr>
            <a:r>
              <a:rPr sz="4725" b="1">
                <a:solidFill>
                  <a:srgbClr val="0C8582"/>
                </a:solidFill>
                <a:latin typeface="Arial"/>
                <a:ea typeface="Arial"/>
                <a:cs typeface="Arial"/>
              </a:rPr>
              <a:t>3</a:t>
            </a:r>
          </a:p>
        </p:txBody>
      </p:sp>
      <p:sp>
        <p:nvSpPr>
          <p:cNvPr id="12" name="Rectangle 11">
            <a:extLst>
              <a:ext uri="{FF2B5EF4-FFF2-40B4-BE49-F238E27FC236}">
                <a16:creationId xmlns:a16="http://schemas.microsoft.com/office/drawing/2014/main" id="{4AE9C676-70C6-4A88-BF47-E6E6FE3636BC}"/>
              </a:ext>
            </a:extLst>
          </p:cNvPr>
          <p:cNvSpPr>
            <a:spLocks noGrp="1"/>
          </p:cNvSpPr>
          <p:nvPr/>
        </p:nvSpPr>
        <p:spPr>
          <a:xfrm>
            <a:off x="1666875" y="4981575"/>
            <a:ext cx="7620000" cy="400050"/>
          </a:xfrm>
          <a:prstGeom prst="rect">
            <a:avLst/>
          </a:prstGeom>
          <a:noFill/>
          <a:ln w="0">
            <a:noFill/>
            <a:prstDash val="solid"/>
          </a:ln>
        </p:spPr>
        <p:txBody>
          <a:bodyPr/>
          <a:lstStyle>
            <a:defPPr>
              <a:defRPr sz="2025" b="1">
                <a:solidFill>
                  <a:srgbClr val="14272E"/>
                </a:solidFill>
                <a:latin typeface="Arial"/>
                <a:ea typeface="Arial"/>
                <a:cs typeface="Arial"/>
              </a:defRPr>
            </a:defPPr>
          </a:lstStyle>
          <a:p>
            <a:pPr>
              <a:defRPr sz="2025" b="1">
                <a:solidFill>
                  <a:srgbClr val="14272E"/>
                </a:solidFill>
                <a:latin typeface="Arial"/>
                <a:ea typeface="Arial"/>
                <a:cs typeface="Arial"/>
              </a:defRPr>
            </a:pPr>
            <a:r>
              <a:rPr sz="2025" b="1">
                <a:solidFill>
                  <a:srgbClr val="14272E"/>
                </a:solidFill>
                <a:latin typeface="Arial"/>
                <a:ea typeface="Arial"/>
                <a:cs typeface="Arial"/>
              </a:rPr>
              <a:t>Recursive seven-day outlook</a:t>
            </a:r>
          </a:p>
        </p:txBody>
      </p:sp>
      <p:sp>
        <p:nvSpPr>
          <p:cNvPr id="13" name="Rectangle 12">
            <a:extLst>
              <a:ext uri="{FF2B5EF4-FFF2-40B4-BE49-F238E27FC236}">
                <a16:creationId xmlns:a16="http://schemas.microsoft.com/office/drawing/2014/main" id="{EC252D68-B675-40B8-9C68-3B38393BE942}"/>
              </a:ext>
            </a:extLst>
          </p:cNvPr>
          <p:cNvSpPr>
            <a:spLocks noGrp="1"/>
          </p:cNvSpPr>
          <p:nvPr/>
        </p:nvSpPr>
        <p:spPr>
          <a:xfrm>
            <a:off x="1666875" y="5438775"/>
            <a:ext cx="9048750" cy="476250"/>
          </a:xfrm>
          <a:prstGeom prst="rect">
            <a:avLst/>
          </a:prstGeom>
          <a:noFill/>
          <a:ln w="0">
            <a:noFill/>
            <a:prstDash val="solid"/>
          </a:ln>
        </p:spPr>
        <p:txBody>
          <a:bodyPr/>
          <a:lstStyle>
            <a:defPPr>
              <a:defRPr sz="1575" b="0">
                <a:solidFill>
                  <a:srgbClr val="53656B"/>
                </a:solidFill>
                <a:latin typeface="Arial"/>
                <a:ea typeface="Arial"/>
                <a:cs typeface="Arial"/>
              </a:defRPr>
            </a:defPPr>
          </a:lstStyle>
          <a:p>
            <a:pPr>
              <a:defRPr sz="1575" b="0">
                <a:solidFill>
                  <a:srgbClr val="53656B"/>
                </a:solidFill>
                <a:latin typeface="Arial"/>
                <a:ea typeface="Arial"/>
                <a:cs typeface="Arial"/>
              </a:defRPr>
            </a:pPr>
            <a:r>
              <a:rPr sz="1575" b="0">
                <a:solidFill>
                  <a:srgbClr val="53656B"/>
                </a:solidFill>
                <a:latin typeface="Arial"/>
                <a:ea typeface="Arial"/>
                <a:cs typeface="Arial"/>
              </a:rPr>
              <a:t>Future lags use prior predictions, not future actual PM.</a:t>
            </a:r>
          </a:p>
        </p:txBody>
      </p:sp>
    </p:spTree>
    <p:extLst>
      <p:ext uri="{BB962C8B-B14F-4D97-AF65-F5344CB8AC3E}">
        <p14:creationId xmlns:p14="http://schemas.microsoft.com/office/powerpoint/2010/main" val="805646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9"/>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C6EE823-B74C-4DC4-9FAF-BFE5F6A71667}"/>
              </a:ext>
            </a:extLst>
          </p:cNvPr>
          <p:cNvSpPr>
            <a:spLocks noGrp="1"/>
          </p:cNvSpPr>
          <p:nvPr/>
        </p:nvSpPr>
        <p:spPr>
          <a:xfrm>
            <a:off x="723900" y="514350"/>
            <a:ext cx="10744200" cy="857250"/>
          </a:xfrm>
          <a:prstGeom prst="rect">
            <a:avLst/>
          </a:prstGeom>
          <a:noFill/>
          <a:ln w="0">
            <a:noFill/>
            <a:prstDash val="solid"/>
          </a:ln>
        </p:spPr>
        <p:txBody>
          <a:bodyPr/>
          <a:lstStyle>
            <a:defPPr>
              <a:defRPr sz="2700" b="1">
                <a:solidFill>
                  <a:srgbClr val="14272E"/>
                </a:solidFill>
                <a:latin typeface="Arial"/>
                <a:ea typeface="Arial"/>
                <a:cs typeface="Arial"/>
              </a:defRPr>
            </a:defPPr>
          </a:lstStyle>
          <a:p>
            <a:pPr>
              <a:defRPr sz="2700" b="1">
                <a:solidFill>
                  <a:srgbClr val="14272E"/>
                </a:solidFill>
                <a:latin typeface="Arial"/>
                <a:ea typeface="Arial"/>
                <a:cs typeface="Arial"/>
              </a:defRPr>
            </a:pPr>
            <a:r>
              <a:rPr sz="2700" b="1">
                <a:solidFill>
                  <a:srgbClr val="14272E"/>
                </a:solidFill>
                <a:latin typeface="Arial"/>
                <a:ea typeface="Arial"/>
                <a:cs typeface="Arial"/>
              </a:rPr>
              <a:t>Station PM10 improves, other targets keep persistence</a:t>
            </a:r>
          </a:p>
        </p:txBody>
      </p:sp>
      <p:sp>
        <p:nvSpPr>
          <p:cNvPr id="2" name="Rectangle 1">
            <a:extLst>
              <a:ext uri="{FF2B5EF4-FFF2-40B4-BE49-F238E27FC236}">
                <a16:creationId xmlns:a16="http://schemas.microsoft.com/office/drawing/2014/main" id="{BCF525EB-4530-45E2-90A7-0BF6661D66B1}"/>
              </a:ext>
            </a:extLst>
          </p:cNvPr>
          <p:cNvSpPr>
            <a:spLocks noGrp="1"/>
          </p:cNvSpPr>
          <p:nvPr/>
        </p:nvSpPr>
        <p:spPr>
          <a:xfrm>
            <a:off x="742950" y="1304925"/>
            <a:ext cx="10477500" cy="533400"/>
          </a:xfrm>
          <a:prstGeom prst="rect">
            <a:avLst/>
          </a:prstGeom>
          <a:noFill/>
          <a:ln w="0">
            <a:noFill/>
            <a:prstDash val="solid"/>
          </a:ln>
        </p:spPr>
        <p:txBody>
          <a:bodyPr/>
          <a:lstStyle>
            <a:defPPr>
              <a:defRPr sz="1350" b="0">
                <a:solidFill>
                  <a:srgbClr val="53656B"/>
                </a:solidFill>
                <a:latin typeface="Arial"/>
                <a:ea typeface="Arial"/>
                <a:cs typeface="Arial"/>
              </a:defRPr>
            </a:defPPr>
          </a:lstStyle>
          <a:p>
            <a:pPr>
              <a:defRPr sz="1350" b="0">
                <a:solidFill>
                  <a:srgbClr val="53656B"/>
                </a:solidFill>
                <a:latin typeface="Arial"/>
                <a:ea typeface="Arial"/>
                <a:cs typeface="Arial"/>
              </a:defRPr>
            </a:pPr>
            <a:r>
              <a:rPr sz="1350" b="0">
                <a:solidFill>
                  <a:srgbClr val="53656B"/>
                </a:solidFill>
                <a:latin typeface="Arial"/>
                <a:ea typeface="Arial"/>
                <a:cs typeface="Arial"/>
              </a:rPr>
              <a:t>Final chronological test; MAE in ug/m3, lower is better</a:t>
            </a:r>
          </a:p>
        </p:txBody>
      </p:sp>
      <p:sp>
        <p:nvSpPr>
          <p:cNvPr id="3" name="Rectangle 2">
            <a:extLst>
              <a:ext uri="{FF2B5EF4-FFF2-40B4-BE49-F238E27FC236}">
                <a16:creationId xmlns:a16="http://schemas.microsoft.com/office/drawing/2014/main" id="{C0670405-B892-48A2-9672-6E697566B8DB}"/>
              </a:ext>
            </a:extLst>
          </p:cNvPr>
          <p:cNvSpPr>
            <a:spLocks noGrp="1"/>
          </p:cNvSpPr>
          <p:nvPr/>
        </p:nvSpPr>
        <p:spPr>
          <a:xfrm>
            <a:off x="11115675" y="6286500"/>
            <a:ext cx="428625" cy="228600"/>
          </a:xfrm>
          <a:prstGeom prst="rect">
            <a:avLst/>
          </a:prstGeom>
          <a:noFill/>
          <a:ln w="0">
            <a:noFill/>
            <a:prstDash val="solid"/>
          </a:ln>
        </p:spPr>
        <p:txBody>
          <a:bodyPr/>
          <a:lstStyle>
            <a:defPPr>
              <a:defRPr sz="1050" b="0">
                <a:solidFill>
                  <a:srgbClr val="53656B"/>
                </a:solidFill>
                <a:latin typeface="Arial"/>
                <a:ea typeface="Arial"/>
                <a:cs typeface="Arial"/>
              </a:defRPr>
            </a:defPPr>
          </a:lstStyle>
          <a:p>
            <a:pPr>
              <a:defRPr sz="1050" b="0">
                <a:solidFill>
                  <a:srgbClr val="53656B"/>
                </a:solidFill>
                <a:latin typeface="Arial"/>
                <a:ea typeface="Arial"/>
                <a:cs typeface="Arial"/>
              </a:defRPr>
            </a:pPr>
            <a:r>
              <a:rPr sz="1050" b="0">
                <a:solidFill>
                  <a:srgbClr val="53656B"/>
                </a:solidFill>
                <a:latin typeface="Arial"/>
                <a:ea typeface="Arial"/>
                <a:cs typeface="Arial"/>
              </a:rPr>
              <a:t>07</a:t>
            </a:r>
          </a:p>
        </p:txBody>
      </p:sp>
      <p:graphicFrame>
        <p:nvGraphicFramePr>
          <p:cNvPr id="4" name="Table 3">
            <a:extLst>
              <a:ext uri="{FF2B5EF4-FFF2-40B4-BE49-F238E27FC236}">
                <a16:creationId xmlns:a16="http://schemas.microsoft.com/office/drawing/2014/main" id="{177C7F2B-BE8E-4F07-9BDE-8A5FAF368ACB}"/>
              </a:ext>
            </a:extLst>
          </p:cNvPr>
          <p:cNvGraphicFramePr/>
          <p:nvPr/>
        </p:nvGraphicFramePr>
        <p:xfrm>
          <a:off x="666750" y="2124075"/>
          <a:ext cx="10858500" cy="2600325"/>
        </p:xfrm>
        <a:graphic>
          <a:graphicData uri="http://schemas.openxmlformats.org/drawingml/2006/table">
            <a:tbl>
              <a:tblPr firstRow="1" bandRow="1"/>
              <a:tblGrid>
                <a:gridCol w="2428875">
                  <a:extLst>
                    <a:ext uri="{9D8B030D-6E8A-4147-A177-3AD203B41FA5}">
                      <a16:colId xmlns:a16="http://schemas.microsoft.com/office/drawing/2014/main" val="20000"/>
                    </a:ext>
                  </a:extLst>
                </a:gridCol>
                <a:gridCol w="1666875">
                  <a:extLst>
                    <a:ext uri="{9D8B030D-6E8A-4147-A177-3AD203B41FA5}">
                      <a16:colId xmlns:a16="http://schemas.microsoft.com/office/drawing/2014/main" val="20001"/>
                    </a:ext>
                  </a:extLst>
                </a:gridCol>
                <a:gridCol w="2476500">
                  <a:extLst>
                    <a:ext uri="{9D8B030D-6E8A-4147-A177-3AD203B41FA5}">
                      <a16:colId xmlns:a16="http://schemas.microsoft.com/office/drawing/2014/main" val="20002"/>
                    </a:ext>
                  </a:extLst>
                </a:gridCol>
                <a:gridCol w="2190750">
                  <a:extLst>
                    <a:ext uri="{9D8B030D-6E8A-4147-A177-3AD203B41FA5}">
                      <a16:colId xmlns:a16="http://schemas.microsoft.com/office/drawing/2014/main" val="20003"/>
                    </a:ext>
                  </a:extLst>
                </a:gridCol>
                <a:gridCol w="2095500">
                  <a:extLst>
                    <a:ext uri="{9D8B030D-6E8A-4147-A177-3AD203B41FA5}">
                      <a16:colId xmlns:a16="http://schemas.microsoft.com/office/drawing/2014/main" val="20004"/>
                    </a:ext>
                  </a:extLst>
                </a:gridCol>
              </a:tblGrid>
              <a:tr h="520065">
                <a:tc>
                  <a:txBody>
                    <a:bodyPr/>
                    <a:lstStyle/>
                    <a:p>
                      <a:r>
                        <a:rPr sz="1275" b="1">
                          <a:solidFill>
                            <a:srgbClr val="FFFFFF"/>
                          </a:solidFill>
                          <a:latin typeface="Arial"/>
                          <a:ea typeface="Arial"/>
                          <a:cs typeface="Arial"/>
                        </a:rPr>
                        <a:t>Target</a:t>
                      </a:r>
                    </a:p>
                  </a:txBody>
                  <a:tcPr>
                    <a:solidFill>
                      <a:srgbClr val="14272E"/>
                    </a:solidFill>
                  </a:tcPr>
                </a:tc>
                <a:tc>
                  <a:txBody>
                    <a:bodyPr/>
                    <a:lstStyle/>
                    <a:p>
                      <a:r>
                        <a:rPr sz="1275" b="1">
                          <a:solidFill>
                            <a:srgbClr val="FFFFFF"/>
                          </a:solidFill>
                          <a:latin typeface="Arial"/>
                          <a:ea typeface="Arial"/>
                          <a:cs typeface="Arial"/>
                        </a:rPr>
                        <a:t>Scored</a:t>
                      </a:r>
                    </a:p>
                  </a:txBody>
                  <a:tcPr>
                    <a:solidFill>
                      <a:srgbClr val="14272E"/>
                    </a:solidFill>
                  </a:tcPr>
                </a:tc>
                <a:tc>
                  <a:txBody>
                    <a:bodyPr/>
                    <a:lstStyle/>
                    <a:p>
                      <a:r>
                        <a:rPr sz="1275" b="1">
                          <a:solidFill>
                            <a:srgbClr val="FFFFFF"/>
                          </a:solidFill>
                          <a:latin typeface="Arial"/>
                          <a:ea typeface="Arial"/>
                          <a:cs typeface="Arial"/>
                        </a:rPr>
                        <a:t>Selected</a:t>
                      </a:r>
                    </a:p>
                  </a:txBody>
                  <a:tcPr>
                    <a:solidFill>
                      <a:srgbClr val="14272E"/>
                    </a:solidFill>
                  </a:tcPr>
                </a:tc>
                <a:tc>
                  <a:txBody>
                    <a:bodyPr/>
                    <a:lstStyle/>
                    <a:p>
                      <a:r>
                        <a:rPr sz="1275" b="1">
                          <a:solidFill>
                            <a:srgbClr val="FFFFFF"/>
                          </a:solidFill>
                          <a:latin typeface="Arial"/>
                          <a:ea typeface="Arial"/>
                          <a:cs typeface="Arial"/>
                        </a:rPr>
                        <a:t>Selected MAE</a:t>
                      </a:r>
                    </a:p>
                  </a:txBody>
                  <a:tcPr>
                    <a:solidFill>
                      <a:srgbClr val="14272E"/>
                    </a:solidFill>
                  </a:tcPr>
                </a:tc>
                <a:tc>
                  <a:txBody>
                    <a:bodyPr/>
                    <a:lstStyle/>
                    <a:p>
                      <a:r>
                        <a:rPr sz="1275" b="1">
                          <a:solidFill>
                            <a:srgbClr val="FFFFFF"/>
                          </a:solidFill>
                          <a:latin typeface="Arial"/>
                          <a:ea typeface="Arial"/>
                          <a:cs typeface="Arial"/>
                        </a:rPr>
                        <a:t>Persistence MAE</a:t>
                      </a:r>
                    </a:p>
                  </a:txBody>
                  <a:tcPr>
                    <a:solidFill>
                      <a:srgbClr val="14272E"/>
                    </a:solidFill>
                  </a:tcPr>
                </a:tc>
                <a:extLst>
                  <a:ext uri="{0D108BD9-81ED-4DB2-BD59-A6C34878D82A}">
                    <a16:rowId xmlns:a16="http://schemas.microsoft.com/office/drawing/2014/main" val="10000"/>
                  </a:ext>
                </a:extLst>
              </a:tr>
              <a:tr h="520065">
                <a:tc>
                  <a:txBody>
                    <a:bodyPr/>
                    <a:lstStyle/>
                    <a:p>
                      <a:r>
                        <a:rPr sz="1350" b="0">
                          <a:solidFill>
                            <a:srgbClr val="14272E"/>
                          </a:solidFill>
                          <a:latin typeface="Arial"/>
                          <a:ea typeface="Arial"/>
                          <a:cs typeface="Arial"/>
                        </a:rPr>
                        <a:t>CAMS PM2.5</a:t>
                      </a:r>
                    </a:p>
                  </a:txBody>
                  <a:tcPr>
                    <a:solidFill>
                      <a:srgbClr val="FFFFFF"/>
                    </a:solidFill>
                  </a:tcPr>
                </a:tc>
                <a:tc>
                  <a:txBody>
                    <a:bodyPr/>
                    <a:lstStyle/>
                    <a:p>
                      <a:r>
                        <a:rPr sz="1350" b="0">
                          <a:solidFill>
                            <a:srgbClr val="14272E"/>
                          </a:solidFill>
                          <a:latin typeface="Arial"/>
                          <a:ea typeface="Arial"/>
                          <a:cs typeface="Arial"/>
                        </a:rPr>
                        <a:t>180 / 180</a:t>
                      </a:r>
                    </a:p>
                  </a:txBody>
                  <a:tcPr>
                    <a:solidFill>
                      <a:srgbClr val="FFFFFF"/>
                    </a:solidFill>
                  </a:tcPr>
                </a:tc>
                <a:tc>
                  <a:txBody>
                    <a:bodyPr/>
                    <a:lstStyle/>
                    <a:p>
                      <a:r>
                        <a:rPr sz="1350" b="0">
                          <a:solidFill>
                            <a:srgbClr val="14272E"/>
                          </a:solidFill>
                          <a:latin typeface="Arial"/>
                          <a:ea typeface="Arial"/>
                          <a:cs typeface="Arial"/>
                        </a:rPr>
                        <a:t>Persistence</a:t>
                      </a:r>
                    </a:p>
                  </a:txBody>
                  <a:tcPr>
                    <a:solidFill>
                      <a:srgbClr val="FFFFFF"/>
                    </a:solidFill>
                  </a:tcPr>
                </a:tc>
                <a:tc>
                  <a:txBody>
                    <a:bodyPr/>
                    <a:lstStyle/>
                    <a:p>
                      <a:r>
                        <a:rPr sz="1350" b="0">
                          <a:solidFill>
                            <a:srgbClr val="14272E"/>
                          </a:solidFill>
                          <a:latin typeface="Arial"/>
                          <a:ea typeface="Arial"/>
                          <a:cs typeface="Arial"/>
                        </a:rPr>
                        <a:t>16.62</a:t>
                      </a:r>
                    </a:p>
                  </a:txBody>
                  <a:tcPr>
                    <a:solidFill>
                      <a:srgbClr val="FFFFFF"/>
                    </a:solidFill>
                  </a:tcPr>
                </a:tc>
                <a:tc>
                  <a:txBody>
                    <a:bodyPr/>
                    <a:lstStyle/>
                    <a:p>
                      <a:r>
                        <a:rPr sz="1350" b="0">
                          <a:solidFill>
                            <a:srgbClr val="14272E"/>
                          </a:solidFill>
                          <a:latin typeface="Arial"/>
                          <a:ea typeface="Arial"/>
                          <a:cs typeface="Arial"/>
                        </a:rPr>
                        <a:t>16.62</a:t>
                      </a:r>
                    </a:p>
                  </a:txBody>
                  <a:tcPr>
                    <a:solidFill>
                      <a:srgbClr val="FFFFFF"/>
                    </a:solidFill>
                  </a:tcPr>
                </a:tc>
                <a:extLst>
                  <a:ext uri="{0D108BD9-81ED-4DB2-BD59-A6C34878D82A}">
                    <a16:rowId xmlns:a16="http://schemas.microsoft.com/office/drawing/2014/main" val="10001"/>
                  </a:ext>
                </a:extLst>
              </a:tr>
              <a:tr h="520065">
                <a:tc>
                  <a:txBody>
                    <a:bodyPr/>
                    <a:lstStyle/>
                    <a:p>
                      <a:r>
                        <a:rPr sz="1350" b="0">
                          <a:solidFill>
                            <a:srgbClr val="14272E"/>
                          </a:solidFill>
                          <a:latin typeface="Arial"/>
                          <a:ea typeface="Arial"/>
                          <a:cs typeface="Arial"/>
                        </a:rPr>
                        <a:t>CAMS PM10</a:t>
                      </a:r>
                    </a:p>
                  </a:txBody>
                  <a:tcPr>
                    <a:solidFill>
                      <a:srgbClr val="EFF3F3"/>
                    </a:solidFill>
                  </a:tcPr>
                </a:tc>
                <a:tc>
                  <a:txBody>
                    <a:bodyPr/>
                    <a:lstStyle/>
                    <a:p>
                      <a:r>
                        <a:rPr sz="1350" b="0">
                          <a:solidFill>
                            <a:srgbClr val="14272E"/>
                          </a:solidFill>
                          <a:latin typeface="Arial"/>
                          <a:ea typeface="Arial"/>
                          <a:cs typeface="Arial"/>
                        </a:rPr>
                        <a:t>180 / 180</a:t>
                      </a:r>
                    </a:p>
                  </a:txBody>
                  <a:tcPr>
                    <a:solidFill>
                      <a:srgbClr val="EFF3F3"/>
                    </a:solidFill>
                  </a:tcPr>
                </a:tc>
                <a:tc>
                  <a:txBody>
                    <a:bodyPr/>
                    <a:lstStyle/>
                    <a:p>
                      <a:r>
                        <a:rPr sz="1350" b="0">
                          <a:solidFill>
                            <a:srgbClr val="14272E"/>
                          </a:solidFill>
                          <a:latin typeface="Arial"/>
                          <a:ea typeface="Arial"/>
                          <a:cs typeface="Arial"/>
                        </a:rPr>
                        <a:t>Persistence</a:t>
                      </a:r>
                    </a:p>
                  </a:txBody>
                  <a:tcPr>
                    <a:solidFill>
                      <a:srgbClr val="EFF3F3"/>
                    </a:solidFill>
                  </a:tcPr>
                </a:tc>
                <a:tc>
                  <a:txBody>
                    <a:bodyPr/>
                    <a:lstStyle/>
                    <a:p>
                      <a:r>
                        <a:rPr sz="1350" b="0">
                          <a:solidFill>
                            <a:srgbClr val="14272E"/>
                          </a:solidFill>
                          <a:latin typeface="Arial"/>
                          <a:ea typeface="Arial"/>
                          <a:cs typeface="Arial"/>
                        </a:rPr>
                        <a:t>86.99</a:t>
                      </a:r>
                    </a:p>
                  </a:txBody>
                  <a:tcPr>
                    <a:solidFill>
                      <a:srgbClr val="EFF3F3"/>
                    </a:solidFill>
                  </a:tcPr>
                </a:tc>
                <a:tc>
                  <a:txBody>
                    <a:bodyPr/>
                    <a:lstStyle/>
                    <a:p>
                      <a:r>
                        <a:rPr sz="1350" b="0">
                          <a:solidFill>
                            <a:srgbClr val="14272E"/>
                          </a:solidFill>
                          <a:latin typeface="Arial"/>
                          <a:ea typeface="Arial"/>
                          <a:cs typeface="Arial"/>
                        </a:rPr>
                        <a:t>86.99</a:t>
                      </a:r>
                    </a:p>
                  </a:txBody>
                  <a:tcPr>
                    <a:solidFill>
                      <a:srgbClr val="EFF3F3"/>
                    </a:solidFill>
                  </a:tcPr>
                </a:tc>
                <a:extLst>
                  <a:ext uri="{0D108BD9-81ED-4DB2-BD59-A6C34878D82A}">
                    <a16:rowId xmlns:a16="http://schemas.microsoft.com/office/drawing/2014/main" val="10002"/>
                  </a:ext>
                </a:extLst>
              </a:tr>
              <a:tr h="520065">
                <a:tc>
                  <a:txBody>
                    <a:bodyPr/>
                    <a:lstStyle/>
                    <a:p>
                      <a:r>
                        <a:rPr sz="1350" b="0">
                          <a:solidFill>
                            <a:srgbClr val="14272E"/>
                          </a:solidFill>
                          <a:latin typeface="Arial"/>
                          <a:ea typeface="Arial"/>
                          <a:cs typeface="Arial"/>
                        </a:rPr>
                        <a:t>Station PM2.5</a:t>
                      </a:r>
                    </a:p>
                  </a:txBody>
                  <a:tcPr>
                    <a:solidFill>
                      <a:srgbClr val="FFFFFF"/>
                    </a:solidFill>
                  </a:tcPr>
                </a:tc>
                <a:tc>
                  <a:txBody>
                    <a:bodyPr/>
                    <a:lstStyle/>
                    <a:p>
                      <a:r>
                        <a:rPr sz="1350" b="0">
                          <a:solidFill>
                            <a:srgbClr val="14272E"/>
                          </a:solidFill>
                          <a:latin typeface="Arial"/>
                          <a:ea typeface="Arial"/>
                          <a:cs typeface="Arial"/>
                        </a:rPr>
                        <a:t>131 / 180</a:t>
                      </a:r>
                    </a:p>
                  </a:txBody>
                  <a:tcPr>
                    <a:solidFill>
                      <a:srgbClr val="FFFFFF"/>
                    </a:solidFill>
                  </a:tcPr>
                </a:tc>
                <a:tc>
                  <a:txBody>
                    <a:bodyPr/>
                    <a:lstStyle/>
                    <a:p>
                      <a:r>
                        <a:rPr sz="1350" b="0">
                          <a:solidFill>
                            <a:srgbClr val="14272E"/>
                          </a:solidFill>
                          <a:latin typeface="Arial"/>
                          <a:ea typeface="Arial"/>
                          <a:cs typeface="Arial"/>
                        </a:rPr>
                        <a:t>Persistence</a:t>
                      </a:r>
                    </a:p>
                  </a:txBody>
                  <a:tcPr>
                    <a:solidFill>
                      <a:srgbClr val="FFFFFF"/>
                    </a:solidFill>
                  </a:tcPr>
                </a:tc>
                <a:tc>
                  <a:txBody>
                    <a:bodyPr/>
                    <a:lstStyle/>
                    <a:p>
                      <a:r>
                        <a:rPr sz="1350" b="0">
                          <a:solidFill>
                            <a:srgbClr val="14272E"/>
                          </a:solidFill>
                          <a:latin typeface="Arial"/>
                          <a:ea typeface="Arial"/>
                          <a:cs typeface="Arial"/>
                        </a:rPr>
                        <a:t>12.12</a:t>
                      </a:r>
                    </a:p>
                  </a:txBody>
                  <a:tcPr>
                    <a:solidFill>
                      <a:srgbClr val="FFFFFF"/>
                    </a:solidFill>
                  </a:tcPr>
                </a:tc>
                <a:tc>
                  <a:txBody>
                    <a:bodyPr/>
                    <a:lstStyle/>
                    <a:p>
                      <a:r>
                        <a:rPr sz="1350" b="0">
                          <a:solidFill>
                            <a:srgbClr val="14272E"/>
                          </a:solidFill>
                          <a:latin typeface="Arial"/>
                          <a:ea typeface="Arial"/>
                          <a:cs typeface="Arial"/>
                        </a:rPr>
                        <a:t>12.12</a:t>
                      </a:r>
                    </a:p>
                  </a:txBody>
                  <a:tcPr>
                    <a:solidFill>
                      <a:srgbClr val="FFFFFF"/>
                    </a:solidFill>
                  </a:tcPr>
                </a:tc>
                <a:extLst>
                  <a:ext uri="{0D108BD9-81ED-4DB2-BD59-A6C34878D82A}">
                    <a16:rowId xmlns:a16="http://schemas.microsoft.com/office/drawing/2014/main" val="10003"/>
                  </a:ext>
                </a:extLst>
              </a:tr>
              <a:tr h="520065">
                <a:tc>
                  <a:txBody>
                    <a:bodyPr/>
                    <a:lstStyle/>
                    <a:p>
                      <a:r>
                        <a:rPr sz="1350" b="0">
                          <a:solidFill>
                            <a:srgbClr val="14272E"/>
                          </a:solidFill>
                          <a:latin typeface="Arial"/>
                          <a:ea typeface="Arial"/>
                          <a:cs typeface="Arial"/>
                        </a:rPr>
                        <a:t>Station PM10</a:t>
                      </a:r>
                    </a:p>
                  </a:txBody>
                  <a:tcPr>
                    <a:solidFill>
                      <a:srgbClr val="EFF3F3"/>
                    </a:solidFill>
                  </a:tcPr>
                </a:tc>
                <a:tc>
                  <a:txBody>
                    <a:bodyPr/>
                    <a:lstStyle/>
                    <a:p>
                      <a:r>
                        <a:rPr sz="1350" b="0">
                          <a:solidFill>
                            <a:srgbClr val="14272E"/>
                          </a:solidFill>
                          <a:latin typeface="Arial"/>
                          <a:ea typeface="Arial"/>
                          <a:cs typeface="Arial"/>
                        </a:rPr>
                        <a:t>133 / 180</a:t>
                      </a:r>
                    </a:p>
                  </a:txBody>
                  <a:tcPr>
                    <a:solidFill>
                      <a:srgbClr val="EFF3F3"/>
                    </a:solidFill>
                  </a:tcPr>
                </a:tc>
                <a:tc>
                  <a:txBody>
                    <a:bodyPr/>
                    <a:lstStyle/>
                    <a:p>
                      <a:r>
                        <a:rPr sz="1350" b="0">
                          <a:solidFill>
                            <a:srgbClr val="14272E"/>
                          </a:solidFill>
                          <a:latin typeface="Arial"/>
                          <a:ea typeface="Arial"/>
                          <a:cs typeface="Arial"/>
                        </a:rPr>
                        <a:t>Random Forest</a:t>
                      </a:r>
                    </a:p>
                  </a:txBody>
                  <a:tcPr>
                    <a:solidFill>
                      <a:srgbClr val="EFF3F3"/>
                    </a:solidFill>
                  </a:tcPr>
                </a:tc>
                <a:tc>
                  <a:txBody>
                    <a:bodyPr/>
                    <a:lstStyle/>
                    <a:p>
                      <a:r>
                        <a:rPr sz="1350" b="0">
                          <a:solidFill>
                            <a:srgbClr val="14272E"/>
                          </a:solidFill>
                          <a:latin typeface="Arial"/>
                          <a:ea typeface="Arial"/>
                          <a:cs typeface="Arial"/>
                        </a:rPr>
                        <a:t>27.61</a:t>
                      </a:r>
                    </a:p>
                  </a:txBody>
                  <a:tcPr>
                    <a:solidFill>
                      <a:srgbClr val="EFF3F3"/>
                    </a:solidFill>
                  </a:tcPr>
                </a:tc>
                <a:tc>
                  <a:txBody>
                    <a:bodyPr/>
                    <a:lstStyle/>
                    <a:p>
                      <a:r>
                        <a:rPr sz="1350" b="0">
                          <a:solidFill>
                            <a:srgbClr val="14272E"/>
                          </a:solidFill>
                          <a:latin typeface="Arial"/>
                          <a:ea typeface="Arial"/>
                          <a:cs typeface="Arial"/>
                        </a:rPr>
                        <a:t>37.41</a:t>
                      </a:r>
                    </a:p>
                  </a:txBody>
                  <a:tcPr>
                    <a:solidFill>
                      <a:srgbClr val="EFF3F3"/>
                    </a:solidFill>
                  </a:tcPr>
                </a:tc>
                <a:extLst>
                  <a:ext uri="{0D108BD9-81ED-4DB2-BD59-A6C34878D82A}">
                    <a16:rowId xmlns:a16="http://schemas.microsoft.com/office/drawing/2014/main" val="10004"/>
                  </a:ext>
                </a:extLst>
              </a:tr>
            </a:tbl>
          </a:graphicData>
        </a:graphic>
      </p:graphicFrame>
      <p:sp>
        <p:nvSpPr>
          <p:cNvPr id="5" name="Rectangle 4">
            <a:extLst>
              <a:ext uri="{FF2B5EF4-FFF2-40B4-BE49-F238E27FC236}">
                <a16:creationId xmlns:a16="http://schemas.microsoft.com/office/drawing/2014/main" id="{E2D8FAE4-51D6-45DA-A471-09A2F13C5FDD}"/>
              </a:ext>
            </a:extLst>
          </p:cNvPr>
          <p:cNvSpPr>
            <a:spLocks noGrp="1"/>
          </p:cNvSpPr>
          <p:nvPr/>
        </p:nvSpPr>
        <p:spPr>
          <a:xfrm>
            <a:off x="762000" y="5181600"/>
            <a:ext cx="3048000" cy="790575"/>
          </a:xfrm>
          <a:prstGeom prst="rect">
            <a:avLst/>
          </a:prstGeom>
          <a:noFill/>
          <a:ln w="0">
            <a:noFill/>
            <a:prstDash val="solid"/>
          </a:ln>
        </p:spPr>
        <p:txBody>
          <a:bodyPr/>
          <a:lstStyle>
            <a:defPPr>
              <a:defRPr sz="4050" b="1">
                <a:solidFill>
                  <a:srgbClr val="0C8582"/>
                </a:solidFill>
                <a:latin typeface="Arial"/>
                <a:ea typeface="Arial"/>
                <a:cs typeface="Arial"/>
              </a:defRPr>
            </a:defPPr>
          </a:lstStyle>
          <a:p>
            <a:pPr>
              <a:defRPr sz="4050" b="1">
                <a:solidFill>
                  <a:srgbClr val="0C8582"/>
                </a:solidFill>
                <a:latin typeface="Arial"/>
                <a:ea typeface="Arial"/>
                <a:cs typeface="Arial"/>
              </a:defRPr>
            </a:pPr>
            <a:r>
              <a:rPr sz="4050" b="1">
                <a:solidFill>
                  <a:srgbClr val="0C8582"/>
                </a:solidFill>
                <a:latin typeface="Arial"/>
                <a:ea typeface="Arial"/>
                <a:cs typeface="Arial"/>
              </a:rPr>
              <a:t>26.2%</a:t>
            </a:r>
          </a:p>
        </p:txBody>
      </p:sp>
      <p:sp>
        <p:nvSpPr>
          <p:cNvPr id="6" name="Rectangle 5">
            <a:extLst>
              <a:ext uri="{FF2B5EF4-FFF2-40B4-BE49-F238E27FC236}">
                <a16:creationId xmlns:a16="http://schemas.microsoft.com/office/drawing/2014/main" id="{BA2B75E2-89CA-484F-AF5C-70B40F50A692}"/>
              </a:ext>
            </a:extLst>
          </p:cNvPr>
          <p:cNvSpPr>
            <a:spLocks noGrp="1"/>
          </p:cNvSpPr>
          <p:nvPr/>
        </p:nvSpPr>
        <p:spPr>
          <a:xfrm>
            <a:off x="3676650" y="5286375"/>
            <a:ext cx="7334250" cy="647700"/>
          </a:xfrm>
          <a:prstGeom prst="rect">
            <a:avLst/>
          </a:prstGeom>
          <a:noFill/>
          <a:ln w="0">
            <a:noFill/>
            <a:prstDash val="solid"/>
          </a:ln>
        </p:spPr>
        <p:txBody>
          <a:bodyPr/>
          <a:lstStyle>
            <a:defPPr>
              <a:defRPr sz="1800" b="0">
                <a:solidFill>
                  <a:srgbClr val="14272E"/>
                </a:solidFill>
                <a:latin typeface="Arial"/>
                <a:ea typeface="Arial"/>
                <a:cs typeface="Arial"/>
              </a:defRPr>
            </a:defPPr>
          </a:lstStyle>
          <a:p>
            <a:pPr>
              <a:defRPr sz="1800" b="0">
                <a:solidFill>
                  <a:srgbClr val="14272E"/>
                </a:solidFill>
                <a:latin typeface="Arial"/>
                <a:ea typeface="Arial"/>
                <a:cs typeface="Arial"/>
              </a:defRPr>
            </a:pPr>
            <a:r>
              <a:rPr sz="1800" b="0">
                <a:solidFill>
                  <a:srgbClr val="14272E"/>
                </a:solidFill>
                <a:latin typeface="Arial"/>
                <a:ea typeface="Arial"/>
                <a:cs typeface="Arial"/>
              </a:rPr>
              <a:t>station PM10 MAE reduction versus persistence</a:t>
            </a:r>
          </a:p>
        </p:txBody>
      </p:sp>
    </p:spTree>
    <p:extLst>
      <p:ext uri="{BB962C8B-B14F-4D97-AF65-F5344CB8AC3E}">
        <p14:creationId xmlns:p14="http://schemas.microsoft.com/office/powerpoint/2010/main" val="19725726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9"/>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932B1095-BBF6-4220-9290-7ABF5E8FE463}"/>
              </a:ext>
            </a:extLst>
          </p:cNvPr>
          <p:cNvSpPr>
            <a:spLocks noGrp="1"/>
          </p:cNvSpPr>
          <p:nvPr/>
        </p:nvSpPr>
        <p:spPr>
          <a:xfrm>
            <a:off x="723900" y="514350"/>
            <a:ext cx="10744200" cy="857250"/>
          </a:xfrm>
          <a:prstGeom prst="rect">
            <a:avLst/>
          </a:prstGeom>
          <a:noFill/>
          <a:ln w="0">
            <a:noFill/>
            <a:prstDash val="solid"/>
          </a:ln>
        </p:spPr>
        <p:txBody>
          <a:bodyPr/>
          <a:lstStyle>
            <a:defPPr>
              <a:defRPr sz="2700" b="1">
                <a:solidFill>
                  <a:srgbClr val="14272E"/>
                </a:solidFill>
                <a:latin typeface="Arial"/>
                <a:ea typeface="Arial"/>
                <a:cs typeface="Arial"/>
              </a:defRPr>
            </a:defPPr>
          </a:lstStyle>
          <a:p>
            <a:pPr>
              <a:defRPr sz="2700" b="1">
                <a:solidFill>
                  <a:srgbClr val="14272E"/>
                </a:solidFill>
                <a:latin typeface="Arial"/>
                <a:ea typeface="Arial"/>
                <a:cs typeface="Arial"/>
              </a:defRPr>
            </a:pPr>
            <a:r>
              <a:rPr sz="2700" b="1">
                <a:solidFill>
                  <a:srgbClr val="14272E"/>
                </a:solidFill>
                <a:latin typeface="Arial"/>
                <a:ea typeface="Arial"/>
                <a:cs typeface="Arial"/>
              </a:rPr>
              <a:t>The forecast exposes observation latency</a:t>
            </a:r>
          </a:p>
        </p:txBody>
      </p:sp>
      <p:sp>
        <p:nvSpPr>
          <p:cNvPr id="2" name="Rectangle 1">
            <a:extLst>
              <a:ext uri="{FF2B5EF4-FFF2-40B4-BE49-F238E27FC236}">
                <a16:creationId xmlns:a16="http://schemas.microsoft.com/office/drawing/2014/main" id="{024380AF-4F6D-4D7F-8D77-C7B770D4A2B0}"/>
              </a:ext>
            </a:extLst>
          </p:cNvPr>
          <p:cNvSpPr>
            <a:spLocks noGrp="1"/>
          </p:cNvSpPr>
          <p:nvPr/>
        </p:nvSpPr>
        <p:spPr>
          <a:xfrm>
            <a:off x="742950" y="1304925"/>
            <a:ext cx="10477500" cy="533400"/>
          </a:xfrm>
          <a:prstGeom prst="rect">
            <a:avLst/>
          </a:prstGeom>
          <a:noFill/>
          <a:ln w="0">
            <a:noFill/>
            <a:prstDash val="solid"/>
          </a:ln>
        </p:spPr>
        <p:txBody>
          <a:bodyPr/>
          <a:lstStyle>
            <a:defPPr>
              <a:defRPr sz="1350" b="0">
                <a:solidFill>
                  <a:srgbClr val="53656B"/>
                </a:solidFill>
                <a:latin typeface="Arial"/>
                <a:ea typeface="Arial"/>
                <a:cs typeface="Arial"/>
              </a:defRPr>
            </a:defPPr>
          </a:lstStyle>
          <a:p>
            <a:pPr>
              <a:defRPr sz="1350" b="0">
                <a:solidFill>
                  <a:srgbClr val="53656B"/>
                </a:solidFill>
                <a:latin typeface="Arial"/>
                <a:ea typeface="Arial"/>
                <a:cs typeface="Arial"/>
              </a:defRPr>
            </a:pPr>
            <a:r>
              <a:rPr sz="1350" b="0">
                <a:solidFill>
                  <a:srgbClr val="53656B"/>
                </a:solidFill>
                <a:latin typeface="Arial"/>
                <a:ea typeface="Arial"/>
                <a:cs typeface="Arial"/>
              </a:rPr>
              <a:t>A saved 9 October station PM10 example; live values will refresh</a:t>
            </a:r>
          </a:p>
        </p:txBody>
      </p:sp>
      <p:sp>
        <p:nvSpPr>
          <p:cNvPr id="3" name="Rectangle 2">
            <a:extLst>
              <a:ext uri="{FF2B5EF4-FFF2-40B4-BE49-F238E27FC236}">
                <a16:creationId xmlns:a16="http://schemas.microsoft.com/office/drawing/2014/main" id="{44E23BCE-F73C-472E-A370-19F2CCEBF37E}"/>
              </a:ext>
            </a:extLst>
          </p:cNvPr>
          <p:cNvSpPr>
            <a:spLocks noGrp="1"/>
          </p:cNvSpPr>
          <p:nvPr/>
        </p:nvSpPr>
        <p:spPr>
          <a:xfrm>
            <a:off x="11115675" y="6286500"/>
            <a:ext cx="428625" cy="228600"/>
          </a:xfrm>
          <a:prstGeom prst="rect">
            <a:avLst/>
          </a:prstGeom>
          <a:noFill/>
          <a:ln w="0">
            <a:noFill/>
            <a:prstDash val="solid"/>
          </a:ln>
        </p:spPr>
        <p:txBody>
          <a:bodyPr/>
          <a:lstStyle>
            <a:defPPr>
              <a:defRPr sz="1050" b="0">
                <a:solidFill>
                  <a:srgbClr val="53656B"/>
                </a:solidFill>
                <a:latin typeface="Arial"/>
                <a:ea typeface="Arial"/>
                <a:cs typeface="Arial"/>
              </a:defRPr>
            </a:defPPr>
          </a:lstStyle>
          <a:p>
            <a:pPr>
              <a:defRPr sz="1050" b="0">
                <a:solidFill>
                  <a:srgbClr val="53656B"/>
                </a:solidFill>
                <a:latin typeface="Arial"/>
                <a:ea typeface="Arial"/>
                <a:cs typeface="Arial"/>
              </a:defRPr>
            </a:pPr>
            <a:r>
              <a:rPr sz="1050" b="0">
                <a:solidFill>
                  <a:srgbClr val="53656B"/>
                </a:solidFill>
                <a:latin typeface="Arial"/>
                <a:ea typeface="Arial"/>
                <a:cs typeface="Arial"/>
              </a:rPr>
              <a:t>08</a:t>
            </a:r>
          </a:p>
        </p:txBody>
      </p:sp>
      <p:sp>
        <p:nvSpPr>
          <p:cNvPr id="4" name="Rectangle 3">
            <a:extLst>
              <a:ext uri="{FF2B5EF4-FFF2-40B4-BE49-F238E27FC236}">
                <a16:creationId xmlns:a16="http://schemas.microsoft.com/office/drawing/2014/main" id="{2CF247E2-BC59-4625-A4F1-ACA1BD4E0087}"/>
              </a:ext>
            </a:extLst>
          </p:cNvPr>
          <p:cNvSpPr>
            <a:spLocks noGrp="1"/>
          </p:cNvSpPr>
          <p:nvPr/>
        </p:nvSpPr>
        <p:spPr>
          <a:xfrm>
            <a:off x="781050" y="1943100"/>
            <a:ext cx="6762750" cy="323850"/>
          </a:xfrm>
          <a:prstGeom prst="rect">
            <a:avLst/>
          </a:prstGeom>
          <a:noFill/>
          <a:ln w="0">
            <a:noFill/>
            <a:prstDash val="solid"/>
          </a:ln>
        </p:spPr>
        <p:txBody>
          <a:bodyPr/>
          <a:lstStyle>
            <a:defPPr>
              <a:defRPr sz="1275" b="0">
                <a:solidFill>
                  <a:srgbClr val="53656B"/>
                </a:solidFill>
                <a:latin typeface="Arial"/>
                <a:ea typeface="Arial"/>
                <a:cs typeface="Arial"/>
              </a:defRPr>
            </a:defPPr>
          </a:lstStyle>
          <a:p>
            <a:pPr>
              <a:defRPr sz="1275" b="0">
                <a:solidFill>
                  <a:srgbClr val="53656B"/>
                </a:solidFill>
                <a:latin typeface="Arial"/>
                <a:ea typeface="Arial"/>
                <a:cs typeface="Arial"/>
              </a:defRPr>
            </a:pPr>
            <a:r>
              <a:rPr sz="1275" b="0">
                <a:solidFill>
                  <a:srgbClr val="53656B"/>
                </a:solidFill>
                <a:latin typeface="Arial"/>
                <a:ea typeface="Arial"/>
                <a:cs typeface="Arial"/>
              </a:rPr>
              <a:t>Daily PM10 prediction (ug/m3)</a:t>
            </a:r>
          </a:p>
        </p:txBody>
      </p:sp>
      <p:graphicFrame>
        <p:nvGraphicFramePr>
          <p:cNvPr id="5" name="Chart">
            <a:extLst>
              <a:ext uri="{FF2B5EF4-FFF2-40B4-BE49-F238E27FC236}">
                <a16:creationId xmlns:a16="http://schemas.microsoft.com/office/drawing/2014/main" id="{10E7539E-3E14-412E-8367-B172904F5324}"/>
              </a:ext>
            </a:extLst>
          </p:cNvPr>
          <p:cNvGraphicFramePr/>
          <p:nvPr/>
        </p:nvGraphicFramePr>
        <p:xfrm>
          <a:off x="762000" y="2324100"/>
          <a:ext cx="7429500" cy="3190875"/>
        </p:xfrm>
        <a:graphic>
          <a:graphicData uri="http://schemas.openxmlformats.org/drawingml/2006/chart">
            <c:chart xmlns:c="http://schemas.openxmlformats.org/drawingml/2006/chart" xmlns:r="http://schemas.openxmlformats.org/officeDocument/2006/relationships" r:id="rId3"/>
          </a:graphicData>
        </a:graphic>
      </p:graphicFrame>
      <p:sp>
        <p:nvSpPr>
          <p:cNvPr id="6" name="Rectangle 5">
            <a:extLst>
              <a:ext uri="{FF2B5EF4-FFF2-40B4-BE49-F238E27FC236}">
                <a16:creationId xmlns:a16="http://schemas.microsoft.com/office/drawing/2014/main" id="{0F3EC4DF-A0A2-4080-9BA9-27C1D2D2A0BB}"/>
              </a:ext>
            </a:extLst>
          </p:cNvPr>
          <p:cNvSpPr>
            <a:spLocks noGrp="1"/>
          </p:cNvSpPr>
          <p:nvPr/>
        </p:nvSpPr>
        <p:spPr>
          <a:xfrm>
            <a:off x="8734425" y="2686050"/>
            <a:ext cx="2286000" cy="685800"/>
          </a:xfrm>
          <a:prstGeom prst="rect">
            <a:avLst/>
          </a:prstGeom>
          <a:noFill/>
          <a:ln w="0">
            <a:noFill/>
            <a:prstDash val="solid"/>
          </a:ln>
        </p:spPr>
        <p:txBody>
          <a:bodyPr/>
          <a:lstStyle>
            <a:defPPr>
              <a:defRPr sz="3225" b="1">
                <a:solidFill>
                  <a:srgbClr val="D05D4C"/>
                </a:solidFill>
                <a:latin typeface="Arial"/>
                <a:ea typeface="Arial"/>
                <a:cs typeface="Arial"/>
              </a:defRPr>
            </a:defPPr>
          </a:lstStyle>
          <a:p>
            <a:pPr>
              <a:defRPr sz="3225" b="1">
                <a:solidFill>
                  <a:srgbClr val="D05D4C"/>
                </a:solidFill>
                <a:latin typeface="Arial"/>
                <a:ea typeface="Arial"/>
                <a:cs typeface="Arial"/>
              </a:defRPr>
            </a:pPr>
            <a:r>
              <a:rPr sz="3225" b="1">
                <a:solidFill>
                  <a:srgbClr val="D05D4C"/>
                </a:solidFill>
                <a:latin typeface="Arial"/>
                <a:ea typeface="Arial"/>
                <a:cs typeface="Arial"/>
              </a:rPr>
              <a:t>5 to 11</a:t>
            </a:r>
          </a:p>
        </p:txBody>
      </p:sp>
      <p:sp>
        <p:nvSpPr>
          <p:cNvPr id="7" name="Rectangle 6">
            <a:extLst>
              <a:ext uri="{FF2B5EF4-FFF2-40B4-BE49-F238E27FC236}">
                <a16:creationId xmlns:a16="http://schemas.microsoft.com/office/drawing/2014/main" id="{A21A9079-3317-4015-A188-317CD5DEF8BC}"/>
              </a:ext>
            </a:extLst>
          </p:cNvPr>
          <p:cNvSpPr>
            <a:spLocks noGrp="1"/>
          </p:cNvSpPr>
          <p:nvPr/>
        </p:nvSpPr>
        <p:spPr>
          <a:xfrm>
            <a:off x="8734425" y="3381375"/>
            <a:ext cx="2667000" cy="381000"/>
          </a:xfrm>
          <a:prstGeom prst="rect">
            <a:avLst/>
          </a:prstGeom>
          <a:noFill/>
          <a:ln w="0">
            <a:noFill/>
            <a:prstDash val="solid"/>
          </a:ln>
        </p:spPr>
        <p:txBody>
          <a:bodyPr/>
          <a:lstStyle>
            <a:defPPr>
              <a:defRPr sz="1650" b="0">
                <a:solidFill>
                  <a:srgbClr val="14272E"/>
                </a:solidFill>
                <a:latin typeface="Arial"/>
                <a:ea typeface="Arial"/>
                <a:cs typeface="Arial"/>
              </a:defRPr>
            </a:defPPr>
          </a:lstStyle>
          <a:p>
            <a:pPr>
              <a:defRPr sz="1650" b="0">
                <a:solidFill>
                  <a:srgbClr val="14272E"/>
                </a:solidFill>
                <a:latin typeface="Arial"/>
                <a:ea typeface="Arial"/>
                <a:cs typeface="Arial"/>
              </a:defRPr>
            </a:pPr>
            <a:r>
              <a:rPr sz="1650" b="0">
                <a:solidFill>
                  <a:srgbClr val="14272E"/>
                </a:solidFill>
                <a:latin typeface="Arial"/>
                <a:ea typeface="Arial"/>
                <a:cs typeface="Arial"/>
              </a:rPr>
              <a:t>effective lead days</a:t>
            </a:r>
          </a:p>
        </p:txBody>
      </p:sp>
      <p:sp>
        <p:nvSpPr>
          <p:cNvPr id="8" name="Rectangle 7">
            <a:extLst>
              <a:ext uri="{FF2B5EF4-FFF2-40B4-BE49-F238E27FC236}">
                <a16:creationId xmlns:a16="http://schemas.microsoft.com/office/drawing/2014/main" id="{DFEB35D4-07CE-430D-8449-6749E591D0F5}"/>
              </a:ext>
            </a:extLst>
          </p:cNvPr>
          <p:cNvSpPr>
            <a:spLocks noGrp="1"/>
          </p:cNvSpPr>
          <p:nvPr/>
        </p:nvSpPr>
        <p:spPr>
          <a:xfrm>
            <a:off x="8734425" y="4057650"/>
            <a:ext cx="2857500" cy="1066800"/>
          </a:xfrm>
          <a:prstGeom prst="rect">
            <a:avLst/>
          </a:prstGeom>
          <a:noFill/>
          <a:ln w="0">
            <a:noFill/>
            <a:prstDash val="solid"/>
          </a:ln>
        </p:spPr>
        <p:txBody>
          <a:bodyPr/>
          <a:lstStyle>
            <a:defPPr>
              <a:defRPr sz="1500" b="0">
                <a:solidFill>
                  <a:srgbClr val="53656B"/>
                </a:solidFill>
                <a:latin typeface="Arial"/>
                <a:ea typeface="Arial"/>
                <a:cs typeface="Arial"/>
              </a:defRPr>
            </a:defPPr>
          </a:lstStyle>
          <a:p>
            <a:pPr>
              <a:defRPr sz="1500" b="0">
                <a:solidFill>
                  <a:srgbClr val="53656B"/>
                </a:solidFill>
                <a:latin typeface="Arial"/>
                <a:ea typeface="Arial"/>
                <a:cs typeface="Arial"/>
              </a:defRPr>
            </a:pPr>
            <a:r>
              <a:rPr sz="1500" b="0">
                <a:solidFill>
                  <a:srgbClr val="53656B"/>
                </a:solidFill>
                <a:latin typeface="Arial"/>
                <a:ea typeface="Arial"/>
                <a:cs typeface="Arial"/>
              </a:rPr>
              <a:t>Station cutoff: 5 Oct</a:t>
            </a:r>
          </a:p>
          <a:p>
            <a:pPr>
              <a:defRPr sz="1500" b="0">
                <a:solidFill>
                  <a:srgbClr val="53656B"/>
                </a:solidFill>
                <a:latin typeface="Arial"/>
                <a:ea typeface="Arial"/>
                <a:cs typeface="Arial"/>
              </a:defRPr>
            </a:pPr>
            <a:r>
              <a:rPr sz="1500" b="0">
                <a:solidFill>
                  <a:srgbClr val="53656B"/>
                </a:solidFill>
                <a:latin typeface="Arial"/>
                <a:ea typeface="Arial"/>
                <a:cs typeface="Arial"/>
              </a:rPr>
              <a:t>Display: 10-16 Oct</a:t>
            </a:r>
          </a:p>
        </p:txBody>
      </p:sp>
      <p:sp>
        <p:nvSpPr>
          <p:cNvPr id="9" name="Rectangle 8">
            <a:extLst>
              <a:ext uri="{FF2B5EF4-FFF2-40B4-BE49-F238E27FC236}">
                <a16:creationId xmlns:a16="http://schemas.microsoft.com/office/drawing/2014/main" id="{E8C551B2-24B3-460B-924C-8B1847AB711D}"/>
              </a:ext>
            </a:extLst>
          </p:cNvPr>
          <p:cNvSpPr>
            <a:spLocks noGrp="1"/>
          </p:cNvSpPr>
          <p:nvPr/>
        </p:nvSpPr>
        <p:spPr>
          <a:xfrm>
            <a:off x="762000" y="5857875"/>
            <a:ext cx="10572750" cy="438150"/>
          </a:xfrm>
          <a:prstGeom prst="rect">
            <a:avLst/>
          </a:prstGeom>
          <a:noFill/>
          <a:ln w="0">
            <a:noFill/>
            <a:prstDash val="solid"/>
          </a:ln>
        </p:spPr>
        <p:txBody>
          <a:bodyPr/>
          <a:lstStyle>
            <a:defPPr>
              <a:defRPr sz="1350" b="0">
                <a:solidFill>
                  <a:srgbClr val="53656B"/>
                </a:solidFill>
                <a:latin typeface="Arial"/>
                <a:ea typeface="Arial"/>
                <a:cs typeface="Arial"/>
              </a:defRPr>
            </a:defPPr>
          </a:lstStyle>
          <a:p>
            <a:pPr>
              <a:defRPr sz="1350" b="0">
                <a:solidFill>
                  <a:srgbClr val="53656B"/>
                </a:solidFill>
                <a:latin typeface="Arial"/>
                <a:ea typeface="Arial"/>
                <a:cs typeface="Arial"/>
              </a:defRPr>
            </a:pPr>
            <a:r>
              <a:rPr sz="1350" b="0">
                <a:solidFill>
                  <a:srgbClr val="53656B"/>
                </a:solidFill>
                <a:latin typeface="Arial"/>
                <a:ea typeface="Arial"/>
                <a:cs typeface="Arial"/>
              </a:rPr>
              <a:t>If the station is more than five days old, the app switches to a CAMS outlook.</a:t>
            </a:r>
          </a:p>
        </p:txBody>
      </p:sp>
    </p:spTree>
    <p:extLst>
      <p:ext uri="{BB962C8B-B14F-4D97-AF65-F5344CB8AC3E}">
        <p14:creationId xmlns:p14="http://schemas.microsoft.com/office/powerpoint/2010/main" val="3845936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9"/>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85416CC-2323-4496-BC33-B2962773A2B3}"/>
              </a:ext>
            </a:extLst>
          </p:cNvPr>
          <p:cNvSpPr>
            <a:spLocks noGrp="1"/>
          </p:cNvSpPr>
          <p:nvPr/>
        </p:nvSpPr>
        <p:spPr>
          <a:xfrm>
            <a:off x="723900" y="514350"/>
            <a:ext cx="10744200" cy="857250"/>
          </a:xfrm>
          <a:prstGeom prst="rect">
            <a:avLst/>
          </a:prstGeom>
          <a:noFill/>
          <a:ln w="0">
            <a:noFill/>
            <a:prstDash val="solid"/>
          </a:ln>
        </p:spPr>
        <p:txBody>
          <a:bodyPr/>
          <a:lstStyle>
            <a:defPPr>
              <a:defRPr sz="2700" b="1">
                <a:solidFill>
                  <a:srgbClr val="14272E"/>
                </a:solidFill>
                <a:latin typeface="Arial"/>
                <a:ea typeface="Arial"/>
                <a:cs typeface="Arial"/>
              </a:defRPr>
            </a:defPPr>
          </a:lstStyle>
          <a:p>
            <a:pPr>
              <a:defRPr sz="2700" b="1">
                <a:solidFill>
                  <a:srgbClr val="14272E"/>
                </a:solidFill>
                <a:latin typeface="Arial"/>
                <a:ea typeface="Arial"/>
                <a:cs typeface="Arial"/>
              </a:defRPr>
            </a:pPr>
            <a:r>
              <a:rPr sz="2700" b="1">
                <a:solidFill>
                  <a:srgbClr val="14272E"/>
                </a:solidFill>
                <a:latin typeface="Arial"/>
                <a:ea typeface="Arial"/>
                <a:cs typeface="Arial"/>
              </a:rPr>
              <a:t>What the mid-semester result does not establish</a:t>
            </a:r>
          </a:p>
        </p:txBody>
      </p:sp>
      <p:sp>
        <p:nvSpPr>
          <p:cNvPr id="2" name="Rectangle 1">
            <a:extLst>
              <a:ext uri="{FF2B5EF4-FFF2-40B4-BE49-F238E27FC236}">
                <a16:creationId xmlns:a16="http://schemas.microsoft.com/office/drawing/2014/main" id="{F67504B0-13BC-474F-A12E-A0CC3606D212}"/>
              </a:ext>
            </a:extLst>
          </p:cNvPr>
          <p:cNvSpPr>
            <a:spLocks noGrp="1"/>
          </p:cNvSpPr>
          <p:nvPr/>
        </p:nvSpPr>
        <p:spPr>
          <a:xfrm>
            <a:off x="11115675" y="6286500"/>
            <a:ext cx="428625" cy="228600"/>
          </a:xfrm>
          <a:prstGeom prst="rect">
            <a:avLst/>
          </a:prstGeom>
          <a:noFill/>
          <a:ln w="0">
            <a:noFill/>
            <a:prstDash val="solid"/>
          </a:ln>
        </p:spPr>
        <p:txBody>
          <a:bodyPr/>
          <a:lstStyle>
            <a:defPPr>
              <a:defRPr sz="1050" b="0">
                <a:solidFill>
                  <a:srgbClr val="53656B"/>
                </a:solidFill>
                <a:latin typeface="Arial"/>
                <a:ea typeface="Arial"/>
                <a:cs typeface="Arial"/>
              </a:defRPr>
            </a:defPPr>
          </a:lstStyle>
          <a:p>
            <a:pPr>
              <a:defRPr sz="1050" b="0">
                <a:solidFill>
                  <a:srgbClr val="53656B"/>
                </a:solidFill>
                <a:latin typeface="Arial"/>
                <a:ea typeface="Arial"/>
                <a:cs typeface="Arial"/>
              </a:defRPr>
            </a:pPr>
            <a:r>
              <a:rPr sz="1050" b="0">
                <a:solidFill>
                  <a:srgbClr val="53656B"/>
                </a:solidFill>
                <a:latin typeface="Arial"/>
                <a:ea typeface="Arial"/>
                <a:cs typeface="Arial"/>
              </a:rPr>
              <a:t>09</a:t>
            </a:r>
          </a:p>
        </p:txBody>
      </p:sp>
      <p:sp>
        <p:nvSpPr>
          <p:cNvPr id="3" name="Rectangle 2">
            <a:extLst>
              <a:ext uri="{FF2B5EF4-FFF2-40B4-BE49-F238E27FC236}">
                <a16:creationId xmlns:a16="http://schemas.microsoft.com/office/drawing/2014/main" id="{6C753AAA-8501-46E8-A371-1CEBD5C1A62F}"/>
              </a:ext>
            </a:extLst>
          </p:cNvPr>
          <p:cNvSpPr>
            <a:spLocks noGrp="1"/>
          </p:cNvSpPr>
          <p:nvPr/>
        </p:nvSpPr>
        <p:spPr>
          <a:xfrm>
            <a:off x="781050" y="1752600"/>
            <a:ext cx="4476750" cy="409575"/>
          </a:xfrm>
          <a:prstGeom prst="rect">
            <a:avLst/>
          </a:prstGeom>
          <a:noFill/>
          <a:ln w="0">
            <a:noFill/>
            <a:prstDash val="solid"/>
          </a:ln>
        </p:spPr>
        <p:txBody>
          <a:bodyPr/>
          <a:lstStyle>
            <a:defPPr>
              <a:defRPr sz="1875" b="1">
                <a:solidFill>
                  <a:srgbClr val="D05D4C"/>
                </a:solidFill>
                <a:latin typeface="Arial"/>
                <a:ea typeface="Arial"/>
                <a:cs typeface="Arial"/>
              </a:defRPr>
            </a:defPPr>
          </a:lstStyle>
          <a:p>
            <a:pPr>
              <a:defRPr sz="1875" b="1">
                <a:solidFill>
                  <a:srgbClr val="D05D4C"/>
                </a:solidFill>
                <a:latin typeface="Arial"/>
                <a:ea typeface="Arial"/>
                <a:cs typeface="Arial"/>
              </a:defRPr>
            </a:pPr>
            <a:r>
              <a:rPr sz="1875" b="1">
                <a:solidFill>
                  <a:srgbClr val="D05D4C"/>
                </a:solidFill>
                <a:latin typeface="Arial"/>
                <a:ea typeface="Arial"/>
                <a:cs typeface="Arial"/>
              </a:rPr>
              <a:t>Current limits</a:t>
            </a:r>
          </a:p>
        </p:txBody>
      </p:sp>
      <p:sp>
        <p:nvSpPr>
          <p:cNvPr id="4" name="Rectangle 3">
            <a:extLst>
              <a:ext uri="{FF2B5EF4-FFF2-40B4-BE49-F238E27FC236}">
                <a16:creationId xmlns:a16="http://schemas.microsoft.com/office/drawing/2014/main" id="{EFF86319-C1D9-445B-8356-A16F106CA078}"/>
              </a:ext>
            </a:extLst>
          </p:cNvPr>
          <p:cNvSpPr>
            <a:spLocks noGrp="1"/>
          </p:cNvSpPr>
          <p:nvPr/>
        </p:nvSpPr>
        <p:spPr>
          <a:xfrm>
            <a:off x="781050" y="2305050"/>
            <a:ext cx="4714875" cy="2724150"/>
          </a:xfrm>
          <a:prstGeom prst="rect">
            <a:avLst/>
          </a:prstGeom>
          <a:noFill/>
          <a:ln w="0">
            <a:noFill/>
            <a:prstDash val="solid"/>
          </a:ln>
        </p:spPr>
        <p:txBody>
          <a:bodyPr/>
          <a:lstStyle>
            <a:defPPr>
              <a:defRPr sz="1650" b="0">
                <a:solidFill>
                  <a:srgbClr val="14272E"/>
                </a:solidFill>
                <a:latin typeface="Arial"/>
                <a:ea typeface="Arial"/>
                <a:cs typeface="Arial"/>
              </a:defRPr>
            </a:defPPr>
          </a:lstStyle>
          <a:p>
            <a:pPr>
              <a:defRPr sz="1650" b="0">
                <a:solidFill>
                  <a:srgbClr val="14272E"/>
                </a:solidFill>
                <a:latin typeface="Arial"/>
                <a:ea typeface="Arial"/>
                <a:cs typeface="Arial"/>
              </a:defRPr>
            </a:pPr>
            <a:r>
              <a:rPr sz="1650" b="0">
                <a:solidFill>
                  <a:srgbClr val="14272E"/>
                </a:solidFill>
                <a:latin typeface="Arial"/>
                <a:ea typeface="Arial"/>
                <a:cs typeface="Arial"/>
              </a:rPr>
              <a:t>CAMS is modeled, not field truth</a:t>
            </a:r>
          </a:p>
          <a:p>
            <a:pPr>
              <a:defRPr sz="1650" b="0">
                <a:solidFill>
                  <a:srgbClr val="14272E"/>
                </a:solidFill>
                <a:latin typeface="Arial"/>
                <a:ea typeface="Arial"/>
                <a:cs typeface="Arial"/>
              </a:defRPr>
            </a:pPr>
            <a:r>
              <a:rPr sz="1650" b="0">
                <a:solidFill>
                  <a:srgbClr val="14272E"/>
                </a:solidFill>
                <a:latin typeface="Arial"/>
                <a:ea typeface="Arial"/>
                <a:cs typeface="Arial"/>
              </a:rPr>
              <a:t>Station test loses dates to missingness</a:t>
            </a:r>
          </a:p>
          <a:p>
            <a:pPr>
              <a:defRPr sz="1650" b="0">
                <a:solidFill>
                  <a:srgbClr val="14272E"/>
                </a:solidFill>
                <a:latin typeface="Arial"/>
                <a:ea typeface="Arial"/>
                <a:cs typeface="Arial"/>
              </a:defRPr>
            </a:pPr>
            <a:r>
              <a:rPr sz="1650" b="0">
                <a:solidFill>
                  <a:srgbClr val="14272E"/>
                </a:solidFill>
                <a:latin typeface="Arial"/>
                <a:ea typeface="Arial"/>
                <a:cs typeface="Arial"/>
              </a:rPr>
              <a:t>Historical weather is not fixed issue-time input</a:t>
            </a:r>
          </a:p>
          <a:p>
            <a:pPr>
              <a:defRPr sz="1650" b="0">
                <a:solidFill>
                  <a:srgbClr val="14272E"/>
                </a:solidFill>
                <a:latin typeface="Arial"/>
                <a:ea typeface="Arial"/>
                <a:cs typeface="Arial"/>
              </a:defRPr>
            </a:pPr>
            <a:r>
              <a:rPr sz="1650" b="0">
                <a:solidFill>
                  <a:srgbClr val="14272E"/>
                </a:solidFill>
                <a:latin typeface="Arial"/>
                <a:ea typeface="Arial"/>
                <a:cs typeface="Arial"/>
              </a:rPr>
              <a:t>No mature prospective live evaluation</a:t>
            </a:r>
          </a:p>
        </p:txBody>
      </p:sp>
      <p:sp>
        <p:nvSpPr>
          <p:cNvPr id="5" name="Rectangle 4">
            <a:extLst>
              <a:ext uri="{FF2B5EF4-FFF2-40B4-BE49-F238E27FC236}">
                <a16:creationId xmlns:a16="http://schemas.microsoft.com/office/drawing/2014/main" id="{F75B6746-9306-47CC-8ABF-7794D5B10742}"/>
              </a:ext>
            </a:extLst>
          </p:cNvPr>
          <p:cNvSpPr>
            <a:spLocks noGrp="1"/>
          </p:cNvSpPr>
          <p:nvPr/>
        </p:nvSpPr>
        <p:spPr>
          <a:xfrm>
            <a:off x="6381750" y="1752600"/>
            <a:ext cx="4476750" cy="409575"/>
          </a:xfrm>
          <a:prstGeom prst="rect">
            <a:avLst/>
          </a:prstGeom>
          <a:noFill/>
          <a:ln w="0">
            <a:noFill/>
            <a:prstDash val="solid"/>
          </a:ln>
        </p:spPr>
        <p:txBody>
          <a:bodyPr/>
          <a:lstStyle>
            <a:defPPr>
              <a:defRPr sz="1875" b="1">
                <a:solidFill>
                  <a:srgbClr val="0C8582"/>
                </a:solidFill>
                <a:latin typeface="Arial"/>
                <a:ea typeface="Arial"/>
                <a:cs typeface="Arial"/>
              </a:defRPr>
            </a:defPPr>
          </a:lstStyle>
          <a:p>
            <a:pPr>
              <a:defRPr sz="1875" b="1">
                <a:solidFill>
                  <a:srgbClr val="0C8582"/>
                </a:solidFill>
                <a:latin typeface="Arial"/>
                <a:ea typeface="Arial"/>
                <a:cs typeface="Arial"/>
              </a:defRPr>
            </a:pPr>
            <a:r>
              <a:rPr sz="1875" b="1">
                <a:solidFill>
                  <a:srgbClr val="0C8582"/>
                </a:solidFill>
                <a:latin typeface="Arial"/>
                <a:ea typeface="Arial"/>
                <a:cs typeface="Arial"/>
              </a:rPr>
              <a:t>Next work</a:t>
            </a:r>
          </a:p>
        </p:txBody>
      </p:sp>
      <p:sp>
        <p:nvSpPr>
          <p:cNvPr id="6" name="Rectangle 5">
            <a:extLst>
              <a:ext uri="{FF2B5EF4-FFF2-40B4-BE49-F238E27FC236}">
                <a16:creationId xmlns:a16="http://schemas.microsoft.com/office/drawing/2014/main" id="{7ADC0006-2C08-4B19-93FF-30981FCB5BE8}"/>
              </a:ext>
            </a:extLst>
          </p:cNvPr>
          <p:cNvSpPr>
            <a:spLocks noGrp="1"/>
          </p:cNvSpPr>
          <p:nvPr/>
        </p:nvSpPr>
        <p:spPr>
          <a:xfrm>
            <a:off x="6381750" y="2305050"/>
            <a:ext cx="4857750" cy="2724150"/>
          </a:xfrm>
          <a:prstGeom prst="rect">
            <a:avLst/>
          </a:prstGeom>
          <a:noFill/>
          <a:ln w="0">
            <a:noFill/>
            <a:prstDash val="solid"/>
          </a:ln>
        </p:spPr>
        <p:txBody>
          <a:bodyPr/>
          <a:lstStyle>
            <a:defPPr>
              <a:defRPr sz="1650" b="0">
                <a:solidFill>
                  <a:srgbClr val="14272E"/>
                </a:solidFill>
                <a:latin typeface="Arial"/>
                <a:ea typeface="Arial"/>
                <a:cs typeface="Arial"/>
              </a:defRPr>
            </a:defPPr>
          </a:lstStyle>
          <a:p>
            <a:pPr>
              <a:defRPr sz="1650" b="0">
                <a:solidFill>
                  <a:srgbClr val="14272E"/>
                </a:solidFill>
                <a:latin typeface="Arial"/>
                <a:ea typeface="Arial"/>
                <a:cs typeface="Arial"/>
              </a:defRPr>
            </a:pPr>
            <a:r>
              <a:rPr sz="1650" b="0">
                <a:solidFill>
                  <a:srgbClr val="14272E"/>
                </a:solidFill>
                <a:latin typeface="Arial"/>
                <a:ea typeface="Arial"/>
                <a:cs typeface="Arial"/>
              </a:rPr>
              <a:t>Log immutable forecasts before outcomes</a:t>
            </a:r>
          </a:p>
          <a:p>
            <a:pPr>
              <a:defRPr sz="1650" b="0">
                <a:solidFill>
                  <a:srgbClr val="14272E"/>
                </a:solidFill>
                <a:latin typeface="Arial"/>
                <a:ea typeface="Arial"/>
                <a:cs typeface="Arial"/>
              </a:defRPr>
            </a:pPr>
            <a:r>
              <a:rPr sz="1650" b="0">
                <a:solidFill>
                  <a:srgbClr val="14272E"/>
                </a:solidFill>
                <a:latin typeface="Arial"/>
                <a:ea typeface="Arial"/>
                <a:cs typeface="Arial"/>
              </a:rPr>
              <a:t>Score later against station actuals</a:t>
            </a:r>
          </a:p>
          <a:p>
            <a:pPr>
              <a:defRPr sz="1650" b="0">
                <a:solidFill>
                  <a:srgbClr val="14272E"/>
                </a:solidFill>
                <a:latin typeface="Arial"/>
                <a:ea typeface="Arial"/>
                <a:cs typeface="Arial"/>
              </a:defRPr>
            </a:pPr>
            <a:r>
              <a:rPr sz="1650" b="0">
                <a:solidFill>
                  <a:srgbClr val="14272E"/>
                </a:solidFill>
                <a:latin typeface="Arial"/>
                <a:ea typeface="Arial"/>
                <a:cs typeface="Arial"/>
              </a:rPr>
              <a:t>Test fixed issue-time weather forecasts</a:t>
            </a:r>
          </a:p>
          <a:p>
            <a:pPr>
              <a:defRPr sz="1650" b="0">
                <a:solidFill>
                  <a:srgbClr val="14272E"/>
                </a:solidFill>
                <a:latin typeface="Arial"/>
                <a:ea typeface="Arial"/>
                <a:cs typeface="Arial"/>
              </a:defRPr>
            </a:pPr>
            <a:r>
              <a:rPr sz="1650" b="0">
                <a:solidFill>
                  <a:srgbClr val="14272E"/>
                </a:solidFill>
                <a:latin typeface="Arial"/>
                <a:ea typeface="Arial"/>
                <a:cs typeface="Arial"/>
              </a:rPr>
              <a:t>Expand and audit external signals</a:t>
            </a:r>
          </a:p>
        </p:txBody>
      </p:sp>
      <p:sp>
        <p:nvSpPr>
          <p:cNvPr id="7" name="Rectangle 6">
            <a:extLst>
              <a:ext uri="{FF2B5EF4-FFF2-40B4-BE49-F238E27FC236}">
                <a16:creationId xmlns:a16="http://schemas.microsoft.com/office/drawing/2014/main" id="{CDC3BC4C-0F6E-4B87-A17A-576518F4D554}"/>
              </a:ext>
            </a:extLst>
          </p:cNvPr>
          <p:cNvSpPr>
            <a:spLocks noGrp="1"/>
          </p:cNvSpPr>
          <p:nvPr/>
        </p:nvSpPr>
        <p:spPr>
          <a:xfrm>
            <a:off x="781050" y="5229225"/>
            <a:ext cx="10287000" cy="19050"/>
          </a:xfrm>
          <a:prstGeom prst="rect">
            <a:avLst/>
          </a:prstGeom>
          <a:solidFill>
            <a:srgbClr val="D8E0E1"/>
          </a:solidFill>
          <a:ln w="0">
            <a:noFill/>
            <a:prstDash val="solid"/>
          </a:ln>
        </p:spPr>
      </p:sp>
      <p:sp>
        <p:nvSpPr>
          <p:cNvPr id="8" name="Rectangle 7">
            <a:extLst>
              <a:ext uri="{FF2B5EF4-FFF2-40B4-BE49-F238E27FC236}">
                <a16:creationId xmlns:a16="http://schemas.microsoft.com/office/drawing/2014/main" id="{D47E3621-0561-4B0D-9B86-091B26BF4E30}"/>
              </a:ext>
            </a:extLst>
          </p:cNvPr>
          <p:cNvSpPr>
            <a:spLocks noGrp="1"/>
          </p:cNvSpPr>
          <p:nvPr/>
        </p:nvSpPr>
        <p:spPr>
          <a:xfrm>
            <a:off x="781050" y="5534025"/>
            <a:ext cx="10382250" cy="723900"/>
          </a:xfrm>
          <a:prstGeom prst="rect">
            <a:avLst/>
          </a:prstGeom>
          <a:noFill/>
          <a:ln w="0">
            <a:noFill/>
            <a:prstDash val="solid"/>
          </a:ln>
        </p:spPr>
        <p:txBody>
          <a:bodyPr/>
          <a:lstStyle>
            <a:defPPr>
              <a:defRPr sz="1725" b="1">
                <a:solidFill>
                  <a:srgbClr val="14272E"/>
                </a:solidFill>
                <a:latin typeface="Arial"/>
                <a:ea typeface="Arial"/>
                <a:cs typeface="Arial"/>
              </a:defRPr>
            </a:defPPr>
          </a:lstStyle>
          <a:p>
            <a:pPr>
              <a:defRPr sz="1725" b="1">
                <a:solidFill>
                  <a:srgbClr val="14272E"/>
                </a:solidFill>
                <a:latin typeface="Arial"/>
                <a:ea typeface="Arial"/>
                <a:cs typeface="Arial"/>
              </a:defRPr>
            </a:pPr>
            <a:r>
              <a:rPr sz="1725" b="1">
                <a:solidFill>
                  <a:srgbClr val="14272E"/>
                </a:solidFill>
                <a:latin typeface="Arial"/>
                <a:ea typeface="Arial"/>
                <a:cs typeface="Arial"/>
              </a:rPr>
              <a:t>The honest finding: model complexity helps observed PM10 here, but not consistently elsewhere.</a:t>
            </a:r>
          </a:p>
        </p:txBody>
      </p:sp>
    </p:spTree>
    <p:extLst>
      <p:ext uri="{BB962C8B-B14F-4D97-AF65-F5344CB8AC3E}">
        <p14:creationId xmlns:p14="http://schemas.microsoft.com/office/powerpoint/2010/main" val="36975562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1085</Words>
  <Application>Microsoft Office PowerPoint</Application>
  <DocSecurity>0</DocSecurity>
  <PresentationFormat>Widescreen</PresentationFormat>
  <Paragraphs>127</Paragraphs>
  <Slides>9</Slides>
  <Notes>9</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9</vt:i4>
      </vt:variant>
    </vt:vector>
  </HeadingPairs>
  <TitlesOfParts>
    <vt:vector size="11" baseType="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YAshvardhan Singroha</cp:lastModifiedBy>
  <cp:revision>1</cp:revision>
  <dcterms:created xsi:type="dcterms:W3CDTF">2026-10-09T12:15:45Z</dcterms:created>
  <dcterms:modified xsi:type="dcterms:W3CDTF">2026-10-10T05:17:13Z</dcterms:modified>
</cp:coreProperties>
</file>