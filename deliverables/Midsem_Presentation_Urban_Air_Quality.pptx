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0f1bdc6433b413b" /><Relationship Type="http://schemas.openxmlformats.org/officeDocument/2006/relationships/extended-properties" Target="/docProps/app.xml" Id="R23af7fc92c31479a" /><Relationship Type="http://schemas.openxmlformats.org/officeDocument/2006/relationships/officeDocument" Target="/ppt/presentation.xml" Id="Rddbe2d9b259647c0" /></Relationships>
</file>

<file path=ppt/presentation.xml><?xml version="1.0" encoding="utf-8"?>
<p:presentation xmlns:p="http://schemas.openxmlformats.org/presentationml/2006/main">
  <p:sldMasterIdLst>
    <p:sldMasterId xmlns:r="http://schemas.openxmlformats.org/officeDocument/2006/relationships" id="2147483648" r:id="Rd97dda2a359642e5"/>
  </p:sldMasterIdLst>
  <p:notesMasterIdLst>
    <p:notesMasterId xmlns:r="http://schemas.openxmlformats.org/officeDocument/2006/relationships" r:id="Rbed8792db3154996"/>
  </p:notesMasterIdLst>
  <p:sldIdLst>
    <p:sldId xmlns:r="http://schemas.openxmlformats.org/officeDocument/2006/relationships" id="256" r:id="Rbfe1d8ffd96244fe"/>
    <p:sldId xmlns:r="http://schemas.openxmlformats.org/officeDocument/2006/relationships" id="257" r:id="R069aea714dd64e98"/>
    <p:sldId xmlns:r="http://schemas.openxmlformats.org/officeDocument/2006/relationships" id="258" r:id="R6358ba93a37a452c"/>
    <p:sldId xmlns:r="http://schemas.openxmlformats.org/officeDocument/2006/relationships" id="259" r:id="Rc9efcea27b3445b0"/>
    <p:sldId xmlns:r="http://schemas.openxmlformats.org/officeDocument/2006/relationships" id="260" r:id="Rddaf7e2b2cf84985"/>
    <p:sldId xmlns:r="http://schemas.openxmlformats.org/officeDocument/2006/relationships" id="261" r:id="R409e48c5be7647b4"/>
    <p:sldId xmlns:r="http://schemas.openxmlformats.org/officeDocument/2006/relationships" id="262" r:id="R1f9c0040a41a4a80"/>
    <p:sldId xmlns:r="http://schemas.openxmlformats.org/officeDocument/2006/relationships" id="263" r:id="Rb41c718acc154aa2"/>
    <p:sldId xmlns:r="http://schemas.openxmlformats.org/officeDocument/2006/relationships" id="264" r:id="Ra69b9119ac1d4e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9374bc4e934a5b" /><Relationship Type="http://schemas.openxmlformats.org/officeDocument/2006/relationships/slideMaster" Target="/ppt/slideMasters/slideMaster1.xml" Id="Rd97dda2a359642e5" /><Relationship Type="http://schemas.openxmlformats.org/officeDocument/2006/relationships/notesMaster" Target="/ppt/notesMasters/notesMaster1.xml" Id="Rbed8792db3154996" /><Relationship Type="http://schemas.openxmlformats.org/officeDocument/2006/relationships/presProps" Target="/ppt/presProps.xml" Id="R5e9b29be192647f6" /><Relationship Type="http://schemas.openxmlformats.org/officeDocument/2006/relationships/tableStyles" Target="/ppt/tableStyles.xml" Id="R63d9352ff6ea4428" /><Relationship Type="http://schemas.openxmlformats.org/officeDocument/2006/relationships/slide" Target="/ppt/slides/slide1.xml" Id="Rbfe1d8ffd96244fe" /><Relationship Type="http://schemas.openxmlformats.org/officeDocument/2006/relationships/slide" Target="/ppt/slides/slide2.xml" Id="R069aea714dd64e98" /><Relationship Type="http://schemas.openxmlformats.org/officeDocument/2006/relationships/slide" Target="/ppt/slides/slide3.xml" Id="R6358ba93a37a452c" /><Relationship Type="http://schemas.openxmlformats.org/officeDocument/2006/relationships/slide" Target="/ppt/slides/slide4.xml" Id="Rc9efcea27b3445b0" /><Relationship Type="http://schemas.openxmlformats.org/officeDocument/2006/relationships/slide" Target="/ppt/slides/slide5.xml" Id="Rddaf7e2b2cf84985" /><Relationship Type="http://schemas.openxmlformats.org/officeDocument/2006/relationships/slide" Target="/ppt/slides/slide6.xml" Id="R409e48c5be7647b4" /><Relationship Type="http://schemas.openxmlformats.org/officeDocument/2006/relationships/slide" Target="/ppt/slides/slide7.xml" Id="R1f9c0040a41a4a80" /><Relationship Type="http://schemas.openxmlformats.org/officeDocument/2006/relationships/slide" Target="/ppt/slides/slide8.xml" Id="Rb41c718acc154aa2" /><Relationship Type="http://schemas.openxmlformats.org/officeDocument/2006/relationships/slide" Target="/ppt/slides/slide9.xml" Id="Ra69b9119ac1d4e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2737dee02d4a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aa123c5a5144fd" /><Relationship Type="http://schemas.openxmlformats.org/officeDocument/2006/relationships/notesMaster" Target="/ppt/notesMasters/notesMaster1.xml" Id="Rf4703453271b4a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564307982e4412" /><Relationship Type="http://schemas.openxmlformats.org/officeDocument/2006/relationships/notesMaster" Target="/ppt/notesMasters/notesMaster1.xml" Id="R94f4d3036a6941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839dcd8e4e41f0" /><Relationship Type="http://schemas.openxmlformats.org/officeDocument/2006/relationships/notesMaster" Target="/ppt/notesMasters/notesMaster1.xml" Id="Radc15862e98440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8fc497da3e4b41" /><Relationship Type="http://schemas.openxmlformats.org/officeDocument/2006/relationships/notesMaster" Target="/ppt/notesMasters/notesMaster1.xml" Id="R3f4247ded25846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2026882f024de9" /><Relationship Type="http://schemas.openxmlformats.org/officeDocument/2006/relationships/notesMaster" Target="/ppt/notesMasters/notesMaster1.xml" Id="R69724a8e46f54f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6a98f87751490c" /><Relationship Type="http://schemas.openxmlformats.org/officeDocument/2006/relationships/notesMaster" Target="/ppt/notesMasters/notesMaster1.xml" Id="R9d680195f4284f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d29a5f73d0465b" /><Relationship Type="http://schemas.openxmlformats.org/officeDocument/2006/relationships/notesMaster" Target="/ppt/notesMasters/notesMaster1.xml" Id="R0f90322583164a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2912579df84692" /><Relationship Type="http://schemas.openxmlformats.org/officeDocument/2006/relationships/notesMaster" Target="/ppt/notesMasters/notesMaster1.xml" Id="R892b3d0246c141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d43007521b4361" /><Relationship Type="http://schemas.openxmlformats.org/officeDocument/2006/relationships/notesMaster" Target="/ppt/notesMasters/notesMaster1.xml" Id="Rea274fc4b37948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research question: can a model improve on carrying forward yesterday's PM? This is a prototype, not an official health alert.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and historical evaluations are implemented. Prospective live accuracy remains work in progress. Do not call the system complete or clinically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Open-Meteo CAMS global history starts in August 2022. Station observations are from CPCB CAAQM via XKDR and OpenAQ. Missing particulate targets are not imputed. Sources: https://open-meteo.com/en/docs/air-quality-api ; https://airquality.xkdr.org/ ; https://docs.openaq.org/aws/about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gate required at least 95% of matched hourly readings within 1 ug/m3 and median signed difference no greater than 1 ug/m3. PM2.5 achieved 98.9%; PM10 97.7%. Unmatched hours remain. OpenAQ unit strings contain replacement characters, so byte-level unit equality was not verifiable. See results.json source_audit.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model has 21 inputs. All rolling PM features are shifted before the target date. Weather imputation and Isolation Forest are fitted only on training dates. If anomaly filtering leaves fewer than 10 normal rows, fitting falls back to all usable training rows. Calendar signals are activity proxies, not measured traffic.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random train/test shuffle. Preprocessing and fit use training rows only. Each one-day test prediction may use the true previous-day PM. The final test uses stitched historical-forecast weather, not one archived forecast frozen before each target date. Human development did inspect final metrics, so this is not a pristine blind trial. Source: https://open-meteo.com/en/docs/historical-forecast-api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Station PM10 Random Forest achieved R2 0.732, exceedance recall 92.3%, precision 88.4%, false-positive rate 26.2% and exceedance base rate 68.4%. Station PM2.5 Random Forest scored 11.52 on the final test versus persistence 12.12, but won only 7/10 earlier windows; the rule required 8/10, so it was not promoted. Do not compare raw PM2.5 and PM10 MAEs across concentration scales. Internal evidence: results.json saved 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saved forecast is a dated example, not a promise for the presentation day. The app internally bridges missing days. At issuance on 9 October, the first displayed station date 10 October has effective lead 5, not 1. If the station grows more than five days stale, CAMS becomes the outlook. It is not an official health alert.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180 days are excluded from fitting and programmatic model selection, but were inspected during project development. Do not claim a one-time blind test. Prospective accuracy needs forecasts timestamped before their targets and matched to later outcomes. CPCB 24-hour standards: PM2.5 60 ug/m3, PM10 100 ug/m3. Source: https://cpcb.gov.in/upload/NAAQS_2019.pdf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9339191cba4c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da152fea9a4f2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a028f79f596430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961c26a57e94db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e9494ad88a487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1c4c8a9d7744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0A0B41-6141-4C98-B661-46EA1B01BE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01BF87B-5339-46BD-AE64-032831A4BBC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49890B-E1F0-4240-8402-5489F5C0B0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AA3A8C-8C00-41F2-9B55-B6339E1EE2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4FBCBD4-984F-42C7-B6D2-B24B9F67917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290C4AD-EF70-4292-AAB3-F6C2F7F032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67D726-11FE-4ED3-A72D-1B3FF53541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73A85B3-7A12-4D7B-8B67-988171A1E2C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4B167F-C938-4F4A-B2BA-F98A49DE1D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64A834-CCAD-482F-ACD8-13B37EFAD3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e4e7413fbe4369" /><Relationship Type="http://schemas.openxmlformats.org/officeDocument/2006/relationships/slideLayout" Target="/ppt/slideLayouts/slideLayout1.xml" Id="Rbd628c35c3364e08" /><Relationship Type="http://schemas.openxmlformats.org/officeDocument/2006/relationships/slideLayout" Target="/ppt/slideLayouts/slideLayout2.xml" Id="R1acd49cce741469b" /><Relationship Type="http://schemas.openxmlformats.org/officeDocument/2006/relationships/slideLayout" Target="/ppt/slideLayouts/slideLayout3.xml" Id="R2e279cfca1d04e9e" /><Relationship Type="http://schemas.openxmlformats.org/officeDocument/2006/relationships/slideLayout" Target="/ppt/slideLayouts/slideLayout4.xml" Id="Rc65b37afa79b4a35" /><Relationship Type="http://schemas.openxmlformats.org/officeDocument/2006/relationships/slideLayout" Target="/ppt/slideLayouts/slideLayout5.xml" Id="Rd301aab22bac4b66" /><Relationship Type="http://schemas.openxmlformats.org/officeDocument/2006/relationships/slideLayout" Target="/ppt/slideLayouts/slideLayout6.xml" Id="Rd4a9df4cc93a49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628c35c3364e08"/>
    <p:sldLayoutId xmlns:r="http://schemas.openxmlformats.org/officeDocument/2006/relationships" id="2147483650" r:id="R1acd49cce741469b"/>
    <p:sldLayoutId xmlns:r="http://schemas.openxmlformats.org/officeDocument/2006/relationships" id="2147483651" r:id="R2e279cfca1d04e9e"/>
    <p:sldLayoutId xmlns:r="http://schemas.openxmlformats.org/officeDocument/2006/relationships" id="2147483652" r:id="Rc65b37afa79b4a35"/>
    <p:sldLayoutId xmlns:r="http://schemas.openxmlformats.org/officeDocument/2006/relationships" id="2147483653" r:id="Rd301aab22bac4b66"/>
    <p:sldLayoutId xmlns:r="http://schemas.openxmlformats.org/officeDocument/2006/relationships" id="2147483654" r:id="Rd4a9df4cc93a49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93ea2321cce4bda" /><Relationship Type="http://schemas.openxmlformats.org/officeDocument/2006/relationships/notesSlide" Target="/ppt/notesSlides/notesSlide1.xml" Id="Re985071c9a7341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02407a30a9f4d4e" /><Relationship Type="http://schemas.openxmlformats.org/officeDocument/2006/relationships/notesSlide" Target="/ppt/notesSlides/notesSlide2.xml" Id="R653f8008a7c941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8d37f07659548c0" /><Relationship Type="http://schemas.openxmlformats.org/officeDocument/2006/relationships/notesSlide" Target="/ppt/notesSlides/notesSlide3.xml" Id="Ra182cf984d1642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159f08c61944b6a" /><Relationship Type="http://schemas.openxmlformats.org/officeDocument/2006/relationships/chart" Target="/ppt/slides/charts/chart1.xml" Id="R551e497035a749be" /><Relationship Type="http://schemas.openxmlformats.org/officeDocument/2006/relationships/notesSlide" Target="/ppt/notesSlides/notesSlide4.xml" Id="Rac6fa7a4c96f4c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ab54de98bc24984" /><Relationship Type="http://schemas.openxmlformats.org/officeDocument/2006/relationships/notesSlide" Target="/ppt/notesSlides/notesSlide5.xml" Id="R49c478e0184143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95fafa434534a3c" /><Relationship Type="http://schemas.openxmlformats.org/officeDocument/2006/relationships/notesSlide" Target="/ppt/notesSlides/notesSlide6.xml" Id="R0cbc9756ce4643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cea5e34849242ce" /><Relationship Type="http://schemas.openxmlformats.org/officeDocument/2006/relationships/notesSlide" Target="/ppt/notesSlides/notesSlide7.xml" Id="R55ee08e6c9ae4c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9c931daee734abd" /><Relationship Type="http://schemas.openxmlformats.org/officeDocument/2006/relationships/chart" Target="/ppt/slides/charts/chart2.xml" Id="Rf438293fdff2498f" /><Relationship Type="http://schemas.openxmlformats.org/officeDocument/2006/relationships/notesSlide" Target="/ppt/notesSlides/notesSlide8.xml" Id="R3ec7c347b85d4c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8ee3d9696514118" /><Relationship Type="http://schemas.openxmlformats.org/officeDocument/2006/relationships/notesSlide" Target="/ppt/notesSlides/notesSlide9.xml" Id="R61c808123b374f9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Within 1 ug/m3</c:v>
          </c:tx>
          <c:spPr>
            <a:solidFill xmlns:a="http://schemas.openxmlformats.org/drawingml/2006/main">
              <a:srgbClr val="0C8582"/>
            </a:solidFill>
          </c:spPr>
          <c:cat>
            <c:strRef>
              <c:f>'Chart Data'!$A$2:$A$3</c:f>
              <c:strCache>
                <c:ptCount val="2"/>
                <c:pt idx="0">
                  <c:v>PM2.5</c:v>
                </c:pt>
                <c:pt idx="1">
                  <c:v>PM10</c:v>
                </c:pt>
              </c:strCache>
            </c:strRef>
          </c:cat>
          <c:val>
            <c:numRef>
              <c:f>'Chart Data'!$B$2:$B$3</c:f>
              <c:numCache>
                <c:formatCode>General</c:formatCode>
                <c:ptCount val="2"/>
                <c:pt idx="0">
                  <c:v>98.9</c:v>
                </c:pt>
                <c:pt idx="1">
                  <c:v>97.7</c:v>
                </c:pt>
              </c:numCache>
            </c:numRef>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100"/>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25"/>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Station PM10 modeled outlook</c:v>
          </c:tx>
          <c:spPr>
            <a:solidFill xmlns:a="http://schemas.openxmlformats.org/drawingml/2006/main">
              <a:srgbClr val="0C8582"/>
            </a:solidFill>
          </c:spPr>
          <c:marker>
            <c:symbol val="none"/>
          </c:marker>
          <c:cat>
            <c:strRef>
              <c:f>'Chart Data'!$A$2:$A$8</c:f>
              <c:strCache>
                <c:ptCount val="7"/>
                <c:pt idx="0">
                  <c:v>10-10</c:v>
                </c:pt>
                <c:pt idx="1">
                  <c:v>10-11</c:v>
                </c:pt>
                <c:pt idx="2">
                  <c:v>10-12</c:v>
                </c:pt>
                <c:pt idx="3">
                  <c:v>10-13</c:v>
                </c:pt>
                <c:pt idx="4">
                  <c:v>10-14</c:v>
                </c:pt>
                <c:pt idx="5">
                  <c:v>10-15</c:v>
                </c:pt>
                <c:pt idx="6">
                  <c:v>10-16</c:v>
                </c:pt>
              </c:strCache>
            </c:strRef>
          </c:cat>
          <c:val>
            <c:numRef>
              <c:f>'Chart Data'!$B$2:$B$8</c:f>
              <c:numCache>
                <c:formatCode>General</c:formatCode>
                <c:ptCount val="7"/>
                <c:pt idx="0">
                  <c:v>168</c:v>
                </c:pt>
                <c:pt idx="1">
                  <c:v>142.9</c:v>
                </c:pt>
                <c:pt idx="2">
                  <c:v>132.7</c:v>
                </c:pt>
                <c:pt idx="3">
                  <c:v>172.7</c:v>
                </c:pt>
                <c:pt idx="4">
                  <c:v>189.7</c:v>
                </c:pt>
                <c:pt idx="5">
                  <c:v>185.5</c:v>
                </c:pt>
                <c:pt idx="6">
                  <c:v>158.8</c:v>
                </c:pt>
              </c:numCache>
            </c:numRef>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97184E-6B1F-4B1C-A909-490901A1BFDC}"/>
              </a:ext>
            </a:extLst>
          </p:cNvPr>
          <p:cNvSpPr>
            <a:spLocks xmlns:a="http://schemas.openxmlformats.org/drawingml/2006/main" noGrp="1"/>
          </p:cNvSpPr>
          <p:nvPr/>
        </p:nvSpPr>
        <p:spPr>
          <a:xfrm xmlns:a="http://schemas.openxmlformats.org/drawingml/2006/main">
            <a:off x="723900" y="1219200"/>
            <a:ext cx="10287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200" b="1">
                <a:solidFill>
                  <a:srgbClr val="14272E"/>
                </a:solidFill>
                <a:latin typeface="Arial"/>
                <a:ea typeface="Arial"/>
                <a:cs typeface="Arial"/>
              </a:defRPr>
            </a:defPPr>
          </a:lstStyle>
          <a:p xmlns:a="http://schemas.openxmlformats.org/drawingml/2006/main">
            <a:pPr>
              <a:defRPr sz="4200" b="1">
                <a:solidFill>
                  <a:srgbClr val="14272E"/>
                </a:solidFill>
                <a:latin typeface="Arial"/>
                <a:ea typeface="Arial"/>
                <a:cs typeface="Arial"/>
              </a:defRPr>
            </a:pPr>
            <a:r>
              <a:rPr sz="4200" b="1">
                <a:solidFill>
                  <a:srgbClr val="14272E"/>
                </a:solidFill>
                <a:latin typeface="Arial"/>
                <a:ea typeface="Arial"/>
                <a:cs typeface="Arial"/>
              </a:rPr>
              <a:t>Urban Air Quality</a:t>
            </a:r>
          </a:p>
          <a:p xmlns:a="http://schemas.openxmlformats.org/drawingml/2006/main">
            <a:pPr>
              <a:defRPr sz="4200" b="1">
                <a:solidFill>
                  <a:srgbClr val="14272E"/>
                </a:solidFill>
                <a:latin typeface="Arial"/>
                <a:ea typeface="Arial"/>
                <a:cs typeface="Arial"/>
              </a:defRPr>
            </a:pPr>
            <a:r>
              <a:rPr sz="4200" b="1">
                <a:solidFill>
                  <a:srgbClr val="14272E"/>
                </a:solidFill>
                <a:latin typeface="Arial"/>
                <a:ea typeface="Arial"/>
                <a:cs typeface="Arial"/>
              </a:rPr>
              <a:t>Early Warning System</a:t>
            </a:r>
          </a:p>
        </p:txBody>
      </p:sp>
      <p:sp>
        <p:nvSpPr>
          <p:cNvPr id="2" name="">
            <a:extLst xmlns:a="http://schemas.openxmlformats.org/drawingml/2006/main">
              <a:ext uri="{FF2B5EF4-FFF2-40B4-BE49-F238E27FC236}">
                <a16:creationId xmlns:a16="http://schemas.microsoft.com/office/drawing/2014/main" id="{D094A83A-BC72-4F74-A76F-27575FDFB88B}"/>
              </a:ext>
            </a:extLst>
          </p:cNvPr>
          <p:cNvSpPr>
            <a:spLocks xmlns:a="http://schemas.openxmlformats.org/drawingml/2006/main" noGrp="1"/>
          </p:cNvSpPr>
          <p:nvPr/>
        </p:nvSpPr>
        <p:spPr>
          <a:xfrm xmlns:a="http://schemas.openxmlformats.org/drawingml/2006/main">
            <a:off x="742950" y="3476625"/>
            <a:ext cx="8572500" cy="19050"/>
          </a:xfrm>
          <a:prstGeom xmlns:a="http://schemas.openxmlformats.org/drawingml/2006/main" prst="rect">
            <a:avLst/>
          </a:prstGeom>
          <a:solidFill xmlns:a="http://schemas.openxmlformats.org/drawingml/2006/main">
            <a:srgbClr val="0C858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9613E6B-0BD0-4938-A199-893DA48DE072}"/>
              </a:ext>
            </a:extLst>
          </p:cNvPr>
          <p:cNvSpPr>
            <a:spLocks xmlns:a="http://schemas.openxmlformats.org/drawingml/2006/main" noGrp="1"/>
          </p:cNvSpPr>
          <p:nvPr/>
        </p:nvSpPr>
        <p:spPr>
          <a:xfrm xmlns:a="http://schemas.openxmlformats.org/drawingml/2006/main">
            <a:off x="742950" y="3733800"/>
            <a:ext cx="885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53656B"/>
                </a:solidFill>
                <a:latin typeface="Arial"/>
                <a:ea typeface="Arial"/>
                <a:cs typeface="Arial"/>
              </a:defRPr>
            </a:defPPr>
          </a:lstStyle>
          <a:p xmlns:a="http://schemas.openxmlformats.org/drawingml/2006/main">
            <a:pPr>
              <a:defRPr sz="1875" b="0">
                <a:solidFill>
                  <a:srgbClr val="53656B"/>
                </a:solidFill>
                <a:latin typeface="Arial"/>
                <a:ea typeface="Arial"/>
                <a:cs typeface="Arial"/>
              </a:defRPr>
            </a:pPr>
            <a:r>
              <a:rPr sz="1875" b="0">
                <a:solidFill>
                  <a:srgbClr val="53656B"/>
                </a:solidFill>
                <a:latin typeface="Arial"/>
                <a:ea typeface="Arial"/>
                <a:cs typeface="Arial"/>
              </a:rPr>
              <a:t>Mid-semester project progress</a:t>
            </a:r>
          </a:p>
        </p:txBody>
      </p:sp>
      <p:sp>
        <p:nvSpPr>
          <p:cNvPr id="4" name="">
            <a:extLst xmlns:a="http://schemas.openxmlformats.org/drawingml/2006/main">
              <a:ext uri="{FF2B5EF4-FFF2-40B4-BE49-F238E27FC236}">
                <a16:creationId xmlns:a16="http://schemas.microsoft.com/office/drawing/2014/main" id="{E157B836-BE2B-4E11-BD08-1AF8C9E0B7F5}"/>
              </a:ext>
            </a:extLst>
          </p:cNvPr>
          <p:cNvSpPr>
            <a:spLocks xmlns:a="http://schemas.openxmlformats.org/drawingml/2006/main" noGrp="1"/>
          </p:cNvSpPr>
          <p:nvPr/>
        </p:nvSpPr>
        <p:spPr>
          <a:xfrm xmlns:a="http://schemas.openxmlformats.org/drawingml/2006/main">
            <a:off x="742950" y="4295775"/>
            <a:ext cx="1000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4272E"/>
                </a:solidFill>
                <a:latin typeface="Arial"/>
                <a:ea typeface="Arial"/>
                <a:cs typeface="Arial"/>
              </a:defRPr>
            </a:defPPr>
          </a:lstStyle>
          <a:p xmlns:a="http://schemas.openxmlformats.org/drawingml/2006/main">
            <a:pPr>
              <a:defRPr sz="1650" b="0">
                <a:solidFill>
                  <a:srgbClr val="14272E"/>
                </a:solidFill>
                <a:latin typeface="Arial"/>
                <a:ea typeface="Arial"/>
                <a:cs typeface="Arial"/>
              </a:defRPr>
            </a:pPr>
            <a:r>
              <a:rPr sz="1650" b="0">
                <a:solidFill>
                  <a:srgbClr val="14272E"/>
                </a:solidFill>
                <a:latin typeface="Arial"/>
                <a:ea typeface="Arial"/>
                <a:cs typeface="Arial"/>
              </a:rPr>
              <a:t>PM2.5 and PM10 daily forecasting in Delhi</a:t>
            </a:r>
          </a:p>
        </p:txBody>
      </p:sp>
      <p:sp>
        <p:nvSpPr>
          <p:cNvPr id="5" name="">
            <a:extLst xmlns:a="http://schemas.openxmlformats.org/drawingml/2006/main">
              <a:ext uri="{FF2B5EF4-FFF2-40B4-BE49-F238E27FC236}">
                <a16:creationId xmlns:a16="http://schemas.microsoft.com/office/drawing/2014/main" id="{BE7A4D0F-FAF7-4129-8710-54F169451C7D}"/>
              </a:ext>
            </a:extLst>
          </p:cNvPr>
          <p:cNvSpPr>
            <a:spLocks xmlns:a="http://schemas.openxmlformats.org/drawingml/2006/main" noGrp="1"/>
          </p:cNvSpPr>
          <p:nvPr/>
        </p:nvSpPr>
        <p:spPr>
          <a:xfrm xmlns:a="http://schemas.openxmlformats.org/drawingml/2006/main">
            <a:off x="742950" y="5391150"/>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4272E"/>
                </a:solidFill>
                <a:latin typeface="Arial"/>
                <a:ea typeface="Arial"/>
                <a:cs typeface="Arial"/>
              </a:defRPr>
            </a:defPPr>
          </a:lstStyle>
          <a:p xmlns:a="http://schemas.openxmlformats.org/drawingml/2006/main">
            <a:pPr>
              <a:defRPr sz="1425" b="0">
                <a:solidFill>
                  <a:srgbClr val="14272E"/>
                </a:solidFill>
                <a:latin typeface="Arial"/>
                <a:ea typeface="Arial"/>
                <a:cs typeface="Arial"/>
              </a:defRPr>
            </a:pPr>
            <a:r>
              <a:rPr sz="1425" b="0">
                <a:solidFill>
                  <a:srgbClr val="14272E"/>
                </a:solidFill>
                <a:latin typeface="Arial"/>
                <a:ea typeface="Arial"/>
                <a:cs typeface="Arial"/>
              </a:rPr>
              <a:t>Submitted to Prof. Anupam Singhal</a:t>
            </a:r>
          </a:p>
        </p:txBody>
      </p:sp>
      <p:sp>
        <p:nvSpPr>
          <p:cNvPr id="6" name="">
            <a:extLst xmlns:a="http://schemas.openxmlformats.org/drawingml/2006/main">
              <a:ext uri="{FF2B5EF4-FFF2-40B4-BE49-F238E27FC236}">
                <a16:creationId xmlns:a16="http://schemas.microsoft.com/office/drawing/2014/main" id="{A58C0E22-8EF3-483A-B42F-8819FEC1D59B}"/>
              </a:ext>
            </a:extLst>
          </p:cNvPr>
          <p:cNvSpPr>
            <a:spLocks xmlns:a="http://schemas.openxmlformats.org/drawingml/2006/main" noGrp="1"/>
          </p:cNvSpPr>
          <p:nvPr/>
        </p:nvSpPr>
        <p:spPr>
          <a:xfrm xmlns:a="http://schemas.openxmlformats.org/drawingml/2006/main">
            <a:off x="742950" y="579120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3656B"/>
                </a:solidFill>
                <a:latin typeface="Arial"/>
                <a:ea typeface="Arial"/>
                <a:cs typeface="Arial"/>
              </a:defRPr>
            </a:defPPr>
          </a:lstStyle>
          <a:p xmlns:a="http://schemas.openxmlformats.org/drawingml/2006/main">
            <a:pPr>
              <a:defRPr sz="1200" b="0">
                <a:solidFill>
                  <a:srgbClr val="53656B"/>
                </a:solidFill>
                <a:latin typeface="Arial"/>
                <a:ea typeface="Arial"/>
                <a:cs typeface="Arial"/>
              </a:defRPr>
            </a:pPr>
            <a:r>
              <a:rPr sz="1200" b="0">
                <a:solidFill>
                  <a:srgbClr val="53656B"/>
                </a:solidFill>
                <a:latin typeface="Arial"/>
                <a:ea typeface="Arial"/>
                <a:cs typeface="Arial"/>
              </a:rPr>
              <a:t>Prepared by [student / team names]    |    9 October 2026</a:t>
            </a:r>
          </a:p>
        </p:txBody>
      </p:sp>
    </p:spTree>
    <p:extLst>
      <p:ext uri="{BB962C8B-B14F-4D97-AF65-F5344CB8AC3E}">
        <p14:creationId xmlns:p14="http://schemas.microsoft.com/office/powerpoint/2010/main" val="32122914"/>
      </p:ext>
    </p:extLst>
  </p:cSld>
</p:sld>
</file>

<file path=ppt/slides/slide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6E1E30-A389-42A2-B040-DD1DC44C1019}"/>
              </a:ext>
            </a:extLst>
          </p:cNvPr>
          <p:cNvSpPr>
            <a:spLocks xmlns:a="http://schemas.openxmlformats.org/drawingml/2006/main" noGrp="1"/>
          </p:cNvSpPr>
          <p:nvPr/>
        </p:nvSpPr>
        <p:spPr>
          <a:xfrm xmlns:a="http://schemas.openxmlformats.org/drawingml/2006/main">
            <a:off x="723900" y="5143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14272E"/>
                </a:solidFill>
                <a:latin typeface="Arial"/>
                <a:ea typeface="Arial"/>
                <a:cs typeface="Arial"/>
              </a:defRPr>
            </a:defPPr>
          </a:lstStyle>
          <a:p xmlns:a="http://schemas.openxmlformats.org/drawingml/2006/main">
            <a:pPr>
              <a:defRPr sz="2700" b="1">
                <a:solidFill>
                  <a:srgbClr val="14272E"/>
                </a:solidFill>
                <a:latin typeface="Arial"/>
                <a:ea typeface="Arial"/>
                <a:cs typeface="Arial"/>
              </a:defRPr>
            </a:pPr>
            <a:r>
              <a:rPr sz="2700" b="1">
                <a:solidFill>
                  <a:srgbClr val="14272E"/>
                </a:solidFill>
                <a:latin typeface="Arial"/>
                <a:ea typeface="Arial"/>
                <a:cs typeface="Arial"/>
              </a:rPr>
              <a:t>Research question and project status</a:t>
            </a:r>
          </a:p>
        </p:txBody>
      </p:sp>
      <p:sp>
        <p:nvSpPr>
          <p:cNvPr id="2" name="">
            <a:extLst xmlns:a="http://schemas.openxmlformats.org/drawingml/2006/main">
              <a:ext uri="{FF2B5EF4-FFF2-40B4-BE49-F238E27FC236}">
                <a16:creationId xmlns:a16="http://schemas.microsoft.com/office/drawing/2014/main" id="{2A1836E0-D683-435A-B75A-96E7597444FC}"/>
              </a:ext>
            </a:extLst>
          </p:cNvPr>
          <p:cNvSpPr>
            <a:spLocks xmlns:a="http://schemas.openxmlformats.org/drawingml/2006/main" noGrp="1"/>
          </p:cNvSpPr>
          <p:nvPr/>
        </p:nvSpPr>
        <p:spPr>
          <a:xfrm xmlns:a="http://schemas.openxmlformats.org/drawingml/2006/main">
            <a:off x="11115675" y="62865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56B"/>
                </a:solidFill>
                <a:latin typeface="Arial"/>
                <a:ea typeface="Arial"/>
                <a:cs typeface="Arial"/>
              </a:defRPr>
            </a:defPPr>
          </a:lstStyle>
          <a:p xmlns:a="http://schemas.openxmlformats.org/drawingml/2006/main">
            <a:pPr>
              <a:defRPr sz="1050" b="0">
                <a:solidFill>
                  <a:srgbClr val="53656B"/>
                </a:solidFill>
                <a:latin typeface="Arial"/>
                <a:ea typeface="Arial"/>
                <a:cs typeface="Arial"/>
              </a:defRPr>
            </a:pPr>
            <a:r>
              <a:rPr sz="1050" b="0">
                <a:solidFill>
                  <a:srgbClr val="53656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F204E856-D5D5-4D4E-9D7A-D8AA27760D3C}"/>
              </a:ext>
            </a:extLst>
          </p:cNvPr>
          <p:cNvSpPr>
            <a:spLocks xmlns:a="http://schemas.openxmlformats.org/drawingml/2006/main" noGrp="1"/>
          </p:cNvSpPr>
          <p:nvPr/>
        </p:nvSpPr>
        <p:spPr>
          <a:xfrm xmlns:a="http://schemas.openxmlformats.org/drawingml/2006/main">
            <a:off x="762000" y="185737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4272E"/>
                </a:solidFill>
                <a:latin typeface="Arial"/>
                <a:ea typeface="Arial"/>
                <a:cs typeface="Arial"/>
              </a:defRPr>
            </a:defPPr>
          </a:lstStyle>
          <a:p xmlns:a="http://schemas.openxmlformats.org/drawingml/2006/main">
            <a:pPr>
              <a:defRPr sz="2250" b="1">
                <a:solidFill>
                  <a:srgbClr val="14272E"/>
                </a:solidFill>
                <a:latin typeface="Arial"/>
                <a:ea typeface="Arial"/>
                <a:cs typeface="Arial"/>
              </a:defRPr>
            </a:pPr>
            <a:r>
              <a:rPr sz="2250" b="1">
                <a:solidFill>
                  <a:srgbClr val="14272E"/>
                </a:solidFill>
                <a:latin typeface="Arial"/>
                <a:ea typeface="Arial"/>
                <a:cs typeface="Arial"/>
              </a:rPr>
              <a:t>Can weather, prior PM and calendar effects beat persistence?</a:t>
            </a:r>
          </a:p>
        </p:txBody>
      </p:sp>
      <p:sp>
        <p:nvSpPr>
          <p:cNvPr id="4" name="">
            <a:extLst xmlns:a="http://schemas.openxmlformats.org/drawingml/2006/main">
              <a:ext uri="{FF2B5EF4-FFF2-40B4-BE49-F238E27FC236}">
                <a16:creationId xmlns:a16="http://schemas.microsoft.com/office/drawing/2014/main" id="{29E9A157-AE0A-4904-AE1A-658EA29DF77D}"/>
              </a:ext>
            </a:extLst>
          </p:cNvPr>
          <p:cNvSpPr>
            <a:spLocks xmlns:a="http://schemas.openxmlformats.org/drawingml/2006/main" noGrp="1"/>
          </p:cNvSpPr>
          <p:nvPr/>
        </p:nvSpPr>
        <p:spPr>
          <a:xfrm xmlns:a="http://schemas.openxmlformats.org/drawingml/2006/main">
            <a:off x="762000" y="2857500"/>
            <a:ext cx="10334625" cy="19050"/>
          </a:xfrm>
          <a:prstGeom xmlns:a="http://schemas.openxmlformats.org/drawingml/2006/main" prst="rect">
            <a:avLst/>
          </a:prstGeom>
          <a:solidFill xmlns:a="http://schemas.openxmlformats.org/drawingml/2006/main">
            <a:srgbClr val="D8E0E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FB95FBC-02B9-480B-B87C-F440ACA233B4}"/>
              </a:ext>
            </a:extLst>
          </p:cNvPr>
          <p:cNvSpPr>
            <a:spLocks xmlns:a="http://schemas.openxmlformats.org/drawingml/2006/main" noGrp="1"/>
          </p:cNvSpPr>
          <p:nvPr/>
        </p:nvSpPr>
        <p:spPr>
          <a:xfrm xmlns:a="http://schemas.openxmlformats.org/drawingml/2006/main">
            <a:off x="762000" y="3257550"/>
            <a:ext cx="457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C8582"/>
                </a:solidFill>
                <a:latin typeface="Arial"/>
                <a:ea typeface="Arial"/>
                <a:cs typeface="Arial"/>
              </a:defRPr>
            </a:defPPr>
          </a:lstStyle>
          <a:p xmlns:a="http://schemas.openxmlformats.org/drawingml/2006/main">
            <a:pPr>
              <a:defRPr sz="1800" b="1">
                <a:solidFill>
                  <a:srgbClr val="0C8582"/>
                </a:solidFill>
                <a:latin typeface="Arial"/>
                <a:ea typeface="Arial"/>
                <a:cs typeface="Arial"/>
              </a:defRPr>
            </a:pPr>
            <a:r>
              <a:rPr sz="1800" b="1">
                <a:solidFill>
                  <a:srgbClr val="0C8582"/>
                </a:solidFill>
                <a:latin typeface="Arial"/>
                <a:ea typeface="Arial"/>
                <a:cs typeface="Arial"/>
              </a:rPr>
              <a:t>Completed</a:t>
            </a:r>
          </a:p>
        </p:txBody>
      </p:sp>
      <p:sp>
        <p:nvSpPr>
          <p:cNvPr id="6" name="">
            <a:extLst xmlns:a="http://schemas.openxmlformats.org/drawingml/2006/main">
              <a:ext uri="{FF2B5EF4-FFF2-40B4-BE49-F238E27FC236}">
                <a16:creationId xmlns:a16="http://schemas.microsoft.com/office/drawing/2014/main" id="{7572A2E2-D59D-40C1-8A3E-36976CD4A657}"/>
              </a:ext>
            </a:extLst>
          </p:cNvPr>
          <p:cNvSpPr>
            <a:spLocks xmlns:a="http://schemas.openxmlformats.org/drawingml/2006/main" noGrp="1"/>
          </p:cNvSpPr>
          <p:nvPr/>
        </p:nvSpPr>
        <p:spPr>
          <a:xfrm xmlns:a="http://schemas.openxmlformats.org/drawingml/2006/main">
            <a:off x="762000" y="3800475"/>
            <a:ext cx="4857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4272E"/>
                </a:solidFill>
                <a:latin typeface="Arial"/>
                <a:ea typeface="Arial"/>
                <a:cs typeface="Arial"/>
              </a:defRPr>
            </a:defPPr>
          </a:lstStyle>
          <a:p xmlns:a="http://schemas.openxmlformats.org/drawingml/2006/main">
            <a:pPr>
              <a:defRPr sz="1650" b="0">
                <a:solidFill>
                  <a:srgbClr val="14272E"/>
                </a:solidFill>
                <a:latin typeface="Arial"/>
                <a:ea typeface="Arial"/>
                <a:cs typeface="Arial"/>
              </a:defRPr>
            </a:pPr>
            <a:r>
              <a:rPr sz="1650" b="0">
                <a:solidFill>
                  <a:srgbClr val="14272E"/>
                </a:solidFill>
                <a:latin typeface="Arial"/>
                <a:ea typeface="Arial"/>
                <a:cs typeface="Arial"/>
              </a:rPr>
              <a:t>Two-pollutant acquisition and caching</a:t>
            </a:r>
          </a:p>
          <a:p xmlns:a="http://schemas.openxmlformats.org/drawingml/2006/main">
            <a:pPr>
              <a:defRPr sz="1650" b="0">
                <a:solidFill>
                  <a:srgbClr val="14272E"/>
                </a:solidFill>
                <a:latin typeface="Arial"/>
                <a:ea typeface="Arial"/>
                <a:cs typeface="Arial"/>
              </a:defRPr>
            </a:pPr>
            <a:r>
              <a:rPr sz="1650" b="0">
                <a:solidFill>
                  <a:srgbClr val="14272E"/>
                </a:solidFill>
                <a:latin typeface="Arial"/>
                <a:ea typeface="Arial"/>
                <a:cs typeface="Arial"/>
              </a:rPr>
              <a:t>Audited station archive merge</a:t>
            </a:r>
          </a:p>
          <a:p xmlns:a="http://schemas.openxmlformats.org/drawingml/2006/main">
            <a:pPr>
              <a:defRPr sz="1650" b="0">
                <a:solidFill>
                  <a:srgbClr val="14272E"/>
                </a:solidFill>
                <a:latin typeface="Arial"/>
                <a:ea typeface="Arial"/>
                <a:cs typeface="Arial"/>
              </a:defRPr>
            </a:pPr>
            <a:r>
              <a:rPr sz="1650" b="0">
                <a:solidFill>
                  <a:srgbClr val="14272E"/>
                </a:solidFill>
                <a:latin typeface="Arial"/>
                <a:ea typeface="Arial"/>
                <a:cs typeface="Arial"/>
              </a:rPr>
              <a:t>Chronological backtests and live dashboard</a:t>
            </a:r>
          </a:p>
        </p:txBody>
      </p:sp>
      <p:sp>
        <p:nvSpPr>
          <p:cNvPr id="7" name="">
            <a:extLst xmlns:a="http://schemas.openxmlformats.org/drawingml/2006/main">
              <a:ext uri="{FF2B5EF4-FFF2-40B4-BE49-F238E27FC236}">
                <a16:creationId xmlns:a16="http://schemas.microsoft.com/office/drawing/2014/main" id="{C1DA5C60-E5B6-46E5-8609-01A56725BCF1}"/>
              </a:ext>
            </a:extLst>
          </p:cNvPr>
          <p:cNvSpPr>
            <a:spLocks xmlns:a="http://schemas.openxmlformats.org/drawingml/2006/main" noGrp="1"/>
          </p:cNvSpPr>
          <p:nvPr/>
        </p:nvSpPr>
        <p:spPr>
          <a:xfrm xmlns:a="http://schemas.openxmlformats.org/drawingml/2006/main">
            <a:off x="6210300" y="3257550"/>
            <a:ext cx="457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D05D4C"/>
                </a:solidFill>
                <a:latin typeface="Arial"/>
                <a:ea typeface="Arial"/>
                <a:cs typeface="Arial"/>
              </a:defRPr>
            </a:defPPr>
          </a:lstStyle>
          <a:p xmlns:a="http://schemas.openxmlformats.org/drawingml/2006/main">
            <a:pPr>
              <a:defRPr sz="1800" b="1">
                <a:solidFill>
                  <a:srgbClr val="D05D4C"/>
                </a:solidFill>
                <a:latin typeface="Arial"/>
                <a:ea typeface="Arial"/>
                <a:cs typeface="Arial"/>
              </a:defRPr>
            </a:pPr>
            <a:r>
              <a:rPr sz="1800" b="1">
                <a:solidFill>
                  <a:srgbClr val="D05D4C"/>
                </a:solidFill>
                <a:latin typeface="Arial"/>
                <a:ea typeface="Arial"/>
                <a:cs typeface="Arial"/>
              </a:rPr>
              <a:t>Next stage</a:t>
            </a:r>
          </a:p>
        </p:txBody>
      </p:sp>
      <p:sp>
        <p:nvSpPr>
          <p:cNvPr id="8" name="">
            <a:extLst xmlns:a="http://schemas.openxmlformats.org/drawingml/2006/main">
              <a:ext uri="{FF2B5EF4-FFF2-40B4-BE49-F238E27FC236}">
                <a16:creationId xmlns:a16="http://schemas.microsoft.com/office/drawing/2014/main" id="{5584D7D1-D6A4-4EA2-8DE6-44BF56C17F1C}"/>
              </a:ext>
            </a:extLst>
          </p:cNvPr>
          <p:cNvSpPr>
            <a:spLocks xmlns:a="http://schemas.openxmlformats.org/drawingml/2006/main" noGrp="1"/>
          </p:cNvSpPr>
          <p:nvPr/>
        </p:nvSpPr>
        <p:spPr>
          <a:xfrm xmlns:a="http://schemas.openxmlformats.org/drawingml/2006/main">
            <a:off x="6210300" y="3800475"/>
            <a:ext cx="4762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4272E"/>
                </a:solidFill>
                <a:latin typeface="Arial"/>
                <a:ea typeface="Arial"/>
                <a:cs typeface="Arial"/>
              </a:defRPr>
            </a:defPPr>
          </a:lstStyle>
          <a:p xmlns:a="http://schemas.openxmlformats.org/drawingml/2006/main">
            <a:pPr>
              <a:defRPr sz="1650" b="0">
                <a:solidFill>
                  <a:srgbClr val="14272E"/>
                </a:solidFill>
                <a:latin typeface="Arial"/>
                <a:ea typeface="Arial"/>
                <a:cs typeface="Arial"/>
              </a:defRPr>
            </a:pPr>
            <a:r>
              <a:rPr sz="1650" b="0">
                <a:solidFill>
                  <a:srgbClr val="14272E"/>
                </a:solidFill>
                <a:latin typeface="Arial"/>
                <a:ea typeface="Arial"/>
                <a:cs typeface="Arial"/>
              </a:rPr>
              <a:t>Prospective forecast versus later actuals</a:t>
            </a:r>
          </a:p>
          <a:p xmlns:a="http://schemas.openxmlformats.org/drawingml/2006/main">
            <a:pPr>
              <a:defRPr sz="1650" b="0">
                <a:solidFill>
                  <a:srgbClr val="14272E"/>
                </a:solidFill>
                <a:latin typeface="Arial"/>
                <a:ea typeface="Arial"/>
                <a:cs typeface="Arial"/>
              </a:defRPr>
            </a:pPr>
            <a:r>
              <a:rPr sz="1650" b="0">
                <a:solidFill>
                  <a:srgbClr val="14272E"/>
                </a:solidFill>
                <a:latin typeface="Arial"/>
                <a:ea typeface="Arial"/>
                <a:cs typeface="Arial"/>
              </a:rPr>
              <a:t>Fixed issue-time weather validation</a:t>
            </a:r>
          </a:p>
          <a:p xmlns:a="http://schemas.openxmlformats.org/drawingml/2006/main">
            <a:pPr>
              <a:defRPr sz="1650" b="0">
                <a:solidFill>
                  <a:srgbClr val="14272E"/>
                </a:solidFill>
                <a:latin typeface="Arial"/>
                <a:ea typeface="Arial"/>
                <a:cs typeface="Arial"/>
              </a:defRPr>
            </a:pPr>
            <a:r>
              <a:rPr sz="1650" b="0">
                <a:solidFill>
                  <a:srgbClr val="14272E"/>
                </a:solidFill>
                <a:latin typeface="Arial"/>
                <a:ea typeface="Arial"/>
                <a:cs typeface="Arial"/>
              </a:rPr>
              <a:t>Longer station and fire coverage</a:t>
            </a:r>
          </a:p>
        </p:txBody>
      </p:sp>
    </p:spTree>
    <p:extLst>
      <p:ext uri="{BB962C8B-B14F-4D97-AF65-F5344CB8AC3E}">
        <p14:creationId xmlns:p14="http://schemas.microsoft.com/office/powerpoint/2010/main" val="1538098081"/>
      </p:ext>
    </p:extLst>
  </p:cSld>
</p:sld>
</file>

<file path=ppt/slides/slide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56EF0E-DA97-4234-8952-BE504BFCB953}"/>
              </a:ext>
            </a:extLst>
          </p:cNvPr>
          <p:cNvSpPr>
            <a:spLocks xmlns:a="http://schemas.openxmlformats.org/drawingml/2006/main" noGrp="1"/>
          </p:cNvSpPr>
          <p:nvPr/>
        </p:nvSpPr>
        <p:spPr>
          <a:xfrm xmlns:a="http://schemas.openxmlformats.org/drawingml/2006/main">
            <a:off x="723900" y="5143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14272E"/>
                </a:solidFill>
                <a:latin typeface="Arial"/>
                <a:ea typeface="Arial"/>
                <a:cs typeface="Arial"/>
              </a:defRPr>
            </a:defPPr>
          </a:lstStyle>
          <a:p xmlns:a="http://schemas.openxmlformats.org/drawingml/2006/main">
            <a:pPr>
              <a:defRPr sz="2700" b="1">
                <a:solidFill>
                  <a:srgbClr val="14272E"/>
                </a:solidFill>
                <a:latin typeface="Arial"/>
                <a:ea typeface="Arial"/>
                <a:cs typeface="Arial"/>
              </a:defRPr>
            </a:pPr>
            <a:r>
              <a:rPr sz="2700" b="1">
                <a:solidFill>
                  <a:srgbClr val="14272E"/>
                </a:solidFill>
                <a:latin typeface="Arial"/>
                <a:ea typeface="Arial"/>
                <a:cs typeface="Arial"/>
              </a:rPr>
              <a:t>Two distinct targets, uneven five-year coverage</a:t>
            </a:r>
          </a:p>
        </p:txBody>
      </p:sp>
      <p:sp>
        <p:nvSpPr>
          <p:cNvPr id="2" name="">
            <a:extLst xmlns:a="http://schemas.openxmlformats.org/drawingml/2006/main">
              <a:ext uri="{FF2B5EF4-FFF2-40B4-BE49-F238E27FC236}">
                <a16:creationId xmlns:a16="http://schemas.microsoft.com/office/drawing/2014/main" id="{81A2CA1E-61BD-484B-95F8-C8730BF25F76}"/>
              </a:ext>
            </a:extLst>
          </p:cNvPr>
          <p:cNvSpPr>
            <a:spLocks xmlns:a="http://schemas.openxmlformats.org/drawingml/2006/main" noGrp="1"/>
          </p:cNvSpPr>
          <p:nvPr/>
        </p:nvSpPr>
        <p:spPr>
          <a:xfrm xmlns:a="http://schemas.openxmlformats.org/drawingml/2006/main">
            <a:off x="742950" y="1304925"/>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56B"/>
                </a:solidFill>
                <a:latin typeface="Arial"/>
                <a:ea typeface="Arial"/>
                <a:cs typeface="Arial"/>
              </a:defRPr>
            </a:defPPr>
          </a:lstStyle>
          <a:p xmlns:a="http://schemas.openxmlformats.org/drawingml/2006/main">
            <a:pPr>
              <a:defRPr sz="1350" b="0">
                <a:solidFill>
                  <a:srgbClr val="53656B"/>
                </a:solidFill>
                <a:latin typeface="Arial"/>
                <a:ea typeface="Arial"/>
                <a:cs typeface="Arial"/>
              </a:defRPr>
            </a:pPr>
            <a:r>
              <a:rPr sz="1350" b="0">
                <a:solidFill>
                  <a:srgbClr val="53656B"/>
                </a:solidFill>
                <a:latin typeface="Arial"/>
                <a:ea typeface="Arial"/>
                <a:cs typeface="Arial"/>
              </a:rPr>
              <a:t>Five years is the calendar window. Valid daily targets are fewer.</a:t>
            </a:r>
          </a:p>
        </p:txBody>
      </p:sp>
      <p:sp>
        <p:nvSpPr>
          <p:cNvPr id="3" name="">
            <a:extLst xmlns:a="http://schemas.openxmlformats.org/drawingml/2006/main">
              <a:ext uri="{FF2B5EF4-FFF2-40B4-BE49-F238E27FC236}">
                <a16:creationId xmlns:a16="http://schemas.microsoft.com/office/drawing/2014/main" id="{2134F17B-FDB7-4BB9-9DC2-EAD35F514EB3}"/>
              </a:ext>
            </a:extLst>
          </p:cNvPr>
          <p:cNvSpPr>
            <a:spLocks xmlns:a="http://schemas.openxmlformats.org/drawingml/2006/main" noGrp="1"/>
          </p:cNvSpPr>
          <p:nvPr/>
        </p:nvSpPr>
        <p:spPr>
          <a:xfrm xmlns:a="http://schemas.openxmlformats.org/drawingml/2006/main">
            <a:off x="11115675" y="62865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56B"/>
                </a:solidFill>
                <a:latin typeface="Arial"/>
                <a:ea typeface="Arial"/>
                <a:cs typeface="Arial"/>
              </a:defRPr>
            </a:defPPr>
          </a:lstStyle>
          <a:p xmlns:a="http://schemas.openxmlformats.org/drawingml/2006/main">
            <a:pPr>
              <a:defRPr sz="1050" b="0">
                <a:solidFill>
                  <a:srgbClr val="53656B"/>
                </a:solidFill>
                <a:latin typeface="Arial"/>
                <a:ea typeface="Arial"/>
                <a:cs typeface="Arial"/>
              </a:defRPr>
            </a:pPr>
            <a:r>
              <a:rPr sz="1050" b="0">
                <a:solidFill>
                  <a:srgbClr val="53656B"/>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1AE92F6C-4915-4740-9EFD-DD7DCA61D565}"/>
              </a:ext>
            </a:extLst>
          </p:cNvPr>
          <p:cNvGraphicFramePr/>
          <p:nvPr/>
        </p:nvGraphicFramePr>
        <p:xfrm>
          <a:off xmlns:a="http://schemas.openxmlformats.org/drawingml/2006/main" x="762000" y="2238375"/>
          <a:ext xmlns:a="http://schemas.openxmlformats.org/drawingml/2006/main" cx="10668000" cy="2714625"/>
        </p:xfrm>
        <a:graphic xmlns:a="http://schemas.openxmlformats.org/drawingml/2006/main">
          <a:graphicData uri="http://schemas.openxmlformats.org/drawingml/2006/table">
            <a:tbl>
              <a:tblPr firstRow="1" bandRow="1"/>
              <a:tblGrid>
                <a:gridCol w="3429000"/>
                <a:gridCol w="4667250"/>
                <a:gridCol w="2571750"/>
              </a:tblGrid>
              <a:tr h="542925">
                <a:tc>
                  <a:txBody>
                    <a:bodyPr/>
                    <a:lstStyle/>
                    <a:p>
                      <a:r>
                        <a:rPr sz="1275" b="1">
                          <a:solidFill>
                            <a:srgbClr val="FFFFFF"/>
                          </a:solidFill>
                          <a:latin typeface="Arial"/>
                          <a:ea typeface="Arial"/>
                          <a:cs typeface="Arial"/>
                        </a:rPr>
                        <a:t>Target</a:t>
                      </a:r>
                    </a:p>
                  </a:txBody>
                  <a:tcPr marL="91440" marR="91440" marT="45720" marB="45720">
                    <a:solidFill>
                      <a:srgbClr val="14272E"/>
                    </a:solidFill>
                  </a:tcPr>
                </a:tc>
                <a:tc>
                  <a:txBody>
                    <a:bodyPr/>
                    <a:lstStyle/>
                    <a:p>
                      <a:r>
                        <a:rPr sz="1275" b="1">
                          <a:solidFill>
                            <a:srgbClr val="FFFFFF"/>
                          </a:solidFill>
                          <a:latin typeface="Arial"/>
                          <a:ea typeface="Arial"/>
                          <a:cs typeface="Arial"/>
                        </a:rPr>
                        <a:t>Calendar span</a:t>
                      </a:r>
                    </a:p>
                  </a:txBody>
                  <a:tcPr marL="91440" marR="91440" marT="45720" marB="45720">
                    <a:solidFill>
                      <a:srgbClr val="14272E"/>
                    </a:solidFill>
                  </a:tcPr>
                </a:tc>
                <a:tc>
                  <a:txBody>
                    <a:bodyPr/>
                    <a:lstStyle/>
                    <a:p>
                      <a:r>
                        <a:rPr sz="1275" b="1">
                          <a:solidFill>
                            <a:srgbClr val="FFFFFF"/>
                          </a:solidFill>
                          <a:latin typeface="Arial"/>
                          <a:ea typeface="Arial"/>
                          <a:cs typeface="Arial"/>
                        </a:rPr>
                        <a:t>Valid days</a:t>
                      </a:r>
                    </a:p>
                  </a:txBody>
                  <a:tcPr marL="91440" marR="91440" marT="45720" marB="45720">
                    <a:solidFill>
                      <a:srgbClr val="14272E"/>
                    </a:solidFill>
                  </a:tcPr>
                </a:tc>
              </a:tr>
              <a:tr h="542925">
                <a:tc>
                  <a:txBody>
                    <a:bodyPr/>
                    <a:lstStyle/>
                    <a:p>
                      <a:r>
                        <a:rPr sz="1350" b="0">
                          <a:solidFill>
                            <a:srgbClr val="14272E"/>
                          </a:solidFill>
                          <a:latin typeface="Arial"/>
                          <a:ea typeface="Arial"/>
                          <a:cs typeface="Arial"/>
                        </a:rPr>
                        <a:t>CAMS modeled PM2.5</a:t>
                      </a:r>
                    </a:p>
                  </a:txBody>
                  <a:tcPr marL="91440" marR="91440" marT="45720" marB="45720">
                    <a:solidFill>
                      <a:srgbClr val="FFFFFF"/>
                    </a:solidFill>
                  </a:tcPr>
                </a:tc>
                <a:tc>
                  <a:txBody>
                    <a:bodyPr/>
                    <a:lstStyle/>
                    <a:p>
                      <a:r>
                        <a:rPr sz="1350" b="0">
                          <a:solidFill>
                            <a:srgbClr val="14272E"/>
                          </a:solidFill>
                          <a:latin typeface="Arial"/>
                          <a:ea typeface="Arial"/>
                          <a:cs typeface="Arial"/>
                        </a:rPr>
                        <a:t>9 Oct 2021 - 8 Oct 2026</a:t>
                      </a:r>
                    </a:p>
                  </a:txBody>
                  <a:tcPr marL="91440" marR="91440" marT="45720" marB="45720">
                    <a:solidFill>
                      <a:srgbClr val="FFFFFF"/>
                    </a:solidFill>
                  </a:tcPr>
                </a:tc>
                <a:tc>
                  <a:txBody>
                    <a:bodyPr/>
                    <a:lstStyle/>
                    <a:p>
                      <a:r>
                        <a:rPr sz="1350" b="0">
                          <a:solidFill>
                            <a:srgbClr val="14272E"/>
                          </a:solidFill>
                          <a:latin typeface="Arial"/>
                          <a:ea typeface="Arial"/>
                          <a:cs typeface="Arial"/>
                        </a:rPr>
                        <a:t>1,526 / 1,826</a:t>
                      </a:r>
                    </a:p>
                  </a:txBody>
                  <a:tcPr marL="91440" marR="91440" marT="45720" marB="45720">
                    <a:solidFill>
                      <a:srgbClr val="FFFFFF"/>
                    </a:solidFill>
                  </a:tcPr>
                </a:tc>
              </a:tr>
              <a:tr h="542925">
                <a:tc>
                  <a:txBody>
                    <a:bodyPr/>
                    <a:lstStyle/>
                    <a:p>
                      <a:r>
                        <a:rPr sz="1350" b="0">
                          <a:solidFill>
                            <a:srgbClr val="14272E"/>
                          </a:solidFill>
                          <a:latin typeface="Arial"/>
                          <a:ea typeface="Arial"/>
                          <a:cs typeface="Arial"/>
                        </a:rPr>
                        <a:t>CAMS modeled PM10</a:t>
                      </a:r>
                    </a:p>
                  </a:txBody>
                  <a:tcPr marL="91440" marR="91440" marT="45720" marB="45720">
                    <a:solidFill>
                      <a:srgbClr val="EFF3F3"/>
                    </a:solidFill>
                  </a:tcPr>
                </a:tc>
                <a:tc>
                  <a:txBody>
                    <a:bodyPr/>
                    <a:lstStyle/>
                    <a:p>
                      <a:r>
                        <a:rPr sz="1350" b="0">
                          <a:solidFill>
                            <a:srgbClr val="14272E"/>
                          </a:solidFill>
                          <a:latin typeface="Arial"/>
                          <a:ea typeface="Arial"/>
                          <a:cs typeface="Arial"/>
                        </a:rPr>
                        <a:t>9 Oct 2021 - 8 Oct 2026</a:t>
                      </a:r>
                    </a:p>
                  </a:txBody>
                  <a:tcPr marL="91440" marR="91440" marT="45720" marB="45720">
                    <a:solidFill>
                      <a:srgbClr val="EFF3F3"/>
                    </a:solidFill>
                  </a:tcPr>
                </a:tc>
                <a:tc>
                  <a:txBody>
                    <a:bodyPr/>
                    <a:lstStyle/>
                    <a:p>
                      <a:r>
                        <a:rPr sz="1350" b="0">
                          <a:solidFill>
                            <a:srgbClr val="14272E"/>
                          </a:solidFill>
                          <a:latin typeface="Arial"/>
                          <a:ea typeface="Arial"/>
                          <a:cs typeface="Arial"/>
                        </a:rPr>
                        <a:t>1,526 / 1,826</a:t>
                      </a:r>
                    </a:p>
                  </a:txBody>
                  <a:tcPr marL="91440" marR="91440" marT="45720" marB="45720">
                    <a:solidFill>
                      <a:srgbClr val="EFF3F3"/>
                    </a:solidFill>
                  </a:tcPr>
                </a:tc>
              </a:tr>
              <a:tr h="542925">
                <a:tc>
                  <a:txBody>
                    <a:bodyPr/>
                    <a:lstStyle/>
                    <a:p>
                      <a:r>
                        <a:rPr sz="1350" b="0">
                          <a:solidFill>
                            <a:srgbClr val="14272E"/>
                          </a:solidFill>
                          <a:latin typeface="Arial"/>
                          <a:ea typeface="Arial"/>
                          <a:cs typeface="Arial"/>
                        </a:rPr>
                        <a:t>R.K. Puram PM2.5</a:t>
                      </a:r>
                    </a:p>
                  </a:txBody>
                  <a:tcPr marL="91440" marR="91440" marT="45720" marB="45720">
                    <a:solidFill>
                      <a:srgbClr val="FFFFFF"/>
                    </a:solidFill>
                  </a:tcPr>
                </a:tc>
                <a:tc>
                  <a:txBody>
                    <a:bodyPr/>
                    <a:lstStyle/>
                    <a:p>
                      <a:r>
                        <a:rPr sz="1350" b="0">
                          <a:solidFill>
                            <a:srgbClr val="14272E"/>
                          </a:solidFill>
                          <a:latin typeface="Arial"/>
                          <a:ea typeface="Arial"/>
                          <a:cs typeface="Arial"/>
                        </a:rPr>
                        <a:t>6 Oct 2021 - 5 Oct 2026</a:t>
                      </a:r>
                    </a:p>
                  </a:txBody>
                  <a:tcPr marL="91440" marR="91440" marT="45720" marB="45720">
                    <a:solidFill>
                      <a:srgbClr val="FFFFFF"/>
                    </a:solidFill>
                  </a:tcPr>
                </a:tc>
                <a:tc>
                  <a:txBody>
                    <a:bodyPr/>
                    <a:lstStyle/>
                    <a:p>
                      <a:r>
                        <a:rPr sz="1350" b="0">
                          <a:solidFill>
                            <a:srgbClr val="14272E"/>
                          </a:solidFill>
                          <a:latin typeface="Arial"/>
                          <a:ea typeface="Arial"/>
                          <a:cs typeface="Arial"/>
                        </a:rPr>
                        <a:t>1,610 / 1,826</a:t>
                      </a:r>
                    </a:p>
                  </a:txBody>
                  <a:tcPr marL="91440" marR="91440" marT="45720" marB="45720">
                    <a:solidFill>
                      <a:srgbClr val="FFFFFF"/>
                    </a:solidFill>
                  </a:tcPr>
                </a:tc>
              </a:tr>
              <a:tr h="542925">
                <a:tc>
                  <a:txBody>
                    <a:bodyPr/>
                    <a:lstStyle/>
                    <a:p>
                      <a:r>
                        <a:rPr sz="1350" b="0">
                          <a:solidFill>
                            <a:srgbClr val="14272E"/>
                          </a:solidFill>
                          <a:latin typeface="Arial"/>
                          <a:ea typeface="Arial"/>
                          <a:cs typeface="Arial"/>
                        </a:rPr>
                        <a:t>R.K. Puram PM10</a:t>
                      </a:r>
                    </a:p>
                  </a:txBody>
                  <a:tcPr marL="91440" marR="91440" marT="45720" marB="45720">
                    <a:solidFill>
                      <a:srgbClr val="EFF3F3"/>
                    </a:solidFill>
                  </a:tcPr>
                </a:tc>
                <a:tc>
                  <a:txBody>
                    <a:bodyPr/>
                    <a:lstStyle/>
                    <a:p>
                      <a:r>
                        <a:rPr sz="1350" b="0">
                          <a:solidFill>
                            <a:srgbClr val="14272E"/>
                          </a:solidFill>
                          <a:latin typeface="Arial"/>
                          <a:ea typeface="Arial"/>
                          <a:cs typeface="Arial"/>
                        </a:rPr>
                        <a:t>6 Oct 2021 - 5 Oct 2026</a:t>
                      </a:r>
                    </a:p>
                  </a:txBody>
                  <a:tcPr marL="91440" marR="91440" marT="45720" marB="45720">
                    <a:solidFill>
                      <a:srgbClr val="EFF3F3"/>
                    </a:solidFill>
                  </a:tcPr>
                </a:tc>
                <a:tc>
                  <a:txBody>
                    <a:bodyPr/>
                    <a:lstStyle/>
                    <a:p>
                      <a:r>
                        <a:rPr sz="1350" b="0">
                          <a:solidFill>
                            <a:srgbClr val="14272E"/>
                          </a:solidFill>
                          <a:latin typeface="Arial"/>
                          <a:ea typeface="Arial"/>
                          <a:cs typeface="Arial"/>
                        </a:rPr>
                        <a:t>1,594 / 1,826</a:t>
                      </a:r>
                    </a:p>
                  </a:txBody>
                  <a:tcPr marL="91440" marR="91440" marT="45720" marB="45720">
                    <a:solidFill>
                      <a:srgbClr val="EFF3F3"/>
                    </a:solidFill>
                  </a:tcPr>
                </a:tc>
              </a:tr>
            </a:tbl>
          </a:graphicData>
        </a:graphic>
      </p:graphicFrame>
      <p:sp>
        <p:nvSpPr>
          <p:cNvPr id="5" name="">
            <a:extLst xmlns:a="http://schemas.openxmlformats.org/drawingml/2006/main">
              <a:ext uri="{FF2B5EF4-FFF2-40B4-BE49-F238E27FC236}">
                <a16:creationId xmlns:a16="http://schemas.microsoft.com/office/drawing/2014/main" id="{8AE7D995-B9F6-4F35-B95B-684F34481286}"/>
              </a:ext>
            </a:extLst>
          </p:cNvPr>
          <p:cNvSpPr>
            <a:spLocks xmlns:a="http://schemas.openxmlformats.org/drawingml/2006/main" noGrp="1"/>
          </p:cNvSpPr>
          <p:nvPr/>
        </p:nvSpPr>
        <p:spPr>
          <a:xfrm xmlns:a="http://schemas.openxmlformats.org/drawingml/2006/main">
            <a:off x="781050" y="5353050"/>
            <a:ext cx="1047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3656B"/>
                </a:solidFill>
                <a:latin typeface="Arial"/>
                <a:ea typeface="Arial"/>
                <a:cs typeface="Arial"/>
              </a:defRPr>
            </a:defPPr>
          </a:lstStyle>
          <a:p xmlns:a="http://schemas.openxmlformats.org/drawingml/2006/main">
            <a:pPr>
              <a:defRPr sz="1500" b="0">
                <a:solidFill>
                  <a:srgbClr val="53656B"/>
                </a:solidFill>
                <a:latin typeface="Arial"/>
                <a:ea typeface="Arial"/>
                <a:cs typeface="Arial"/>
              </a:defRPr>
            </a:pPr>
            <a:r>
              <a:rPr sz="1500" b="0">
                <a:solidFill>
                  <a:srgbClr val="53656B"/>
                </a:solidFill>
                <a:latin typeface="Arial"/>
                <a:ea typeface="Arial"/>
                <a:cs typeface="Arial"/>
              </a:rPr>
              <a:t>CAMS is modeled atmospheric output. R.K. Puram is a station observation series.</a:t>
            </a:r>
          </a:p>
        </p:txBody>
      </p:sp>
    </p:spTree>
    <p:extLst>
      <p:ext uri="{BB962C8B-B14F-4D97-AF65-F5344CB8AC3E}">
        <p14:creationId xmlns:p14="http://schemas.microsoft.com/office/powerpoint/2010/main" val="2018198851"/>
      </p:ext>
    </p:extLst>
  </p:cSld>
</p:sld>
</file>

<file path=ppt/slides/slide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1D40E9-2531-4A8B-82B0-E7D80A6C1C2C}"/>
              </a:ext>
            </a:extLst>
          </p:cNvPr>
          <p:cNvSpPr>
            <a:spLocks xmlns:a="http://schemas.openxmlformats.org/drawingml/2006/main" noGrp="1"/>
          </p:cNvSpPr>
          <p:nvPr/>
        </p:nvSpPr>
        <p:spPr>
          <a:xfrm xmlns:a="http://schemas.openxmlformats.org/drawingml/2006/main">
            <a:off x="723900" y="5143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14272E"/>
                </a:solidFill>
                <a:latin typeface="Arial"/>
                <a:ea typeface="Arial"/>
                <a:cs typeface="Arial"/>
              </a:defRPr>
            </a:defPPr>
          </a:lstStyle>
          <a:p xmlns:a="http://schemas.openxmlformats.org/drawingml/2006/main">
            <a:pPr>
              <a:defRPr sz="2700" b="1">
                <a:solidFill>
                  <a:srgbClr val="14272E"/>
                </a:solidFill>
                <a:latin typeface="Arial"/>
                <a:ea typeface="Arial"/>
                <a:cs typeface="Arial"/>
              </a:defRPr>
            </a:pPr>
            <a:r>
              <a:rPr sz="2700" b="1">
                <a:solidFill>
                  <a:srgbClr val="14272E"/>
                </a:solidFill>
                <a:latin typeface="Arial"/>
                <a:ea typeface="Arial"/>
                <a:cs typeface="Arial"/>
              </a:rPr>
              <a:t>Station sources pass the overlap gate</a:t>
            </a:r>
          </a:p>
        </p:txBody>
      </p:sp>
      <p:sp>
        <p:nvSpPr>
          <p:cNvPr id="2" name="">
            <a:extLst xmlns:a="http://schemas.openxmlformats.org/drawingml/2006/main">
              <a:ext uri="{FF2B5EF4-FFF2-40B4-BE49-F238E27FC236}">
                <a16:creationId xmlns:a16="http://schemas.microsoft.com/office/drawing/2014/main" id="{953B6E25-489E-4C44-86B3-679F6C7A3A96}"/>
              </a:ext>
            </a:extLst>
          </p:cNvPr>
          <p:cNvSpPr>
            <a:spLocks xmlns:a="http://schemas.openxmlformats.org/drawingml/2006/main" noGrp="1"/>
          </p:cNvSpPr>
          <p:nvPr/>
        </p:nvSpPr>
        <p:spPr>
          <a:xfrm xmlns:a="http://schemas.openxmlformats.org/drawingml/2006/main">
            <a:off x="742950" y="1304925"/>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56B"/>
                </a:solidFill>
                <a:latin typeface="Arial"/>
                <a:ea typeface="Arial"/>
                <a:cs typeface="Arial"/>
              </a:defRPr>
            </a:defPPr>
          </a:lstStyle>
          <a:p xmlns:a="http://schemas.openxmlformats.org/drawingml/2006/main">
            <a:pPr>
              <a:defRPr sz="1350" b="0">
                <a:solidFill>
                  <a:srgbClr val="53656B"/>
                </a:solidFill>
                <a:latin typeface="Arial"/>
                <a:ea typeface="Arial"/>
                <a:cs typeface="Arial"/>
              </a:defRPr>
            </a:pPr>
            <a:r>
              <a:rPr sz="1350" b="0">
                <a:solidFill>
                  <a:srgbClr val="53656B"/>
                </a:solidFill>
                <a:latin typeface="Arial"/>
                <a:ea typeface="Arial"/>
                <a:cs typeface="Arial"/>
              </a:rPr>
              <a:t>Matched local hours from XKDR and OpenAQ, February to September 2025</a:t>
            </a:r>
          </a:p>
        </p:txBody>
      </p:sp>
      <p:sp>
        <p:nvSpPr>
          <p:cNvPr id="3" name="">
            <a:extLst xmlns:a="http://schemas.openxmlformats.org/drawingml/2006/main">
              <a:ext uri="{FF2B5EF4-FFF2-40B4-BE49-F238E27FC236}">
                <a16:creationId xmlns:a16="http://schemas.microsoft.com/office/drawing/2014/main" id="{71DFA387-7472-42AA-9F2B-23E40279F9CF}"/>
              </a:ext>
            </a:extLst>
          </p:cNvPr>
          <p:cNvSpPr>
            <a:spLocks xmlns:a="http://schemas.openxmlformats.org/drawingml/2006/main" noGrp="1"/>
          </p:cNvSpPr>
          <p:nvPr/>
        </p:nvSpPr>
        <p:spPr>
          <a:xfrm xmlns:a="http://schemas.openxmlformats.org/drawingml/2006/main">
            <a:off x="11115675" y="62865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56B"/>
                </a:solidFill>
                <a:latin typeface="Arial"/>
                <a:ea typeface="Arial"/>
                <a:cs typeface="Arial"/>
              </a:defRPr>
            </a:defPPr>
          </a:lstStyle>
          <a:p xmlns:a="http://schemas.openxmlformats.org/drawingml/2006/main">
            <a:pPr>
              <a:defRPr sz="1050" b="0">
                <a:solidFill>
                  <a:srgbClr val="53656B"/>
                </a:solidFill>
                <a:latin typeface="Arial"/>
                <a:ea typeface="Arial"/>
                <a:cs typeface="Arial"/>
              </a:defRPr>
            </a:pPr>
            <a:r>
              <a:rPr sz="1050" b="0">
                <a:solidFill>
                  <a:srgbClr val="53656B"/>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CABC746E-7E04-4063-8779-70E7A9F19690}"/>
              </a:ext>
            </a:extLst>
          </p:cNvPr>
          <p:cNvSpPr>
            <a:spLocks xmlns:a="http://schemas.openxmlformats.org/drawingml/2006/main" noGrp="1"/>
          </p:cNvSpPr>
          <p:nvPr/>
        </p:nvSpPr>
        <p:spPr>
          <a:xfrm xmlns:a="http://schemas.openxmlformats.org/drawingml/2006/main">
            <a:off x="762000" y="2209800"/>
            <a:ext cx="323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275" b="1">
                <a:solidFill>
                  <a:srgbClr val="14272E"/>
                </a:solidFill>
                <a:latin typeface="Arial"/>
                <a:ea typeface="Arial"/>
                <a:cs typeface="Arial"/>
              </a:defRPr>
            </a:defPPr>
          </a:lstStyle>
          <a:p xmlns:a="http://schemas.openxmlformats.org/drawingml/2006/main">
            <a:pPr>
              <a:defRPr sz="4275" b="1">
                <a:solidFill>
                  <a:srgbClr val="14272E"/>
                </a:solidFill>
                <a:latin typeface="Arial"/>
                <a:ea typeface="Arial"/>
                <a:cs typeface="Arial"/>
              </a:defRPr>
            </a:pPr>
            <a:r>
              <a:rPr sz="4275" b="1">
                <a:solidFill>
                  <a:srgbClr val="14272E"/>
                </a:solidFill>
                <a:latin typeface="Arial"/>
                <a:ea typeface="Arial"/>
                <a:cs typeface="Arial"/>
              </a:rPr>
              <a:t>6,167</a:t>
            </a:r>
          </a:p>
        </p:txBody>
      </p:sp>
      <p:sp>
        <p:nvSpPr>
          <p:cNvPr id="5" name="">
            <a:extLst xmlns:a="http://schemas.openxmlformats.org/drawingml/2006/main">
              <a:ext uri="{FF2B5EF4-FFF2-40B4-BE49-F238E27FC236}">
                <a16:creationId xmlns:a16="http://schemas.microsoft.com/office/drawing/2014/main" id="{B57113FD-57E1-4394-A1B6-7CCAC3AF656B}"/>
              </a:ext>
            </a:extLst>
          </p:cNvPr>
          <p:cNvSpPr>
            <a:spLocks xmlns:a="http://schemas.openxmlformats.org/drawingml/2006/main" noGrp="1"/>
          </p:cNvSpPr>
          <p:nvPr/>
        </p:nvSpPr>
        <p:spPr>
          <a:xfrm xmlns:a="http://schemas.openxmlformats.org/drawingml/2006/main">
            <a:off x="762000" y="299085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53656B"/>
                </a:solidFill>
                <a:latin typeface="Arial"/>
                <a:ea typeface="Arial"/>
                <a:cs typeface="Arial"/>
              </a:defRPr>
            </a:defPPr>
          </a:lstStyle>
          <a:p xmlns:a="http://schemas.openxmlformats.org/drawingml/2006/main">
            <a:pPr>
              <a:defRPr sz="1650" b="0">
                <a:solidFill>
                  <a:srgbClr val="53656B"/>
                </a:solidFill>
                <a:latin typeface="Arial"/>
                <a:ea typeface="Arial"/>
                <a:cs typeface="Arial"/>
              </a:defRPr>
            </a:pPr>
            <a:r>
              <a:rPr sz="1650" b="0">
                <a:solidFill>
                  <a:srgbClr val="53656B"/>
                </a:solidFill>
                <a:latin typeface="Arial"/>
                <a:ea typeface="Arial"/>
                <a:cs typeface="Arial"/>
              </a:rPr>
              <a:t>matched hours</a:t>
            </a:r>
          </a:p>
        </p:txBody>
      </p:sp>
      <p:sp>
        <p:nvSpPr>
          <p:cNvPr id="6" name="">
            <a:extLst xmlns:a="http://schemas.openxmlformats.org/drawingml/2006/main">
              <a:ext uri="{FF2B5EF4-FFF2-40B4-BE49-F238E27FC236}">
                <a16:creationId xmlns:a16="http://schemas.microsoft.com/office/drawing/2014/main" id="{05DA066C-D0EB-4E31-BD0B-2102DAB856B6}"/>
              </a:ext>
            </a:extLst>
          </p:cNvPr>
          <p:cNvSpPr>
            <a:spLocks xmlns:a="http://schemas.openxmlformats.org/drawingml/2006/main" noGrp="1"/>
          </p:cNvSpPr>
          <p:nvPr/>
        </p:nvSpPr>
        <p:spPr>
          <a:xfrm xmlns:a="http://schemas.openxmlformats.org/drawingml/2006/main">
            <a:off x="762000" y="4010025"/>
            <a:ext cx="3238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275" b="1">
                <a:solidFill>
                  <a:srgbClr val="0C8582"/>
                </a:solidFill>
                <a:latin typeface="Arial"/>
                <a:ea typeface="Arial"/>
                <a:cs typeface="Arial"/>
              </a:defRPr>
            </a:defPPr>
          </a:lstStyle>
          <a:p xmlns:a="http://schemas.openxmlformats.org/drawingml/2006/main">
            <a:pPr>
              <a:defRPr sz="4275" b="1">
                <a:solidFill>
                  <a:srgbClr val="0C8582"/>
                </a:solidFill>
                <a:latin typeface="Arial"/>
                <a:ea typeface="Arial"/>
                <a:cs typeface="Arial"/>
              </a:defRPr>
            </a:pPr>
            <a:r>
              <a:rPr sz="4275" b="1">
                <a:solidFill>
                  <a:srgbClr val="0C8582"/>
                </a:solidFill>
                <a:latin typeface="Arial"/>
                <a:ea typeface="Arial"/>
                <a:cs typeface="Arial"/>
              </a:rPr>
              <a:t>95%</a:t>
            </a:r>
          </a:p>
        </p:txBody>
      </p:sp>
      <p:sp>
        <p:nvSpPr>
          <p:cNvPr id="7" name="">
            <a:extLst xmlns:a="http://schemas.openxmlformats.org/drawingml/2006/main">
              <a:ext uri="{FF2B5EF4-FFF2-40B4-BE49-F238E27FC236}">
                <a16:creationId xmlns:a16="http://schemas.microsoft.com/office/drawing/2014/main" id="{1C3E35F9-8D0B-4D79-851A-21F2BC6ED0B7}"/>
              </a:ext>
            </a:extLst>
          </p:cNvPr>
          <p:cNvSpPr>
            <a:spLocks xmlns:a="http://schemas.openxmlformats.org/drawingml/2006/main" noGrp="1"/>
          </p:cNvSpPr>
          <p:nvPr/>
        </p:nvSpPr>
        <p:spPr>
          <a:xfrm xmlns:a="http://schemas.openxmlformats.org/drawingml/2006/main">
            <a:off x="762000" y="482917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53656B"/>
                </a:solidFill>
                <a:latin typeface="Arial"/>
                <a:ea typeface="Arial"/>
                <a:cs typeface="Arial"/>
              </a:defRPr>
            </a:defPPr>
          </a:lstStyle>
          <a:p xmlns:a="http://schemas.openxmlformats.org/drawingml/2006/main">
            <a:pPr>
              <a:defRPr sz="1575" b="0">
                <a:solidFill>
                  <a:srgbClr val="53656B"/>
                </a:solidFill>
                <a:latin typeface="Arial"/>
                <a:ea typeface="Arial"/>
                <a:cs typeface="Arial"/>
              </a:defRPr>
            </a:pPr>
            <a:r>
              <a:rPr sz="1575" b="0">
                <a:solidFill>
                  <a:srgbClr val="53656B"/>
                </a:solidFill>
                <a:latin typeface="Arial"/>
                <a:ea typeface="Arial"/>
                <a:cs typeface="Arial"/>
              </a:rPr>
              <a:t>preset agreement gate</a:t>
            </a:r>
          </a:p>
        </p:txBody>
      </p:sp>
      <p:sp>
        <p:nvSpPr>
          <p:cNvPr id="8" name="">
            <a:extLst xmlns:a="http://schemas.openxmlformats.org/drawingml/2006/main">
              <a:ext uri="{FF2B5EF4-FFF2-40B4-BE49-F238E27FC236}">
                <a16:creationId xmlns:a16="http://schemas.microsoft.com/office/drawing/2014/main" id="{420AB82A-A3B3-431F-87DE-8208F65B457C}"/>
              </a:ext>
            </a:extLst>
          </p:cNvPr>
          <p:cNvSpPr>
            <a:spLocks xmlns:a="http://schemas.openxmlformats.org/drawingml/2006/main" noGrp="1"/>
          </p:cNvSpPr>
          <p:nvPr/>
        </p:nvSpPr>
        <p:spPr>
          <a:xfrm xmlns:a="http://schemas.openxmlformats.org/drawingml/2006/main">
            <a:off x="4476750" y="1933575"/>
            <a:ext cx="647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3656B"/>
                </a:solidFill>
                <a:latin typeface="Arial"/>
                <a:ea typeface="Arial"/>
                <a:cs typeface="Arial"/>
              </a:defRPr>
            </a:defPPr>
          </a:lstStyle>
          <a:p xmlns:a="http://schemas.openxmlformats.org/drawingml/2006/main">
            <a:pPr>
              <a:defRPr sz="1275" b="0">
                <a:solidFill>
                  <a:srgbClr val="53656B"/>
                </a:solidFill>
                <a:latin typeface="Arial"/>
                <a:ea typeface="Arial"/>
                <a:cs typeface="Arial"/>
              </a:defRPr>
            </a:pPr>
            <a:r>
              <a:rPr sz="1275" b="0">
                <a:solidFill>
                  <a:srgbClr val="53656B"/>
                </a:solidFill>
                <a:latin typeface="Arial"/>
                <a:ea typeface="Arial"/>
                <a:cs typeface="Arial"/>
              </a:rPr>
              <a:t>Matched readings within 1 ug/m3 (%)</a:t>
            </a:r>
          </a:p>
        </p:txBody>
      </p:sp>
      <p:graphicFrame>
        <p:nvGraphicFramePr>
          <p:cNvPr id="9" name="Chart">
            <a:extLst xmlns:a="http://schemas.openxmlformats.org/drawingml/2006/main">
              <a:ext uri="{FF2B5EF4-FFF2-40B4-BE49-F238E27FC236}">
                <a16:creationId xmlns:a16="http://schemas.microsoft.com/office/drawing/2014/main" id="{5C0A8720-C72F-492A-A3A5-3F9650F6CCB8}"/>
              </a:ext>
            </a:extLst>
          </p:cNvPr>
          <p:cNvGraphicFramePr/>
          <p:nvPr/>
        </p:nvGraphicFramePr>
        <p:xfrm>
          <a:off xmlns:a="http://schemas.openxmlformats.org/drawingml/2006/main" x="4333875" y="2305050"/>
          <a:ext xmlns:a="http://schemas.openxmlformats.org/drawingml/2006/main" cx="6762750" cy="3143250"/>
        </p:xfrm>
        <a:graphic xmlns:a="http://schemas.openxmlformats.org/drawingml/2006/main">
          <a:graphicData uri="http://schemas.openxmlformats.org/drawingml/2006/chart">
            <c:chart xmlns:r="http://schemas.openxmlformats.org/officeDocument/2006/relationships" xmlns:c="http://schemas.openxmlformats.org/drawingml/2006/chart" r:id="R551e497035a749be"/>
          </a:graphicData>
        </a:graphic>
      </p:graphicFrame>
      <p:sp>
        <p:nvSpPr>
          <p:cNvPr id="10" name="">
            <a:extLst xmlns:a="http://schemas.openxmlformats.org/drawingml/2006/main">
              <a:ext uri="{FF2B5EF4-FFF2-40B4-BE49-F238E27FC236}">
                <a16:creationId xmlns:a16="http://schemas.microsoft.com/office/drawing/2014/main" id="{BCE2EBC1-2321-4B78-AF8B-5033675D8D63}"/>
              </a:ext>
            </a:extLst>
          </p:cNvPr>
          <p:cNvSpPr>
            <a:spLocks xmlns:a="http://schemas.openxmlformats.org/drawingml/2006/main" noGrp="1"/>
          </p:cNvSpPr>
          <p:nvPr/>
        </p:nvSpPr>
        <p:spPr>
          <a:xfrm xmlns:a="http://schemas.openxmlformats.org/drawingml/2006/main">
            <a:off x="781050" y="5810250"/>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56B"/>
                </a:solidFill>
                <a:latin typeface="Arial"/>
                <a:ea typeface="Arial"/>
                <a:cs typeface="Arial"/>
              </a:defRPr>
            </a:defPPr>
          </a:lstStyle>
          <a:p xmlns:a="http://schemas.openxmlformats.org/drawingml/2006/main">
            <a:pPr>
              <a:defRPr sz="1350" b="0">
                <a:solidFill>
                  <a:srgbClr val="53656B"/>
                </a:solidFill>
                <a:latin typeface="Arial"/>
                <a:ea typeface="Arial"/>
                <a:cs typeface="Arial"/>
              </a:defRPr>
            </a:pPr>
            <a:r>
              <a:rPr sz="1350" b="0">
                <a:solidFill>
                  <a:srgbClr val="53656B"/>
                </a:solidFill>
                <a:latin typeface="Arial"/>
                <a:ea typeface="Arial"/>
                <a:cs typeface="Arial"/>
              </a:rPr>
              <a:t>Median signed difference: 0.0 ug/m3 for both pollutants.</a:t>
            </a:r>
          </a:p>
        </p:txBody>
      </p:sp>
    </p:spTree>
    <p:extLst>
      <p:ext uri="{BB962C8B-B14F-4D97-AF65-F5344CB8AC3E}">
        <p14:creationId xmlns:p14="http://schemas.microsoft.com/office/powerpoint/2010/main" val="1608864247"/>
      </p:ext>
    </p:extLst>
  </p:cSld>
</p:sld>
</file>

<file path=ppt/slides/slide5.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48B7783-755A-4405-8664-A6087E484442}"/>
              </a:ext>
            </a:extLst>
          </p:cNvPr>
          <p:cNvSpPr>
            <a:spLocks xmlns:a="http://schemas.openxmlformats.org/drawingml/2006/main" noGrp="1"/>
          </p:cNvSpPr>
          <p:nvPr/>
        </p:nvSpPr>
        <p:spPr>
          <a:xfrm xmlns:a="http://schemas.openxmlformats.org/drawingml/2006/main">
            <a:off x="723900" y="5143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14272E"/>
                </a:solidFill>
                <a:latin typeface="Arial"/>
                <a:ea typeface="Arial"/>
                <a:cs typeface="Arial"/>
              </a:defRPr>
            </a:defPPr>
          </a:lstStyle>
          <a:p xmlns:a="http://schemas.openxmlformats.org/drawingml/2006/main">
            <a:pPr>
              <a:defRPr sz="2700" b="1">
                <a:solidFill>
                  <a:srgbClr val="14272E"/>
                </a:solidFill>
                <a:latin typeface="Arial"/>
                <a:ea typeface="Arial"/>
                <a:cs typeface="Arial"/>
              </a:defRPr>
            </a:pPr>
            <a:r>
              <a:rPr sz="2700" b="1">
                <a:solidFill>
                  <a:srgbClr val="14272E"/>
                </a:solidFill>
                <a:latin typeface="Arial"/>
                <a:ea typeface="Arial"/>
                <a:cs typeface="Arial"/>
              </a:rPr>
              <a:t>Date-aware features and simple comparators</a:t>
            </a:r>
          </a:p>
        </p:txBody>
      </p:sp>
      <p:sp>
        <p:nvSpPr>
          <p:cNvPr id="2" name="">
            <a:extLst xmlns:a="http://schemas.openxmlformats.org/drawingml/2006/main">
              <a:ext uri="{FF2B5EF4-FFF2-40B4-BE49-F238E27FC236}">
                <a16:creationId xmlns:a16="http://schemas.microsoft.com/office/drawing/2014/main" id="{6991EE9F-1766-43BB-AE91-01D404DE301E}"/>
              </a:ext>
            </a:extLst>
          </p:cNvPr>
          <p:cNvSpPr>
            <a:spLocks xmlns:a="http://schemas.openxmlformats.org/drawingml/2006/main" noGrp="1"/>
          </p:cNvSpPr>
          <p:nvPr/>
        </p:nvSpPr>
        <p:spPr>
          <a:xfrm xmlns:a="http://schemas.openxmlformats.org/drawingml/2006/main">
            <a:off x="11115675" y="62865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56B"/>
                </a:solidFill>
                <a:latin typeface="Arial"/>
                <a:ea typeface="Arial"/>
                <a:cs typeface="Arial"/>
              </a:defRPr>
            </a:defPPr>
          </a:lstStyle>
          <a:p xmlns:a="http://schemas.openxmlformats.org/drawingml/2006/main">
            <a:pPr>
              <a:defRPr sz="1050" b="0">
                <a:solidFill>
                  <a:srgbClr val="53656B"/>
                </a:solidFill>
                <a:latin typeface="Arial"/>
                <a:ea typeface="Arial"/>
                <a:cs typeface="Arial"/>
              </a:defRPr>
            </a:pPr>
            <a:r>
              <a:rPr sz="1050" b="0">
                <a:solidFill>
                  <a:srgbClr val="53656B"/>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FC39780C-C14F-4815-AE53-6B8E1E06C278}"/>
              </a:ext>
            </a:extLst>
          </p:cNvPr>
          <p:cNvSpPr>
            <a:spLocks xmlns:a="http://schemas.openxmlformats.org/drawingml/2006/main" noGrp="1"/>
          </p:cNvSpPr>
          <p:nvPr/>
        </p:nvSpPr>
        <p:spPr>
          <a:xfrm xmlns:a="http://schemas.openxmlformats.org/drawingml/2006/main">
            <a:off x="781050" y="185737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C8582"/>
                </a:solidFill>
                <a:latin typeface="Arial"/>
                <a:ea typeface="Arial"/>
                <a:cs typeface="Arial"/>
              </a:defRPr>
            </a:defPPr>
          </a:lstStyle>
          <a:p xmlns:a="http://schemas.openxmlformats.org/drawingml/2006/main">
            <a:pPr>
              <a:defRPr sz="1875" b="1">
                <a:solidFill>
                  <a:srgbClr val="0C8582"/>
                </a:solidFill>
                <a:latin typeface="Arial"/>
                <a:ea typeface="Arial"/>
                <a:cs typeface="Arial"/>
              </a:defRPr>
            </a:pPr>
            <a:r>
              <a:rPr sz="1875" b="1">
                <a:solidFill>
                  <a:srgbClr val="0C8582"/>
                </a:solidFill>
                <a:latin typeface="Arial"/>
                <a:ea typeface="Arial"/>
                <a:cs typeface="Arial"/>
              </a:rPr>
              <a:t>Weather</a:t>
            </a:r>
          </a:p>
        </p:txBody>
      </p:sp>
      <p:sp>
        <p:nvSpPr>
          <p:cNvPr id="4" name="">
            <a:extLst xmlns:a="http://schemas.openxmlformats.org/drawingml/2006/main">
              <a:ext uri="{FF2B5EF4-FFF2-40B4-BE49-F238E27FC236}">
                <a16:creationId xmlns:a16="http://schemas.microsoft.com/office/drawing/2014/main" id="{DF477E43-DFFD-4A85-9DA5-A5A46F4546A5}"/>
              </a:ext>
            </a:extLst>
          </p:cNvPr>
          <p:cNvSpPr>
            <a:spLocks xmlns:a="http://schemas.openxmlformats.org/drawingml/2006/main" noGrp="1"/>
          </p:cNvSpPr>
          <p:nvPr/>
        </p:nvSpPr>
        <p:spPr>
          <a:xfrm xmlns:a="http://schemas.openxmlformats.org/drawingml/2006/main">
            <a:off x="781050" y="2362200"/>
            <a:ext cx="2952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4272E"/>
                </a:solidFill>
                <a:latin typeface="Arial"/>
                <a:ea typeface="Arial"/>
                <a:cs typeface="Arial"/>
              </a:defRPr>
            </a:defPPr>
          </a:lstStyle>
          <a:p xmlns:a="http://schemas.openxmlformats.org/drawingml/2006/main">
            <a:pPr>
              <a:defRPr sz="1575" b="0">
                <a:solidFill>
                  <a:srgbClr val="14272E"/>
                </a:solidFill>
                <a:latin typeface="Arial"/>
                <a:ea typeface="Arial"/>
                <a:cs typeface="Arial"/>
              </a:defRPr>
            </a:pPr>
            <a:r>
              <a:rPr sz="1575" b="0">
                <a:solidFill>
                  <a:srgbClr val="14272E"/>
                </a:solidFill>
                <a:latin typeface="Arial"/>
                <a:ea typeface="Arial"/>
                <a:cs typeface="Arial"/>
              </a:rPr>
              <a:t>Temperature, humidity, wind, rain, pressure, cloud cover, gusts and boundary-layer height</a:t>
            </a:r>
          </a:p>
        </p:txBody>
      </p:sp>
      <p:sp>
        <p:nvSpPr>
          <p:cNvPr id="5" name="">
            <a:extLst xmlns:a="http://schemas.openxmlformats.org/drawingml/2006/main">
              <a:ext uri="{FF2B5EF4-FFF2-40B4-BE49-F238E27FC236}">
                <a16:creationId xmlns:a16="http://schemas.microsoft.com/office/drawing/2014/main" id="{8ECF0EC7-1374-45E5-8B2A-65551558F5FD}"/>
              </a:ext>
            </a:extLst>
          </p:cNvPr>
          <p:cNvSpPr>
            <a:spLocks xmlns:a="http://schemas.openxmlformats.org/drawingml/2006/main" noGrp="1"/>
          </p:cNvSpPr>
          <p:nvPr/>
        </p:nvSpPr>
        <p:spPr>
          <a:xfrm xmlns:a="http://schemas.openxmlformats.org/drawingml/2006/main">
            <a:off x="4419600" y="185737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C8582"/>
                </a:solidFill>
                <a:latin typeface="Arial"/>
                <a:ea typeface="Arial"/>
                <a:cs typeface="Arial"/>
              </a:defRPr>
            </a:defPPr>
          </a:lstStyle>
          <a:p xmlns:a="http://schemas.openxmlformats.org/drawingml/2006/main">
            <a:pPr>
              <a:defRPr sz="1875" b="1">
                <a:solidFill>
                  <a:srgbClr val="0C8582"/>
                </a:solidFill>
                <a:latin typeface="Arial"/>
                <a:ea typeface="Arial"/>
                <a:cs typeface="Arial"/>
              </a:defRPr>
            </a:pPr>
            <a:r>
              <a:rPr sz="1875" b="1">
                <a:solidFill>
                  <a:srgbClr val="0C8582"/>
                </a:solidFill>
                <a:latin typeface="Arial"/>
                <a:ea typeface="Arial"/>
                <a:cs typeface="Arial"/>
              </a:rPr>
              <a:t>Pollution history</a:t>
            </a:r>
          </a:p>
        </p:txBody>
      </p:sp>
      <p:sp>
        <p:nvSpPr>
          <p:cNvPr id="6" name="">
            <a:extLst xmlns:a="http://schemas.openxmlformats.org/drawingml/2006/main">
              <a:ext uri="{FF2B5EF4-FFF2-40B4-BE49-F238E27FC236}">
                <a16:creationId xmlns:a16="http://schemas.microsoft.com/office/drawing/2014/main" id="{DE25556D-977B-41F1-A278-CB9EC8D2847A}"/>
              </a:ext>
            </a:extLst>
          </p:cNvPr>
          <p:cNvSpPr>
            <a:spLocks xmlns:a="http://schemas.openxmlformats.org/drawingml/2006/main" noGrp="1"/>
          </p:cNvSpPr>
          <p:nvPr/>
        </p:nvSpPr>
        <p:spPr>
          <a:xfrm xmlns:a="http://schemas.openxmlformats.org/drawingml/2006/main">
            <a:off x="4419600" y="2362200"/>
            <a:ext cx="2952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4272E"/>
                </a:solidFill>
                <a:latin typeface="Arial"/>
                <a:ea typeface="Arial"/>
                <a:cs typeface="Arial"/>
              </a:defRPr>
            </a:defPPr>
          </a:lstStyle>
          <a:p xmlns:a="http://schemas.openxmlformats.org/drawingml/2006/main">
            <a:pPr>
              <a:defRPr sz="1575" b="0">
                <a:solidFill>
                  <a:srgbClr val="14272E"/>
                </a:solidFill>
                <a:latin typeface="Arial"/>
                <a:ea typeface="Arial"/>
                <a:cs typeface="Arial"/>
              </a:defRPr>
            </a:pPr>
            <a:r>
              <a:rPr sz="1575" b="0">
                <a:solidFill>
                  <a:srgbClr val="14272E"/>
                </a:solidFill>
                <a:latin typeface="Arial"/>
                <a:ea typeface="Arial"/>
                <a:cs typeface="Arial"/>
              </a:rPr>
              <a:t>Exact calendar-day lags 1, 2, 3 and 7; complete prior seven-day mean</a:t>
            </a:r>
          </a:p>
        </p:txBody>
      </p:sp>
      <p:sp>
        <p:nvSpPr>
          <p:cNvPr id="7" name="">
            <a:extLst xmlns:a="http://schemas.openxmlformats.org/drawingml/2006/main">
              <a:ext uri="{FF2B5EF4-FFF2-40B4-BE49-F238E27FC236}">
                <a16:creationId xmlns:a16="http://schemas.microsoft.com/office/drawing/2014/main" id="{BC079B43-F384-4202-8DE0-514F38C56B30}"/>
              </a:ext>
            </a:extLst>
          </p:cNvPr>
          <p:cNvSpPr>
            <a:spLocks xmlns:a="http://schemas.openxmlformats.org/drawingml/2006/main" noGrp="1"/>
          </p:cNvSpPr>
          <p:nvPr/>
        </p:nvSpPr>
        <p:spPr>
          <a:xfrm xmlns:a="http://schemas.openxmlformats.org/drawingml/2006/main">
            <a:off x="8048625" y="185737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C8582"/>
                </a:solidFill>
                <a:latin typeface="Arial"/>
                <a:ea typeface="Arial"/>
                <a:cs typeface="Arial"/>
              </a:defRPr>
            </a:defPPr>
          </a:lstStyle>
          <a:p xmlns:a="http://schemas.openxmlformats.org/drawingml/2006/main">
            <a:pPr>
              <a:defRPr sz="1875" b="1">
                <a:solidFill>
                  <a:srgbClr val="0C8582"/>
                </a:solidFill>
                <a:latin typeface="Arial"/>
                <a:ea typeface="Arial"/>
                <a:cs typeface="Arial"/>
              </a:defRPr>
            </a:pPr>
            <a:r>
              <a:rPr sz="1875" b="1">
                <a:solidFill>
                  <a:srgbClr val="0C8582"/>
                </a:solidFill>
                <a:latin typeface="Arial"/>
                <a:ea typeface="Arial"/>
                <a:cs typeface="Arial"/>
              </a:rPr>
              <a:t>Calendar</a:t>
            </a:r>
          </a:p>
        </p:txBody>
      </p:sp>
      <p:sp>
        <p:nvSpPr>
          <p:cNvPr id="8" name="">
            <a:extLst xmlns:a="http://schemas.openxmlformats.org/drawingml/2006/main">
              <a:ext uri="{FF2B5EF4-FFF2-40B4-BE49-F238E27FC236}">
                <a16:creationId xmlns:a16="http://schemas.microsoft.com/office/drawing/2014/main" id="{69175D41-527F-4768-A460-5DD04F08879C}"/>
              </a:ext>
            </a:extLst>
          </p:cNvPr>
          <p:cNvSpPr>
            <a:spLocks xmlns:a="http://schemas.openxmlformats.org/drawingml/2006/main" noGrp="1"/>
          </p:cNvSpPr>
          <p:nvPr/>
        </p:nvSpPr>
        <p:spPr>
          <a:xfrm xmlns:a="http://schemas.openxmlformats.org/drawingml/2006/main">
            <a:off x="8048625" y="2362200"/>
            <a:ext cx="2857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4272E"/>
                </a:solidFill>
                <a:latin typeface="Arial"/>
                <a:ea typeface="Arial"/>
                <a:cs typeface="Arial"/>
              </a:defRPr>
            </a:defPPr>
          </a:lstStyle>
          <a:p xmlns:a="http://schemas.openxmlformats.org/drawingml/2006/main">
            <a:pPr>
              <a:defRPr sz="1575" b="0">
                <a:solidFill>
                  <a:srgbClr val="14272E"/>
                </a:solidFill>
                <a:latin typeface="Arial"/>
                <a:ea typeface="Arial"/>
                <a:cs typeface="Arial"/>
              </a:defRPr>
            </a:pPr>
            <a:r>
              <a:rPr sz="1575" b="0">
                <a:solidFill>
                  <a:srgbClr val="14272E"/>
                </a:solidFill>
                <a:latin typeface="Arial"/>
                <a:ea typeface="Arial"/>
                <a:cs typeface="Arial"/>
              </a:rPr>
              <a:t>Season, weekend, Indian public holidays and Diwali proximity</a:t>
            </a:r>
          </a:p>
        </p:txBody>
      </p:sp>
      <p:sp>
        <p:nvSpPr>
          <p:cNvPr id="9" name="">
            <a:extLst xmlns:a="http://schemas.openxmlformats.org/drawingml/2006/main">
              <a:ext uri="{FF2B5EF4-FFF2-40B4-BE49-F238E27FC236}">
                <a16:creationId xmlns:a16="http://schemas.microsoft.com/office/drawing/2014/main" id="{7EA94BA3-E775-4486-A4C2-B108D0239398}"/>
              </a:ext>
            </a:extLst>
          </p:cNvPr>
          <p:cNvSpPr>
            <a:spLocks xmlns:a="http://schemas.openxmlformats.org/drawingml/2006/main" noGrp="1"/>
          </p:cNvSpPr>
          <p:nvPr/>
        </p:nvSpPr>
        <p:spPr>
          <a:xfrm xmlns:a="http://schemas.openxmlformats.org/drawingml/2006/main">
            <a:off x="762000" y="4714875"/>
            <a:ext cx="10287000" cy="19050"/>
          </a:xfrm>
          <a:prstGeom xmlns:a="http://schemas.openxmlformats.org/drawingml/2006/main" prst="rect">
            <a:avLst/>
          </a:prstGeom>
          <a:solidFill xmlns:a="http://schemas.openxmlformats.org/drawingml/2006/main">
            <a:srgbClr val="D8E0E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F43D8A1-3008-4573-9909-8D203B965BEE}"/>
              </a:ext>
            </a:extLst>
          </p:cNvPr>
          <p:cNvSpPr>
            <a:spLocks xmlns:a="http://schemas.openxmlformats.org/drawingml/2006/main" noGrp="1"/>
          </p:cNvSpPr>
          <p:nvPr/>
        </p:nvSpPr>
        <p:spPr>
          <a:xfrm xmlns:a="http://schemas.openxmlformats.org/drawingml/2006/main">
            <a:off x="781050" y="5048250"/>
            <a:ext cx="1019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4272E"/>
                </a:solidFill>
                <a:latin typeface="Arial"/>
                <a:ea typeface="Arial"/>
                <a:cs typeface="Arial"/>
              </a:defRPr>
            </a:defPPr>
          </a:lstStyle>
          <a:p xmlns:a="http://schemas.openxmlformats.org/drawingml/2006/main">
            <a:pPr>
              <a:defRPr sz="1650" b="1">
                <a:solidFill>
                  <a:srgbClr val="14272E"/>
                </a:solidFill>
                <a:latin typeface="Arial"/>
                <a:ea typeface="Arial"/>
                <a:cs typeface="Arial"/>
              </a:defRPr>
            </a:pPr>
            <a:r>
              <a:rPr sz="1650" b="1">
                <a:solidFill>
                  <a:srgbClr val="14272E"/>
                </a:solidFill>
                <a:latin typeface="Arial"/>
                <a:ea typeface="Arial"/>
                <a:cs typeface="Arial"/>
              </a:rPr>
              <a:t>Persistence   |   Seven-day mean   |   Climatology   |   Ridge   |   Random Forest</a:t>
            </a:r>
          </a:p>
        </p:txBody>
      </p:sp>
      <p:sp>
        <p:nvSpPr>
          <p:cNvPr id="11" name="">
            <a:extLst xmlns:a="http://schemas.openxmlformats.org/drawingml/2006/main">
              <a:ext uri="{FF2B5EF4-FFF2-40B4-BE49-F238E27FC236}">
                <a16:creationId xmlns:a16="http://schemas.microsoft.com/office/drawing/2014/main" id="{866B19E2-5435-4537-B731-CECF8D908DB7}"/>
              </a:ext>
            </a:extLst>
          </p:cNvPr>
          <p:cNvSpPr>
            <a:spLocks xmlns:a="http://schemas.openxmlformats.org/drawingml/2006/main" noGrp="1"/>
          </p:cNvSpPr>
          <p:nvPr/>
        </p:nvSpPr>
        <p:spPr>
          <a:xfrm xmlns:a="http://schemas.openxmlformats.org/drawingml/2006/main">
            <a:off x="781050" y="5895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3656B"/>
                </a:solidFill>
                <a:latin typeface="Arial"/>
                <a:ea typeface="Arial"/>
                <a:cs typeface="Arial"/>
              </a:defRPr>
            </a:defPPr>
          </a:lstStyle>
          <a:p xmlns:a="http://schemas.openxmlformats.org/drawingml/2006/main">
            <a:pPr>
              <a:defRPr sz="1275" b="0">
                <a:solidFill>
                  <a:srgbClr val="53656B"/>
                </a:solidFill>
                <a:latin typeface="Arial"/>
                <a:ea typeface="Arial"/>
                <a:cs typeface="Arial"/>
              </a:defRPr>
            </a:pPr>
            <a:r>
              <a:rPr sz="1275" b="0">
                <a:solidFill>
                  <a:srgbClr val="53656B"/>
                </a:solidFill>
                <a:latin typeface="Arial"/>
                <a:ea typeface="Arial"/>
                <a:cs typeface="Arial"/>
              </a:rPr>
              <a:t>Satellite fire detections are optional research data; they are not in this five-year model.</a:t>
            </a:r>
          </a:p>
        </p:txBody>
      </p:sp>
    </p:spTree>
    <p:extLst>
      <p:ext uri="{BB962C8B-B14F-4D97-AF65-F5344CB8AC3E}">
        <p14:creationId xmlns:p14="http://schemas.microsoft.com/office/powerpoint/2010/main" val="461469560"/>
      </p:ext>
    </p:extLst>
  </p:cSld>
</p:sld>
</file>

<file path=ppt/slides/slide6.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D087042-EF65-46D4-8791-70944BE7AC98}"/>
              </a:ext>
            </a:extLst>
          </p:cNvPr>
          <p:cNvSpPr>
            <a:spLocks xmlns:a="http://schemas.openxmlformats.org/drawingml/2006/main" noGrp="1"/>
          </p:cNvSpPr>
          <p:nvPr/>
        </p:nvSpPr>
        <p:spPr>
          <a:xfrm xmlns:a="http://schemas.openxmlformats.org/drawingml/2006/main">
            <a:off x="723900" y="5143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14272E"/>
                </a:solidFill>
                <a:latin typeface="Arial"/>
                <a:ea typeface="Arial"/>
                <a:cs typeface="Arial"/>
              </a:defRPr>
            </a:defPPr>
          </a:lstStyle>
          <a:p xmlns:a="http://schemas.openxmlformats.org/drawingml/2006/main">
            <a:pPr>
              <a:defRPr sz="2700" b="1">
                <a:solidFill>
                  <a:srgbClr val="14272E"/>
                </a:solidFill>
                <a:latin typeface="Arial"/>
                <a:ea typeface="Arial"/>
                <a:cs typeface="Arial"/>
              </a:defRPr>
            </a:pPr>
            <a:r>
              <a:rPr sz="2700" b="1">
                <a:solidFill>
                  <a:srgbClr val="14272E"/>
                </a:solidFill>
                <a:latin typeface="Arial"/>
                <a:ea typeface="Arial"/>
                <a:cs typeface="Arial"/>
              </a:rPr>
              <a:t>The latest 180 days stay out of model fitting</a:t>
            </a:r>
          </a:p>
        </p:txBody>
      </p:sp>
      <p:sp>
        <p:nvSpPr>
          <p:cNvPr id="2" name="">
            <a:extLst xmlns:a="http://schemas.openxmlformats.org/drawingml/2006/main">
              <a:ext uri="{FF2B5EF4-FFF2-40B4-BE49-F238E27FC236}">
                <a16:creationId xmlns:a16="http://schemas.microsoft.com/office/drawing/2014/main" id="{35B046F8-3913-471E-9680-97B3DFCD6DB0}"/>
              </a:ext>
            </a:extLst>
          </p:cNvPr>
          <p:cNvSpPr>
            <a:spLocks xmlns:a="http://schemas.openxmlformats.org/drawingml/2006/main" noGrp="1"/>
          </p:cNvSpPr>
          <p:nvPr/>
        </p:nvSpPr>
        <p:spPr>
          <a:xfrm xmlns:a="http://schemas.openxmlformats.org/drawingml/2006/main">
            <a:off x="11115675" y="62865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56B"/>
                </a:solidFill>
                <a:latin typeface="Arial"/>
                <a:ea typeface="Arial"/>
                <a:cs typeface="Arial"/>
              </a:defRPr>
            </a:defPPr>
          </a:lstStyle>
          <a:p xmlns:a="http://schemas.openxmlformats.org/drawingml/2006/main">
            <a:pPr>
              <a:defRPr sz="1050" b="0">
                <a:solidFill>
                  <a:srgbClr val="53656B"/>
                </a:solidFill>
                <a:latin typeface="Arial"/>
                <a:ea typeface="Arial"/>
                <a:cs typeface="Arial"/>
              </a:defRPr>
            </a:pPr>
            <a:r>
              <a:rPr sz="1050" b="0">
                <a:solidFill>
                  <a:srgbClr val="53656B"/>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828F87CB-4C93-4078-A402-C4DED54EDEE2}"/>
              </a:ext>
            </a:extLst>
          </p:cNvPr>
          <p:cNvSpPr>
            <a:spLocks xmlns:a="http://schemas.openxmlformats.org/drawingml/2006/main" noGrp="1"/>
          </p:cNvSpPr>
          <p:nvPr/>
        </p:nvSpPr>
        <p:spPr>
          <a:xfrm xmlns:a="http://schemas.openxmlformats.org/drawingml/2006/main">
            <a:off x="781050" y="1933575"/>
            <a:ext cx="1047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725" b="1">
                <a:solidFill>
                  <a:srgbClr val="0C8582"/>
                </a:solidFill>
                <a:latin typeface="Arial"/>
                <a:ea typeface="Arial"/>
                <a:cs typeface="Arial"/>
              </a:defRPr>
            </a:defPPr>
          </a:lstStyle>
          <a:p xmlns:a="http://schemas.openxmlformats.org/drawingml/2006/main">
            <a:pPr>
              <a:defRPr sz="4725" b="1">
                <a:solidFill>
                  <a:srgbClr val="0C8582"/>
                </a:solidFill>
                <a:latin typeface="Arial"/>
                <a:ea typeface="Arial"/>
                <a:cs typeface="Arial"/>
              </a:defRPr>
            </a:pPr>
            <a:r>
              <a:rPr sz="4725" b="1">
                <a:solidFill>
                  <a:srgbClr val="0C8582"/>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8F527CB1-6C1B-4AF1-9B5A-D7BBF34669B8}"/>
              </a:ext>
            </a:extLst>
          </p:cNvPr>
          <p:cNvSpPr>
            <a:spLocks xmlns:a="http://schemas.openxmlformats.org/drawingml/2006/main" noGrp="1"/>
          </p:cNvSpPr>
          <p:nvPr/>
        </p:nvSpPr>
        <p:spPr>
          <a:xfrm xmlns:a="http://schemas.openxmlformats.org/drawingml/2006/main">
            <a:off x="1666875" y="2057400"/>
            <a:ext cx="742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4272E"/>
                </a:solidFill>
                <a:latin typeface="Arial"/>
                <a:ea typeface="Arial"/>
                <a:cs typeface="Arial"/>
              </a:defRPr>
            </a:defPPr>
          </a:lstStyle>
          <a:p xmlns:a="http://schemas.openxmlformats.org/drawingml/2006/main">
            <a:pPr>
              <a:defRPr sz="2025" b="1">
                <a:solidFill>
                  <a:srgbClr val="14272E"/>
                </a:solidFill>
                <a:latin typeface="Arial"/>
                <a:ea typeface="Arial"/>
                <a:cs typeface="Arial"/>
              </a:defRPr>
            </a:pPr>
            <a:r>
              <a:rPr sz="2025" b="1">
                <a:solidFill>
                  <a:srgbClr val="14272E"/>
                </a:solidFill>
                <a:latin typeface="Arial"/>
                <a:ea typeface="Arial"/>
                <a:cs typeface="Arial"/>
              </a:rPr>
              <a:t>Earlier seasonal windows</a:t>
            </a:r>
          </a:p>
        </p:txBody>
      </p:sp>
      <p:sp>
        <p:nvSpPr>
          <p:cNvPr id="5" name="">
            <a:extLst xmlns:a="http://schemas.openxmlformats.org/drawingml/2006/main">
              <a:ext uri="{FF2B5EF4-FFF2-40B4-BE49-F238E27FC236}">
                <a16:creationId xmlns:a16="http://schemas.microsoft.com/office/drawing/2014/main" id="{231DC4BE-D776-4D35-9203-18EC2696457F}"/>
              </a:ext>
            </a:extLst>
          </p:cNvPr>
          <p:cNvSpPr>
            <a:spLocks xmlns:a="http://schemas.openxmlformats.org/drawingml/2006/main" noGrp="1"/>
          </p:cNvSpPr>
          <p:nvPr/>
        </p:nvSpPr>
        <p:spPr>
          <a:xfrm xmlns:a="http://schemas.openxmlformats.org/drawingml/2006/main">
            <a:off x="1666875" y="2514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53656B"/>
                </a:solidFill>
                <a:latin typeface="Arial"/>
                <a:ea typeface="Arial"/>
                <a:cs typeface="Arial"/>
              </a:defRPr>
            </a:defPPr>
          </a:lstStyle>
          <a:p xmlns:a="http://schemas.openxmlformats.org/drawingml/2006/main">
            <a:pPr>
              <a:defRPr sz="1575" b="0">
                <a:solidFill>
                  <a:srgbClr val="53656B"/>
                </a:solidFill>
                <a:latin typeface="Arial"/>
                <a:ea typeface="Arial"/>
                <a:cs typeface="Arial"/>
              </a:defRPr>
            </a:pPr>
            <a:r>
              <a:rPr sz="1575" b="0">
                <a:solidFill>
                  <a:srgbClr val="53656B"/>
                </a:solidFill>
                <a:latin typeface="Arial"/>
                <a:ea typeface="Arial"/>
                <a:cs typeface="Arial"/>
              </a:rPr>
              <a:t>Select a method using chronological holdouts.</a:t>
            </a:r>
          </a:p>
        </p:txBody>
      </p:sp>
      <p:sp>
        <p:nvSpPr>
          <p:cNvPr id="6" name="">
            <a:extLst xmlns:a="http://schemas.openxmlformats.org/drawingml/2006/main">
              <a:ext uri="{FF2B5EF4-FFF2-40B4-BE49-F238E27FC236}">
                <a16:creationId xmlns:a16="http://schemas.microsoft.com/office/drawing/2014/main" id="{6998659E-09B9-4046-A4C5-16057CBEB4D7}"/>
              </a:ext>
            </a:extLst>
          </p:cNvPr>
          <p:cNvSpPr>
            <a:spLocks xmlns:a="http://schemas.openxmlformats.org/drawingml/2006/main" noGrp="1"/>
          </p:cNvSpPr>
          <p:nvPr/>
        </p:nvSpPr>
        <p:spPr>
          <a:xfrm xmlns:a="http://schemas.openxmlformats.org/drawingml/2006/main">
            <a:off x="781050" y="3095625"/>
            <a:ext cx="10287000" cy="19050"/>
          </a:xfrm>
          <a:prstGeom xmlns:a="http://schemas.openxmlformats.org/drawingml/2006/main" prst="rect">
            <a:avLst/>
          </a:prstGeom>
          <a:solidFill xmlns:a="http://schemas.openxmlformats.org/drawingml/2006/main">
            <a:srgbClr val="D8E0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7F6188B-75AB-4895-BBEB-8D4663176667}"/>
              </a:ext>
            </a:extLst>
          </p:cNvPr>
          <p:cNvSpPr>
            <a:spLocks xmlns:a="http://schemas.openxmlformats.org/drawingml/2006/main" noGrp="1"/>
          </p:cNvSpPr>
          <p:nvPr/>
        </p:nvSpPr>
        <p:spPr>
          <a:xfrm xmlns:a="http://schemas.openxmlformats.org/drawingml/2006/main">
            <a:off x="781050" y="3390900"/>
            <a:ext cx="1047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725" b="1">
                <a:solidFill>
                  <a:srgbClr val="0C8582"/>
                </a:solidFill>
                <a:latin typeface="Arial"/>
                <a:ea typeface="Arial"/>
                <a:cs typeface="Arial"/>
              </a:defRPr>
            </a:defPPr>
          </a:lstStyle>
          <a:p xmlns:a="http://schemas.openxmlformats.org/drawingml/2006/main">
            <a:pPr>
              <a:defRPr sz="4725" b="1">
                <a:solidFill>
                  <a:srgbClr val="0C8582"/>
                </a:solidFill>
                <a:latin typeface="Arial"/>
                <a:ea typeface="Arial"/>
                <a:cs typeface="Arial"/>
              </a:defRPr>
            </a:pPr>
            <a:r>
              <a:rPr sz="4725" b="1">
                <a:solidFill>
                  <a:srgbClr val="0C8582"/>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7C757DC0-4CCA-4B94-B061-9AE2350D5F9B}"/>
              </a:ext>
            </a:extLst>
          </p:cNvPr>
          <p:cNvSpPr>
            <a:spLocks xmlns:a="http://schemas.openxmlformats.org/drawingml/2006/main" noGrp="1"/>
          </p:cNvSpPr>
          <p:nvPr/>
        </p:nvSpPr>
        <p:spPr>
          <a:xfrm xmlns:a="http://schemas.openxmlformats.org/drawingml/2006/main">
            <a:off x="1666875" y="3514725"/>
            <a:ext cx="742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4272E"/>
                </a:solidFill>
                <a:latin typeface="Arial"/>
                <a:ea typeface="Arial"/>
                <a:cs typeface="Arial"/>
              </a:defRPr>
            </a:defPPr>
          </a:lstStyle>
          <a:p xmlns:a="http://schemas.openxmlformats.org/drawingml/2006/main">
            <a:pPr>
              <a:defRPr sz="2025" b="1">
                <a:solidFill>
                  <a:srgbClr val="14272E"/>
                </a:solidFill>
                <a:latin typeface="Arial"/>
                <a:ea typeface="Arial"/>
                <a:cs typeface="Arial"/>
              </a:defRPr>
            </a:pPr>
            <a:r>
              <a:rPr sz="2025" b="1">
                <a:solidFill>
                  <a:srgbClr val="14272E"/>
                </a:solidFill>
                <a:latin typeface="Arial"/>
                <a:ea typeface="Arial"/>
                <a:cs typeface="Arial"/>
              </a:rPr>
              <a:t>Final 180 calendar days</a:t>
            </a:r>
          </a:p>
        </p:txBody>
      </p:sp>
      <p:sp>
        <p:nvSpPr>
          <p:cNvPr id="9" name="">
            <a:extLst xmlns:a="http://schemas.openxmlformats.org/drawingml/2006/main">
              <a:ext uri="{FF2B5EF4-FFF2-40B4-BE49-F238E27FC236}">
                <a16:creationId xmlns:a16="http://schemas.microsoft.com/office/drawing/2014/main" id="{19DCD03C-470B-4FEC-8AD4-6BADABA2DF6A}"/>
              </a:ext>
            </a:extLst>
          </p:cNvPr>
          <p:cNvSpPr>
            <a:spLocks xmlns:a="http://schemas.openxmlformats.org/drawingml/2006/main" noGrp="1"/>
          </p:cNvSpPr>
          <p:nvPr/>
        </p:nvSpPr>
        <p:spPr>
          <a:xfrm xmlns:a="http://schemas.openxmlformats.org/drawingml/2006/main">
            <a:off x="1666875" y="3971925"/>
            <a:ext cx="885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53656B"/>
                </a:solidFill>
                <a:latin typeface="Arial"/>
                <a:ea typeface="Arial"/>
                <a:cs typeface="Arial"/>
              </a:defRPr>
            </a:defPPr>
          </a:lstStyle>
          <a:p xmlns:a="http://schemas.openxmlformats.org/drawingml/2006/main">
            <a:pPr>
              <a:defRPr sz="1575" b="0">
                <a:solidFill>
                  <a:srgbClr val="53656B"/>
                </a:solidFill>
                <a:latin typeface="Arial"/>
                <a:ea typeface="Arial"/>
                <a:cs typeface="Arial"/>
              </a:defRPr>
            </a:pPr>
            <a:r>
              <a:rPr sz="1575" b="0">
                <a:solidFill>
                  <a:srgbClr val="53656B"/>
                </a:solidFill>
                <a:latin typeface="Arial"/>
                <a:ea typeface="Arial"/>
                <a:cs typeface="Arial"/>
              </a:rPr>
              <a:t>Score every method on the same available dates.</a:t>
            </a:r>
          </a:p>
        </p:txBody>
      </p:sp>
      <p:sp>
        <p:nvSpPr>
          <p:cNvPr id="10" name="">
            <a:extLst xmlns:a="http://schemas.openxmlformats.org/drawingml/2006/main">
              <a:ext uri="{FF2B5EF4-FFF2-40B4-BE49-F238E27FC236}">
                <a16:creationId xmlns:a16="http://schemas.microsoft.com/office/drawing/2014/main" id="{4DCB897D-03E9-4FE2-989E-2D180391BE35}"/>
              </a:ext>
            </a:extLst>
          </p:cNvPr>
          <p:cNvSpPr>
            <a:spLocks xmlns:a="http://schemas.openxmlformats.org/drawingml/2006/main" noGrp="1"/>
          </p:cNvSpPr>
          <p:nvPr/>
        </p:nvSpPr>
        <p:spPr>
          <a:xfrm xmlns:a="http://schemas.openxmlformats.org/drawingml/2006/main">
            <a:off x="781050" y="4572000"/>
            <a:ext cx="10287000" cy="19050"/>
          </a:xfrm>
          <a:prstGeom xmlns:a="http://schemas.openxmlformats.org/drawingml/2006/main" prst="rect">
            <a:avLst/>
          </a:prstGeom>
          <a:solidFill xmlns:a="http://schemas.openxmlformats.org/drawingml/2006/main">
            <a:srgbClr val="D8E0E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8A506D3-0779-43EF-8B2C-BD493BE7AFDB}"/>
              </a:ext>
            </a:extLst>
          </p:cNvPr>
          <p:cNvSpPr>
            <a:spLocks xmlns:a="http://schemas.openxmlformats.org/drawingml/2006/main" noGrp="1"/>
          </p:cNvSpPr>
          <p:nvPr/>
        </p:nvSpPr>
        <p:spPr>
          <a:xfrm xmlns:a="http://schemas.openxmlformats.org/drawingml/2006/main">
            <a:off x="781050" y="4857750"/>
            <a:ext cx="1047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725" b="1">
                <a:solidFill>
                  <a:srgbClr val="0C8582"/>
                </a:solidFill>
                <a:latin typeface="Arial"/>
                <a:ea typeface="Arial"/>
                <a:cs typeface="Arial"/>
              </a:defRPr>
            </a:defPPr>
          </a:lstStyle>
          <a:p xmlns:a="http://schemas.openxmlformats.org/drawingml/2006/main">
            <a:pPr>
              <a:defRPr sz="4725" b="1">
                <a:solidFill>
                  <a:srgbClr val="0C8582"/>
                </a:solidFill>
                <a:latin typeface="Arial"/>
                <a:ea typeface="Arial"/>
                <a:cs typeface="Arial"/>
              </a:defRPr>
            </a:pPr>
            <a:r>
              <a:rPr sz="4725" b="1">
                <a:solidFill>
                  <a:srgbClr val="0C8582"/>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4AE9C676-70C6-4A88-BF47-E6E6FE3636BC}"/>
              </a:ext>
            </a:extLst>
          </p:cNvPr>
          <p:cNvSpPr>
            <a:spLocks xmlns:a="http://schemas.openxmlformats.org/drawingml/2006/main" noGrp="1"/>
          </p:cNvSpPr>
          <p:nvPr/>
        </p:nvSpPr>
        <p:spPr>
          <a:xfrm xmlns:a="http://schemas.openxmlformats.org/drawingml/2006/main">
            <a:off x="1666875" y="4981575"/>
            <a:ext cx="762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4272E"/>
                </a:solidFill>
                <a:latin typeface="Arial"/>
                <a:ea typeface="Arial"/>
                <a:cs typeface="Arial"/>
              </a:defRPr>
            </a:defPPr>
          </a:lstStyle>
          <a:p xmlns:a="http://schemas.openxmlformats.org/drawingml/2006/main">
            <a:pPr>
              <a:defRPr sz="2025" b="1">
                <a:solidFill>
                  <a:srgbClr val="14272E"/>
                </a:solidFill>
                <a:latin typeface="Arial"/>
                <a:ea typeface="Arial"/>
                <a:cs typeface="Arial"/>
              </a:defRPr>
            </a:pPr>
            <a:r>
              <a:rPr sz="2025" b="1">
                <a:solidFill>
                  <a:srgbClr val="14272E"/>
                </a:solidFill>
                <a:latin typeface="Arial"/>
                <a:ea typeface="Arial"/>
                <a:cs typeface="Arial"/>
              </a:rPr>
              <a:t>Recursive seven-day outlook</a:t>
            </a:r>
          </a:p>
        </p:txBody>
      </p:sp>
      <p:sp>
        <p:nvSpPr>
          <p:cNvPr id="13" name="">
            <a:extLst xmlns:a="http://schemas.openxmlformats.org/drawingml/2006/main">
              <a:ext uri="{FF2B5EF4-FFF2-40B4-BE49-F238E27FC236}">
                <a16:creationId xmlns:a16="http://schemas.microsoft.com/office/drawing/2014/main" id="{EC252D68-B675-40B8-9C68-3B38393BE942}"/>
              </a:ext>
            </a:extLst>
          </p:cNvPr>
          <p:cNvSpPr>
            <a:spLocks xmlns:a="http://schemas.openxmlformats.org/drawingml/2006/main" noGrp="1"/>
          </p:cNvSpPr>
          <p:nvPr/>
        </p:nvSpPr>
        <p:spPr>
          <a:xfrm xmlns:a="http://schemas.openxmlformats.org/drawingml/2006/main">
            <a:off x="1666875" y="5438775"/>
            <a:ext cx="904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53656B"/>
                </a:solidFill>
                <a:latin typeface="Arial"/>
                <a:ea typeface="Arial"/>
                <a:cs typeface="Arial"/>
              </a:defRPr>
            </a:defPPr>
          </a:lstStyle>
          <a:p xmlns:a="http://schemas.openxmlformats.org/drawingml/2006/main">
            <a:pPr>
              <a:defRPr sz="1575" b="0">
                <a:solidFill>
                  <a:srgbClr val="53656B"/>
                </a:solidFill>
                <a:latin typeface="Arial"/>
                <a:ea typeface="Arial"/>
                <a:cs typeface="Arial"/>
              </a:defRPr>
            </a:pPr>
            <a:r>
              <a:rPr sz="1575" b="0">
                <a:solidFill>
                  <a:srgbClr val="53656B"/>
                </a:solidFill>
                <a:latin typeface="Arial"/>
                <a:ea typeface="Arial"/>
                <a:cs typeface="Arial"/>
              </a:rPr>
              <a:t>Future lags use prior predictions, not future actual PM.</a:t>
            </a:r>
          </a:p>
        </p:txBody>
      </p:sp>
    </p:spTree>
    <p:extLst>
      <p:ext uri="{BB962C8B-B14F-4D97-AF65-F5344CB8AC3E}">
        <p14:creationId xmlns:p14="http://schemas.microsoft.com/office/powerpoint/2010/main" val="80564609"/>
      </p:ext>
    </p:extLst>
  </p:cSld>
</p:sld>
</file>

<file path=ppt/slides/slide7.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C6EE823-B74C-4DC4-9FAF-BFE5F6A71667}"/>
              </a:ext>
            </a:extLst>
          </p:cNvPr>
          <p:cNvSpPr>
            <a:spLocks xmlns:a="http://schemas.openxmlformats.org/drawingml/2006/main" noGrp="1"/>
          </p:cNvSpPr>
          <p:nvPr/>
        </p:nvSpPr>
        <p:spPr>
          <a:xfrm xmlns:a="http://schemas.openxmlformats.org/drawingml/2006/main">
            <a:off x="723900" y="5143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14272E"/>
                </a:solidFill>
                <a:latin typeface="Arial"/>
                <a:ea typeface="Arial"/>
                <a:cs typeface="Arial"/>
              </a:defRPr>
            </a:defPPr>
          </a:lstStyle>
          <a:p xmlns:a="http://schemas.openxmlformats.org/drawingml/2006/main">
            <a:pPr>
              <a:defRPr sz="2700" b="1">
                <a:solidFill>
                  <a:srgbClr val="14272E"/>
                </a:solidFill>
                <a:latin typeface="Arial"/>
                <a:ea typeface="Arial"/>
                <a:cs typeface="Arial"/>
              </a:defRPr>
            </a:pPr>
            <a:r>
              <a:rPr sz="2700" b="1">
                <a:solidFill>
                  <a:srgbClr val="14272E"/>
                </a:solidFill>
                <a:latin typeface="Arial"/>
                <a:ea typeface="Arial"/>
                <a:cs typeface="Arial"/>
              </a:rPr>
              <a:t>Station PM10 improves, other targets keep persistence</a:t>
            </a:r>
          </a:p>
        </p:txBody>
      </p:sp>
      <p:sp>
        <p:nvSpPr>
          <p:cNvPr id="2" name="">
            <a:extLst xmlns:a="http://schemas.openxmlformats.org/drawingml/2006/main">
              <a:ext uri="{FF2B5EF4-FFF2-40B4-BE49-F238E27FC236}">
                <a16:creationId xmlns:a16="http://schemas.microsoft.com/office/drawing/2014/main" id="{BCF525EB-4530-45E2-90A7-0BF6661D66B1}"/>
              </a:ext>
            </a:extLst>
          </p:cNvPr>
          <p:cNvSpPr>
            <a:spLocks xmlns:a="http://schemas.openxmlformats.org/drawingml/2006/main" noGrp="1"/>
          </p:cNvSpPr>
          <p:nvPr/>
        </p:nvSpPr>
        <p:spPr>
          <a:xfrm xmlns:a="http://schemas.openxmlformats.org/drawingml/2006/main">
            <a:off x="742950" y="1304925"/>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56B"/>
                </a:solidFill>
                <a:latin typeface="Arial"/>
                <a:ea typeface="Arial"/>
                <a:cs typeface="Arial"/>
              </a:defRPr>
            </a:defPPr>
          </a:lstStyle>
          <a:p xmlns:a="http://schemas.openxmlformats.org/drawingml/2006/main">
            <a:pPr>
              <a:defRPr sz="1350" b="0">
                <a:solidFill>
                  <a:srgbClr val="53656B"/>
                </a:solidFill>
                <a:latin typeface="Arial"/>
                <a:ea typeface="Arial"/>
                <a:cs typeface="Arial"/>
              </a:defRPr>
            </a:pPr>
            <a:r>
              <a:rPr sz="1350" b="0">
                <a:solidFill>
                  <a:srgbClr val="53656B"/>
                </a:solidFill>
                <a:latin typeface="Arial"/>
                <a:ea typeface="Arial"/>
                <a:cs typeface="Arial"/>
              </a:rPr>
              <a:t>Final chronological test; MAE in ug/m3, lower is better</a:t>
            </a:r>
          </a:p>
        </p:txBody>
      </p:sp>
      <p:sp>
        <p:nvSpPr>
          <p:cNvPr id="3" name="">
            <a:extLst xmlns:a="http://schemas.openxmlformats.org/drawingml/2006/main">
              <a:ext uri="{FF2B5EF4-FFF2-40B4-BE49-F238E27FC236}">
                <a16:creationId xmlns:a16="http://schemas.microsoft.com/office/drawing/2014/main" id="{C0670405-B892-48A2-9672-6E697566B8DB}"/>
              </a:ext>
            </a:extLst>
          </p:cNvPr>
          <p:cNvSpPr>
            <a:spLocks xmlns:a="http://schemas.openxmlformats.org/drawingml/2006/main" noGrp="1"/>
          </p:cNvSpPr>
          <p:nvPr/>
        </p:nvSpPr>
        <p:spPr>
          <a:xfrm xmlns:a="http://schemas.openxmlformats.org/drawingml/2006/main">
            <a:off x="11115675" y="62865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56B"/>
                </a:solidFill>
                <a:latin typeface="Arial"/>
                <a:ea typeface="Arial"/>
                <a:cs typeface="Arial"/>
              </a:defRPr>
            </a:defPPr>
          </a:lstStyle>
          <a:p xmlns:a="http://schemas.openxmlformats.org/drawingml/2006/main">
            <a:pPr>
              <a:defRPr sz="1050" b="0">
                <a:solidFill>
                  <a:srgbClr val="53656B"/>
                </a:solidFill>
                <a:latin typeface="Arial"/>
                <a:ea typeface="Arial"/>
                <a:cs typeface="Arial"/>
              </a:defRPr>
            </a:pPr>
            <a:r>
              <a:rPr sz="1050" b="0">
                <a:solidFill>
                  <a:srgbClr val="53656B"/>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177C7F2B-BE8E-4F07-9BDE-8A5FAF368ACB}"/>
              </a:ext>
            </a:extLst>
          </p:cNvPr>
          <p:cNvGraphicFramePr/>
          <p:nvPr/>
        </p:nvGraphicFramePr>
        <p:xfrm>
          <a:off xmlns:a="http://schemas.openxmlformats.org/drawingml/2006/main" x="666750" y="2124075"/>
          <a:ext xmlns:a="http://schemas.openxmlformats.org/drawingml/2006/main" cx="10858500" cy="2600325"/>
        </p:xfrm>
        <a:graphic xmlns:a="http://schemas.openxmlformats.org/drawingml/2006/main">
          <a:graphicData uri="http://schemas.openxmlformats.org/drawingml/2006/table">
            <a:tbl>
              <a:tblPr firstRow="1" bandRow="1"/>
              <a:tblGrid>
                <a:gridCol w="2428875"/>
                <a:gridCol w="1666875"/>
                <a:gridCol w="2476500"/>
                <a:gridCol w="2190750"/>
                <a:gridCol w="2095500"/>
              </a:tblGrid>
              <a:tr h="520065">
                <a:tc>
                  <a:txBody>
                    <a:bodyPr/>
                    <a:lstStyle/>
                    <a:p>
                      <a:r>
                        <a:rPr sz="1275" b="1">
                          <a:solidFill>
                            <a:srgbClr val="FFFFFF"/>
                          </a:solidFill>
                          <a:latin typeface="Arial"/>
                          <a:ea typeface="Arial"/>
                          <a:cs typeface="Arial"/>
                        </a:rPr>
                        <a:t>Target</a:t>
                      </a:r>
                    </a:p>
                  </a:txBody>
                  <a:tcPr marL="91440" marR="91440" marT="45720" marB="45720">
                    <a:solidFill>
                      <a:srgbClr val="14272E"/>
                    </a:solidFill>
                  </a:tcPr>
                </a:tc>
                <a:tc>
                  <a:txBody>
                    <a:bodyPr/>
                    <a:lstStyle/>
                    <a:p>
                      <a:r>
                        <a:rPr sz="1275" b="1">
                          <a:solidFill>
                            <a:srgbClr val="FFFFFF"/>
                          </a:solidFill>
                          <a:latin typeface="Arial"/>
                          <a:ea typeface="Arial"/>
                          <a:cs typeface="Arial"/>
                        </a:rPr>
                        <a:t>Scored</a:t>
                      </a:r>
                    </a:p>
                  </a:txBody>
                  <a:tcPr marL="91440" marR="91440" marT="45720" marB="45720">
                    <a:solidFill>
                      <a:srgbClr val="14272E"/>
                    </a:solidFill>
                  </a:tcPr>
                </a:tc>
                <a:tc>
                  <a:txBody>
                    <a:bodyPr/>
                    <a:lstStyle/>
                    <a:p>
                      <a:r>
                        <a:rPr sz="1275" b="1">
                          <a:solidFill>
                            <a:srgbClr val="FFFFFF"/>
                          </a:solidFill>
                          <a:latin typeface="Arial"/>
                          <a:ea typeface="Arial"/>
                          <a:cs typeface="Arial"/>
                        </a:rPr>
                        <a:t>Selected</a:t>
                      </a:r>
                    </a:p>
                  </a:txBody>
                  <a:tcPr marL="91440" marR="91440" marT="45720" marB="45720">
                    <a:solidFill>
                      <a:srgbClr val="14272E"/>
                    </a:solidFill>
                  </a:tcPr>
                </a:tc>
                <a:tc>
                  <a:txBody>
                    <a:bodyPr/>
                    <a:lstStyle/>
                    <a:p>
                      <a:r>
                        <a:rPr sz="1275" b="1">
                          <a:solidFill>
                            <a:srgbClr val="FFFFFF"/>
                          </a:solidFill>
                          <a:latin typeface="Arial"/>
                          <a:ea typeface="Arial"/>
                          <a:cs typeface="Arial"/>
                        </a:rPr>
                        <a:t>Selected MAE</a:t>
                      </a:r>
                    </a:p>
                  </a:txBody>
                  <a:tcPr marL="91440" marR="91440" marT="45720" marB="45720">
                    <a:solidFill>
                      <a:srgbClr val="14272E"/>
                    </a:solidFill>
                  </a:tcPr>
                </a:tc>
                <a:tc>
                  <a:txBody>
                    <a:bodyPr/>
                    <a:lstStyle/>
                    <a:p>
                      <a:r>
                        <a:rPr sz="1275" b="1">
                          <a:solidFill>
                            <a:srgbClr val="FFFFFF"/>
                          </a:solidFill>
                          <a:latin typeface="Arial"/>
                          <a:ea typeface="Arial"/>
                          <a:cs typeface="Arial"/>
                        </a:rPr>
                        <a:t>Persistence MAE</a:t>
                      </a:r>
                    </a:p>
                  </a:txBody>
                  <a:tcPr marL="91440" marR="91440" marT="45720" marB="45720">
                    <a:solidFill>
                      <a:srgbClr val="14272E"/>
                    </a:solidFill>
                  </a:tcPr>
                </a:tc>
              </a:tr>
              <a:tr h="520065">
                <a:tc>
                  <a:txBody>
                    <a:bodyPr/>
                    <a:lstStyle/>
                    <a:p>
                      <a:r>
                        <a:rPr sz="1350" b="0">
                          <a:solidFill>
                            <a:srgbClr val="14272E"/>
                          </a:solidFill>
                          <a:latin typeface="Arial"/>
                          <a:ea typeface="Arial"/>
                          <a:cs typeface="Arial"/>
                        </a:rPr>
                        <a:t>CAMS PM2.5</a:t>
                      </a:r>
                    </a:p>
                  </a:txBody>
                  <a:tcPr marL="91440" marR="91440" marT="45720" marB="45720">
                    <a:solidFill>
                      <a:srgbClr val="FFFFFF"/>
                    </a:solidFill>
                  </a:tcPr>
                </a:tc>
                <a:tc>
                  <a:txBody>
                    <a:bodyPr/>
                    <a:lstStyle/>
                    <a:p>
                      <a:r>
                        <a:rPr sz="1350" b="0">
                          <a:solidFill>
                            <a:srgbClr val="14272E"/>
                          </a:solidFill>
                          <a:latin typeface="Arial"/>
                          <a:ea typeface="Arial"/>
                          <a:cs typeface="Arial"/>
                        </a:rPr>
                        <a:t>180 / 180</a:t>
                      </a:r>
                    </a:p>
                  </a:txBody>
                  <a:tcPr marL="91440" marR="91440" marT="45720" marB="45720">
                    <a:solidFill>
                      <a:srgbClr val="FFFFFF"/>
                    </a:solidFill>
                  </a:tcPr>
                </a:tc>
                <a:tc>
                  <a:txBody>
                    <a:bodyPr/>
                    <a:lstStyle/>
                    <a:p>
                      <a:r>
                        <a:rPr sz="1350" b="0">
                          <a:solidFill>
                            <a:srgbClr val="14272E"/>
                          </a:solidFill>
                          <a:latin typeface="Arial"/>
                          <a:ea typeface="Arial"/>
                          <a:cs typeface="Arial"/>
                        </a:rPr>
                        <a:t>Persistence</a:t>
                      </a:r>
                    </a:p>
                  </a:txBody>
                  <a:tcPr marL="91440" marR="91440" marT="45720" marB="45720">
                    <a:solidFill>
                      <a:srgbClr val="FFFFFF"/>
                    </a:solidFill>
                  </a:tcPr>
                </a:tc>
                <a:tc>
                  <a:txBody>
                    <a:bodyPr/>
                    <a:lstStyle/>
                    <a:p>
                      <a:r>
                        <a:rPr sz="1350" b="0">
                          <a:solidFill>
                            <a:srgbClr val="14272E"/>
                          </a:solidFill>
                          <a:latin typeface="Arial"/>
                          <a:ea typeface="Arial"/>
                          <a:cs typeface="Arial"/>
                        </a:rPr>
                        <a:t>16.62</a:t>
                      </a:r>
                    </a:p>
                  </a:txBody>
                  <a:tcPr marL="91440" marR="91440" marT="45720" marB="45720">
                    <a:solidFill>
                      <a:srgbClr val="FFFFFF"/>
                    </a:solidFill>
                  </a:tcPr>
                </a:tc>
                <a:tc>
                  <a:txBody>
                    <a:bodyPr/>
                    <a:lstStyle/>
                    <a:p>
                      <a:r>
                        <a:rPr sz="1350" b="0">
                          <a:solidFill>
                            <a:srgbClr val="14272E"/>
                          </a:solidFill>
                          <a:latin typeface="Arial"/>
                          <a:ea typeface="Arial"/>
                          <a:cs typeface="Arial"/>
                        </a:rPr>
                        <a:t>16.62</a:t>
                      </a:r>
                    </a:p>
                  </a:txBody>
                  <a:tcPr marL="91440" marR="91440" marT="45720" marB="45720">
                    <a:solidFill>
                      <a:srgbClr val="FFFFFF"/>
                    </a:solidFill>
                  </a:tcPr>
                </a:tc>
              </a:tr>
              <a:tr h="520065">
                <a:tc>
                  <a:txBody>
                    <a:bodyPr/>
                    <a:lstStyle/>
                    <a:p>
                      <a:r>
                        <a:rPr sz="1350" b="0">
                          <a:solidFill>
                            <a:srgbClr val="14272E"/>
                          </a:solidFill>
                          <a:latin typeface="Arial"/>
                          <a:ea typeface="Arial"/>
                          <a:cs typeface="Arial"/>
                        </a:rPr>
                        <a:t>CAMS PM10</a:t>
                      </a:r>
                    </a:p>
                  </a:txBody>
                  <a:tcPr marL="91440" marR="91440" marT="45720" marB="45720">
                    <a:solidFill>
                      <a:srgbClr val="EFF3F3"/>
                    </a:solidFill>
                  </a:tcPr>
                </a:tc>
                <a:tc>
                  <a:txBody>
                    <a:bodyPr/>
                    <a:lstStyle/>
                    <a:p>
                      <a:r>
                        <a:rPr sz="1350" b="0">
                          <a:solidFill>
                            <a:srgbClr val="14272E"/>
                          </a:solidFill>
                          <a:latin typeface="Arial"/>
                          <a:ea typeface="Arial"/>
                          <a:cs typeface="Arial"/>
                        </a:rPr>
                        <a:t>180 / 180</a:t>
                      </a:r>
                    </a:p>
                  </a:txBody>
                  <a:tcPr marL="91440" marR="91440" marT="45720" marB="45720">
                    <a:solidFill>
                      <a:srgbClr val="EFF3F3"/>
                    </a:solidFill>
                  </a:tcPr>
                </a:tc>
                <a:tc>
                  <a:txBody>
                    <a:bodyPr/>
                    <a:lstStyle/>
                    <a:p>
                      <a:r>
                        <a:rPr sz="1350" b="0">
                          <a:solidFill>
                            <a:srgbClr val="14272E"/>
                          </a:solidFill>
                          <a:latin typeface="Arial"/>
                          <a:ea typeface="Arial"/>
                          <a:cs typeface="Arial"/>
                        </a:rPr>
                        <a:t>Persistence</a:t>
                      </a:r>
                    </a:p>
                  </a:txBody>
                  <a:tcPr marL="91440" marR="91440" marT="45720" marB="45720">
                    <a:solidFill>
                      <a:srgbClr val="EFF3F3"/>
                    </a:solidFill>
                  </a:tcPr>
                </a:tc>
                <a:tc>
                  <a:txBody>
                    <a:bodyPr/>
                    <a:lstStyle/>
                    <a:p>
                      <a:r>
                        <a:rPr sz="1350" b="0">
                          <a:solidFill>
                            <a:srgbClr val="14272E"/>
                          </a:solidFill>
                          <a:latin typeface="Arial"/>
                          <a:ea typeface="Arial"/>
                          <a:cs typeface="Arial"/>
                        </a:rPr>
                        <a:t>86.99</a:t>
                      </a:r>
                    </a:p>
                  </a:txBody>
                  <a:tcPr marL="91440" marR="91440" marT="45720" marB="45720">
                    <a:solidFill>
                      <a:srgbClr val="EFF3F3"/>
                    </a:solidFill>
                  </a:tcPr>
                </a:tc>
                <a:tc>
                  <a:txBody>
                    <a:bodyPr/>
                    <a:lstStyle/>
                    <a:p>
                      <a:r>
                        <a:rPr sz="1350" b="0">
                          <a:solidFill>
                            <a:srgbClr val="14272E"/>
                          </a:solidFill>
                          <a:latin typeface="Arial"/>
                          <a:ea typeface="Arial"/>
                          <a:cs typeface="Arial"/>
                        </a:rPr>
                        <a:t>86.99</a:t>
                      </a:r>
                    </a:p>
                  </a:txBody>
                  <a:tcPr marL="91440" marR="91440" marT="45720" marB="45720">
                    <a:solidFill>
                      <a:srgbClr val="EFF3F3"/>
                    </a:solidFill>
                  </a:tcPr>
                </a:tc>
              </a:tr>
              <a:tr h="520065">
                <a:tc>
                  <a:txBody>
                    <a:bodyPr/>
                    <a:lstStyle/>
                    <a:p>
                      <a:r>
                        <a:rPr sz="1350" b="0">
                          <a:solidFill>
                            <a:srgbClr val="14272E"/>
                          </a:solidFill>
                          <a:latin typeface="Arial"/>
                          <a:ea typeface="Arial"/>
                          <a:cs typeface="Arial"/>
                        </a:rPr>
                        <a:t>Station PM2.5</a:t>
                      </a:r>
                    </a:p>
                  </a:txBody>
                  <a:tcPr marL="91440" marR="91440" marT="45720" marB="45720">
                    <a:solidFill>
                      <a:srgbClr val="FFFFFF"/>
                    </a:solidFill>
                  </a:tcPr>
                </a:tc>
                <a:tc>
                  <a:txBody>
                    <a:bodyPr/>
                    <a:lstStyle/>
                    <a:p>
                      <a:r>
                        <a:rPr sz="1350" b="0">
                          <a:solidFill>
                            <a:srgbClr val="14272E"/>
                          </a:solidFill>
                          <a:latin typeface="Arial"/>
                          <a:ea typeface="Arial"/>
                          <a:cs typeface="Arial"/>
                        </a:rPr>
                        <a:t>131 / 180</a:t>
                      </a:r>
                    </a:p>
                  </a:txBody>
                  <a:tcPr marL="91440" marR="91440" marT="45720" marB="45720">
                    <a:solidFill>
                      <a:srgbClr val="FFFFFF"/>
                    </a:solidFill>
                  </a:tcPr>
                </a:tc>
                <a:tc>
                  <a:txBody>
                    <a:bodyPr/>
                    <a:lstStyle/>
                    <a:p>
                      <a:r>
                        <a:rPr sz="1350" b="0">
                          <a:solidFill>
                            <a:srgbClr val="14272E"/>
                          </a:solidFill>
                          <a:latin typeface="Arial"/>
                          <a:ea typeface="Arial"/>
                          <a:cs typeface="Arial"/>
                        </a:rPr>
                        <a:t>Persistence</a:t>
                      </a:r>
                    </a:p>
                  </a:txBody>
                  <a:tcPr marL="91440" marR="91440" marT="45720" marB="45720">
                    <a:solidFill>
                      <a:srgbClr val="FFFFFF"/>
                    </a:solidFill>
                  </a:tcPr>
                </a:tc>
                <a:tc>
                  <a:txBody>
                    <a:bodyPr/>
                    <a:lstStyle/>
                    <a:p>
                      <a:r>
                        <a:rPr sz="1350" b="0">
                          <a:solidFill>
                            <a:srgbClr val="14272E"/>
                          </a:solidFill>
                          <a:latin typeface="Arial"/>
                          <a:ea typeface="Arial"/>
                          <a:cs typeface="Arial"/>
                        </a:rPr>
                        <a:t>12.12</a:t>
                      </a:r>
                    </a:p>
                  </a:txBody>
                  <a:tcPr marL="91440" marR="91440" marT="45720" marB="45720">
                    <a:solidFill>
                      <a:srgbClr val="FFFFFF"/>
                    </a:solidFill>
                  </a:tcPr>
                </a:tc>
                <a:tc>
                  <a:txBody>
                    <a:bodyPr/>
                    <a:lstStyle/>
                    <a:p>
                      <a:r>
                        <a:rPr sz="1350" b="0">
                          <a:solidFill>
                            <a:srgbClr val="14272E"/>
                          </a:solidFill>
                          <a:latin typeface="Arial"/>
                          <a:ea typeface="Arial"/>
                          <a:cs typeface="Arial"/>
                        </a:rPr>
                        <a:t>12.12</a:t>
                      </a:r>
                    </a:p>
                  </a:txBody>
                  <a:tcPr marL="91440" marR="91440" marT="45720" marB="45720">
                    <a:solidFill>
                      <a:srgbClr val="FFFFFF"/>
                    </a:solidFill>
                  </a:tcPr>
                </a:tc>
              </a:tr>
              <a:tr h="520065">
                <a:tc>
                  <a:txBody>
                    <a:bodyPr/>
                    <a:lstStyle/>
                    <a:p>
                      <a:r>
                        <a:rPr sz="1350" b="0">
                          <a:solidFill>
                            <a:srgbClr val="14272E"/>
                          </a:solidFill>
                          <a:latin typeface="Arial"/>
                          <a:ea typeface="Arial"/>
                          <a:cs typeface="Arial"/>
                        </a:rPr>
                        <a:t>Station PM10</a:t>
                      </a:r>
                    </a:p>
                  </a:txBody>
                  <a:tcPr marL="91440" marR="91440" marT="45720" marB="45720">
                    <a:solidFill>
                      <a:srgbClr val="EFF3F3"/>
                    </a:solidFill>
                  </a:tcPr>
                </a:tc>
                <a:tc>
                  <a:txBody>
                    <a:bodyPr/>
                    <a:lstStyle/>
                    <a:p>
                      <a:r>
                        <a:rPr sz="1350" b="0">
                          <a:solidFill>
                            <a:srgbClr val="14272E"/>
                          </a:solidFill>
                          <a:latin typeface="Arial"/>
                          <a:ea typeface="Arial"/>
                          <a:cs typeface="Arial"/>
                        </a:rPr>
                        <a:t>133 / 180</a:t>
                      </a:r>
                    </a:p>
                  </a:txBody>
                  <a:tcPr marL="91440" marR="91440" marT="45720" marB="45720">
                    <a:solidFill>
                      <a:srgbClr val="EFF3F3"/>
                    </a:solidFill>
                  </a:tcPr>
                </a:tc>
                <a:tc>
                  <a:txBody>
                    <a:bodyPr/>
                    <a:lstStyle/>
                    <a:p>
                      <a:r>
                        <a:rPr sz="1350" b="0">
                          <a:solidFill>
                            <a:srgbClr val="14272E"/>
                          </a:solidFill>
                          <a:latin typeface="Arial"/>
                          <a:ea typeface="Arial"/>
                          <a:cs typeface="Arial"/>
                        </a:rPr>
                        <a:t>Random Forest</a:t>
                      </a:r>
                    </a:p>
                  </a:txBody>
                  <a:tcPr marL="91440" marR="91440" marT="45720" marB="45720">
                    <a:solidFill>
                      <a:srgbClr val="EFF3F3"/>
                    </a:solidFill>
                  </a:tcPr>
                </a:tc>
                <a:tc>
                  <a:txBody>
                    <a:bodyPr/>
                    <a:lstStyle/>
                    <a:p>
                      <a:r>
                        <a:rPr sz="1350" b="0">
                          <a:solidFill>
                            <a:srgbClr val="14272E"/>
                          </a:solidFill>
                          <a:latin typeface="Arial"/>
                          <a:ea typeface="Arial"/>
                          <a:cs typeface="Arial"/>
                        </a:rPr>
                        <a:t>27.61</a:t>
                      </a:r>
                    </a:p>
                  </a:txBody>
                  <a:tcPr marL="91440" marR="91440" marT="45720" marB="45720">
                    <a:solidFill>
                      <a:srgbClr val="EFF3F3"/>
                    </a:solidFill>
                  </a:tcPr>
                </a:tc>
                <a:tc>
                  <a:txBody>
                    <a:bodyPr/>
                    <a:lstStyle/>
                    <a:p>
                      <a:r>
                        <a:rPr sz="1350" b="0">
                          <a:solidFill>
                            <a:srgbClr val="14272E"/>
                          </a:solidFill>
                          <a:latin typeface="Arial"/>
                          <a:ea typeface="Arial"/>
                          <a:cs typeface="Arial"/>
                        </a:rPr>
                        <a:t>37.41</a:t>
                      </a:r>
                    </a:p>
                  </a:txBody>
                  <a:tcPr marL="91440" marR="91440" marT="45720" marB="45720">
                    <a:solidFill>
                      <a:srgbClr val="EFF3F3"/>
                    </a:solidFill>
                  </a:tcPr>
                </a:tc>
              </a:tr>
            </a:tbl>
          </a:graphicData>
        </a:graphic>
      </p:graphicFrame>
      <p:sp>
        <p:nvSpPr>
          <p:cNvPr id="5" name="">
            <a:extLst xmlns:a="http://schemas.openxmlformats.org/drawingml/2006/main">
              <a:ext uri="{FF2B5EF4-FFF2-40B4-BE49-F238E27FC236}">
                <a16:creationId xmlns:a16="http://schemas.microsoft.com/office/drawing/2014/main" id="{E2D8FAE4-51D6-45DA-A471-09A2F13C5FDD}"/>
              </a:ext>
            </a:extLst>
          </p:cNvPr>
          <p:cNvSpPr>
            <a:spLocks xmlns:a="http://schemas.openxmlformats.org/drawingml/2006/main" noGrp="1"/>
          </p:cNvSpPr>
          <p:nvPr/>
        </p:nvSpPr>
        <p:spPr>
          <a:xfrm xmlns:a="http://schemas.openxmlformats.org/drawingml/2006/main">
            <a:off x="762000" y="5181600"/>
            <a:ext cx="30480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0C8582"/>
                </a:solidFill>
                <a:latin typeface="Arial"/>
                <a:ea typeface="Arial"/>
                <a:cs typeface="Arial"/>
              </a:defRPr>
            </a:defPPr>
          </a:lstStyle>
          <a:p xmlns:a="http://schemas.openxmlformats.org/drawingml/2006/main">
            <a:pPr>
              <a:defRPr sz="4050" b="1">
                <a:solidFill>
                  <a:srgbClr val="0C8582"/>
                </a:solidFill>
                <a:latin typeface="Arial"/>
                <a:ea typeface="Arial"/>
                <a:cs typeface="Arial"/>
              </a:defRPr>
            </a:pPr>
            <a:r>
              <a:rPr sz="4050" b="1">
                <a:solidFill>
                  <a:srgbClr val="0C8582"/>
                </a:solidFill>
                <a:latin typeface="Arial"/>
                <a:ea typeface="Arial"/>
                <a:cs typeface="Arial"/>
              </a:rPr>
              <a:t>26.2%</a:t>
            </a:r>
          </a:p>
        </p:txBody>
      </p:sp>
      <p:sp>
        <p:nvSpPr>
          <p:cNvPr id="6" name="">
            <a:extLst xmlns:a="http://schemas.openxmlformats.org/drawingml/2006/main">
              <a:ext uri="{FF2B5EF4-FFF2-40B4-BE49-F238E27FC236}">
                <a16:creationId xmlns:a16="http://schemas.microsoft.com/office/drawing/2014/main" id="{BA2B75E2-89CA-484F-AF5C-70B40F50A692}"/>
              </a:ext>
            </a:extLst>
          </p:cNvPr>
          <p:cNvSpPr>
            <a:spLocks xmlns:a="http://schemas.openxmlformats.org/drawingml/2006/main" noGrp="1"/>
          </p:cNvSpPr>
          <p:nvPr/>
        </p:nvSpPr>
        <p:spPr>
          <a:xfrm xmlns:a="http://schemas.openxmlformats.org/drawingml/2006/main">
            <a:off x="3676650" y="5286375"/>
            <a:ext cx="733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4272E"/>
                </a:solidFill>
                <a:latin typeface="Arial"/>
                <a:ea typeface="Arial"/>
                <a:cs typeface="Arial"/>
              </a:defRPr>
            </a:defPPr>
          </a:lstStyle>
          <a:p xmlns:a="http://schemas.openxmlformats.org/drawingml/2006/main">
            <a:pPr>
              <a:defRPr sz="1800" b="0">
                <a:solidFill>
                  <a:srgbClr val="14272E"/>
                </a:solidFill>
                <a:latin typeface="Arial"/>
                <a:ea typeface="Arial"/>
                <a:cs typeface="Arial"/>
              </a:defRPr>
            </a:pPr>
            <a:r>
              <a:rPr sz="1800" b="0">
                <a:solidFill>
                  <a:srgbClr val="14272E"/>
                </a:solidFill>
                <a:latin typeface="Arial"/>
                <a:ea typeface="Arial"/>
                <a:cs typeface="Arial"/>
              </a:rPr>
              <a:t>station PM10 MAE reduction versus persistence</a:t>
            </a:r>
          </a:p>
        </p:txBody>
      </p:sp>
    </p:spTree>
    <p:extLst>
      <p:ext uri="{BB962C8B-B14F-4D97-AF65-F5344CB8AC3E}">
        <p14:creationId xmlns:p14="http://schemas.microsoft.com/office/powerpoint/2010/main" val="1972572628"/>
      </p:ext>
    </p:extLst>
  </p:cSld>
</p:sld>
</file>

<file path=ppt/slides/slide8.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32B1095-BBF6-4220-9290-7ABF5E8FE463}"/>
              </a:ext>
            </a:extLst>
          </p:cNvPr>
          <p:cNvSpPr>
            <a:spLocks xmlns:a="http://schemas.openxmlformats.org/drawingml/2006/main" noGrp="1"/>
          </p:cNvSpPr>
          <p:nvPr/>
        </p:nvSpPr>
        <p:spPr>
          <a:xfrm xmlns:a="http://schemas.openxmlformats.org/drawingml/2006/main">
            <a:off x="723900" y="5143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14272E"/>
                </a:solidFill>
                <a:latin typeface="Arial"/>
                <a:ea typeface="Arial"/>
                <a:cs typeface="Arial"/>
              </a:defRPr>
            </a:defPPr>
          </a:lstStyle>
          <a:p xmlns:a="http://schemas.openxmlformats.org/drawingml/2006/main">
            <a:pPr>
              <a:defRPr sz="2700" b="1">
                <a:solidFill>
                  <a:srgbClr val="14272E"/>
                </a:solidFill>
                <a:latin typeface="Arial"/>
                <a:ea typeface="Arial"/>
                <a:cs typeface="Arial"/>
              </a:defRPr>
            </a:pPr>
            <a:r>
              <a:rPr sz="2700" b="1">
                <a:solidFill>
                  <a:srgbClr val="14272E"/>
                </a:solidFill>
                <a:latin typeface="Arial"/>
                <a:ea typeface="Arial"/>
                <a:cs typeface="Arial"/>
              </a:rPr>
              <a:t>The forecast exposes observation latency</a:t>
            </a:r>
          </a:p>
        </p:txBody>
      </p:sp>
      <p:sp>
        <p:nvSpPr>
          <p:cNvPr id="2" name="">
            <a:extLst xmlns:a="http://schemas.openxmlformats.org/drawingml/2006/main">
              <a:ext uri="{FF2B5EF4-FFF2-40B4-BE49-F238E27FC236}">
                <a16:creationId xmlns:a16="http://schemas.microsoft.com/office/drawing/2014/main" id="{024380AF-4F6D-4D7F-8D77-C7B770D4A2B0}"/>
              </a:ext>
            </a:extLst>
          </p:cNvPr>
          <p:cNvSpPr>
            <a:spLocks xmlns:a="http://schemas.openxmlformats.org/drawingml/2006/main" noGrp="1"/>
          </p:cNvSpPr>
          <p:nvPr/>
        </p:nvSpPr>
        <p:spPr>
          <a:xfrm xmlns:a="http://schemas.openxmlformats.org/drawingml/2006/main">
            <a:off x="742950" y="1304925"/>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56B"/>
                </a:solidFill>
                <a:latin typeface="Arial"/>
                <a:ea typeface="Arial"/>
                <a:cs typeface="Arial"/>
              </a:defRPr>
            </a:defPPr>
          </a:lstStyle>
          <a:p xmlns:a="http://schemas.openxmlformats.org/drawingml/2006/main">
            <a:pPr>
              <a:defRPr sz="1350" b="0">
                <a:solidFill>
                  <a:srgbClr val="53656B"/>
                </a:solidFill>
                <a:latin typeface="Arial"/>
                <a:ea typeface="Arial"/>
                <a:cs typeface="Arial"/>
              </a:defRPr>
            </a:pPr>
            <a:r>
              <a:rPr sz="1350" b="0">
                <a:solidFill>
                  <a:srgbClr val="53656B"/>
                </a:solidFill>
                <a:latin typeface="Arial"/>
                <a:ea typeface="Arial"/>
                <a:cs typeface="Arial"/>
              </a:rPr>
              <a:t>A saved 9 October station PM10 example; live values will refresh</a:t>
            </a:r>
          </a:p>
        </p:txBody>
      </p:sp>
      <p:sp>
        <p:nvSpPr>
          <p:cNvPr id="3" name="">
            <a:extLst xmlns:a="http://schemas.openxmlformats.org/drawingml/2006/main">
              <a:ext uri="{FF2B5EF4-FFF2-40B4-BE49-F238E27FC236}">
                <a16:creationId xmlns:a16="http://schemas.microsoft.com/office/drawing/2014/main" id="{44E23BCE-F73C-472E-A370-19F2CCEBF37E}"/>
              </a:ext>
            </a:extLst>
          </p:cNvPr>
          <p:cNvSpPr>
            <a:spLocks xmlns:a="http://schemas.openxmlformats.org/drawingml/2006/main" noGrp="1"/>
          </p:cNvSpPr>
          <p:nvPr/>
        </p:nvSpPr>
        <p:spPr>
          <a:xfrm xmlns:a="http://schemas.openxmlformats.org/drawingml/2006/main">
            <a:off x="11115675" y="62865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56B"/>
                </a:solidFill>
                <a:latin typeface="Arial"/>
                <a:ea typeface="Arial"/>
                <a:cs typeface="Arial"/>
              </a:defRPr>
            </a:defPPr>
          </a:lstStyle>
          <a:p xmlns:a="http://schemas.openxmlformats.org/drawingml/2006/main">
            <a:pPr>
              <a:defRPr sz="1050" b="0">
                <a:solidFill>
                  <a:srgbClr val="53656B"/>
                </a:solidFill>
                <a:latin typeface="Arial"/>
                <a:ea typeface="Arial"/>
                <a:cs typeface="Arial"/>
              </a:defRPr>
            </a:pPr>
            <a:r>
              <a:rPr sz="1050" b="0">
                <a:solidFill>
                  <a:srgbClr val="53656B"/>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2CF247E2-BC59-4625-A4F1-ACA1BD4E0087}"/>
              </a:ext>
            </a:extLst>
          </p:cNvPr>
          <p:cNvSpPr>
            <a:spLocks xmlns:a="http://schemas.openxmlformats.org/drawingml/2006/main" noGrp="1"/>
          </p:cNvSpPr>
          <p:nvPr/>
        </p:nvSpPr>
        <p:spPr>
          <a:xfrm xmlns:a="http://schemas.openxmlformats.org/drawingml/2006/main">
            <a:off x="781050" y="194310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3656B"/>
                </a:solidFill>
                <a:latin typeface="Arial"/>
                <a:ea typeface="Arial"/>
                <a:cs typeface="Arial"/>
              </a:defRPr>
            </a:defPPr>
          </a:lstStyle>
          <a:p xmlns:a="http://schemas.openxmlformats.org/drawingml/2006/main">
            <a:pPr>
              <a:defRPr sz="1275" b="0">
                <a:solidFill>
                  <a:srgbClr val="53656B"/>
                </a:solidFill>
                <a:latin typeface="Arial"/>
                <a:ea typeface="Arial"/>
                <a:cs typeface="Arial"/>
              </a:defRPr>
            </a:pPr>
            <a:r>
              <a:rPr sz="1275" b="0">
                <a:solidFill>
                  <a:srgbClr val="53656B"/>
                </a:solidFill>
                <a:latin typeface="Arial"/>
                <a:ea typeface="Arial"/>
                <a:cs typeface="Arial"/>
              </a:rPr>
              <a:t>Daily PM10 prediction (ug/m3)</a:t>
            </a:r>
          </a:p>
        </p:txBody>
      </p:sp>
      <p:graphicFrame>
        <p:nvGraphicFramePr>
          <p:cNvPr id="5" name="Chart">
            <a:extLst xmlns:a="http://schemas.openxmlformats.org/drawingml/2006/main">
              <a:ext uri="{FF2B5EF4-FFF2-40B4-BE49-F238E27FC236}">
                <a16:creationId xmlns:a16="http://schemas.microsoft.com/office/drawing/2014/main" id="{10E7539E-3E14-412E-8367-B172904F5324}"/>
              </a:ext>
            </a:extLst>
          </p:cNvPr>
          <p:cNvGraphicFramePr/>
          <p:nvPr/>
        </p:nvGraphicFramePr>
        <p:xfrm>
          <a:off xmlns:a="http://schemas.openxmlformats.org/drawingml/2006/main" x="762000" y="2324100"/>
          <a:ext xmlns:a="http://schemas.openxmlformats.org/drawingml/2006/main" cx="7429500" cy="3190875"/>
        </p:xfrm>
        <a:graphic xmlns:a="http://schemas.openxmlformats.org/drawingml/2006/main">
          <a:graphicData uri="http://schemas.openxmlformats.org/drawingml/2006/chart">
            <c:chart xmlns:r="http://schemas.openxmlformats.org/officeDocument/2006/relationships" xmlns:c="http://schemas.openxmlformats.org/drawingml/2006/chart" r:id="Rf438293fdff2498f"/>
          </a:graphicData>
        </a:graphic>
      </p:graphicFrame>
      <p:sp>
        <p:nvSpPr>
          <p:cNvPr id="6" name="">
            <a:extLst xmlns:a="http://schemas.openxmlformats.org/drawingml/2006/main">
              <a:ext uri="{FF2B5EF4-FFF2-40B4-BE49-F238E27FC236}">
                <a16:creationId xmlns:a16="http://schemas.microsoft.com/office/drawing/2014/main" id="{0F3EC4DF-A0A2-4080-9BA9-27C1D2D2A0BB}"/>
              </a:ext>
            </a:extLst>
          </p:cNvPr>
          <p:cNvSpPr>
            <a:spLocks xmlns:a="http://schemas.openxmlformats.org/drawingml/2006/main" noGrp="1"/>
          </p:cNvSpPr>
          <p:nvPr/>
        </p:nvSpPr>
        <p:spPr>
          <a:xfrm xmlns:a="http://schemas.openxmlformats.org/drawingml/2006/main">
            <a:off x="8734425" y="2686050"/>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D05D4C"/>
                </a:solidFill>
                <a:latin typeface="Arial"/>
                <a:ea typeface="Arial"/>
                <a:cs typeface="Arial"/>
              </a:defRPr>
            </a:defPPr>
          </a:lstStyle>
          <a:p xmlns:a="http://schemas.openxmlformats.org/drawingml/2006/main">
            <a:pPr>
              <a:defRPr sz="3225" b="1">
                <a:solidFill>
                  <a:srgbClr val="D05D4C"/>
                </a:solidFill>
                <a:latin typeface="Arial"/>
                <a:ea typeface="Arial"/>
                <a:cs typeface="Arial"/>
              </a:defRPr>
            </a:pPr>
            <a:r>
              <a:rPr sz="3225" b="1">
                <a:solidFill>
                  <a:srgbClr val="D05D4C"/>
                </a:solidFill>
                <a:latin typeface="Arial"/>
                <a:ea typeface="Arial"/>
                <a:cs typeface="Arial"/>
              </a:rPr>
              <a:t>5 to 11</a:t>
            </a:r>
          </a:p>
        </p:txBody>
      </p:sp>
      <p:sp>
        <p:nvSpPr>
          <p:cNvPr id="7" name="">
            <a:extLst xmlns:a="http://schemas.openxmlformats.org/drawingml/2006/main">
              <a:ext uri="{FF2B5EF4-FFF2-40B4-BE49-F238E27FC236}">
                <a16:creationId xmlns:a16="http://schemas.microsoft.com/office/drawing/2014/main" id="{A21A9079-3317-4015-A188-317CD5DEF8BC}"/>
              </a:ext>
            </a:extLst>
          </p:cNvPr>
          <p:cNvSpPr>
            <a:spLocks xmlns:a="http://schemas.openxmlformats.org/drawingml/2006/main" noGrp="1"/>
          </p:cNvSpPr>
          <p:nvPr/>
        </p:nvSpPr>
        <p:spPr>
          <a:xfrm xmlns:a="http://schemas.openxmlformats.org/drawingml/2006/main">
            <a:off x="8734425" y="3381375"/>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4272E"/>
                </a:solidFill>
                <a:latin typeface="Arial"/>
                <a:ea typeface="Arial"/>
                <a:cs typeface="Arial"/>
              </a:defRPr>
            </a:defPPr>
          </a:lstStyle>
          <a:p xmlns:a="http://schemas.openxmlformats.org/drawingml/2006/main">
            <a:pPr>
              <a:defRPr sz="1650" b="0">
                <a:solidFill>
                  <a:srgbClr val="14272E"/>
                </a:solidFill>
                <a:latin typeface="Arial"/>
                <a:ea typeface="Arial"/>
                <a:cs typeface="Arial"/>
              </a:defRPr>
            </a:pPr>
            <a:r>
              <a:rPr sz="1650" b="0">
                <a:solidFill>
                  <a:srgbClr val="14272E"/>
                </a:solidFill>
                <a:latin typeface="Arial"/>
                <a:ea typeface="Arial"/>
                <a:cs typeface="Arial"/>
              </a:rPr>
              <a:t>effective lead days</a:t>
            </a:r>
          </a:p>
        </p:txBody>
      </p:sp>
      <p:sp>
        <p:nvSpPr>
          <p:cNvPr id="8" name="">
            <a:extLst xmlns:a="http://schemas.openxmlformats.org/drawingml/2006/main">
              <a:ext uri="{FF2B5EF4-FFF2-40B4-BE49-F238E27FC236}">
                <a16:creationId xmlns:a16="http://schemas.microsoft.com/office/drawing/2014/main" id="{DFEB35D4-07CE-430D-8449-6749E591D0F5}"/>
              </a:ext>
            </a:extLst>
          </p:cNvPr>
          <p:cNvSpPr>
            <a:spLocks xmlns:a="http://schemas.openxmlformats.org/drawingml/2006/main" noGrp="1"/>
          </p:cNvSpPr>
          <p:nvPr/>
        </p:nvSpPr>
        <p:spPr>
          <a:xfrm xmlns:a="http://schemas.openxmlformats.org/drawingml/2006/main">
            <a:off x="8734425" y="4057650"/>
            <a:ext cx="285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3656B"/>
                </a:solidFill>
                <a:latin typeface="Arial"/>
                <a:ea typeface="Arial"/>
                <a:cs typeface="Arial"/>
              </a:defRPr>
            </a:defPPr>
          </a:lstStyle>
          <a:p xmlns:a="http://schemas.openxmlformats.org/drawingml/2006/main">
            <a:pPr>
              <a:defRPr sz="1500" b="0">
                <a:solidFill>
                  <a:srgbClr val="53656B"/>
                </a:solidFill>
                <a:latin typeface="Arial"/>
                <a:ea typeface="Arial"/>
                <a:cs typeface="Arial"/>
              </a:defRPr>
            </a:pPr>
            <a:r>
              <a:rPr sz="1500" b="0">
                <a:solidFill>
                  <a:srgbClr val="53656B"/>
                </a:solidFill>
                <a:latin typeface="Arial"/>
                <a:ea typeface="Arial"/>
                <a:cs typeface="Arial"/>
              </a:rPr>
              <a:t>Station cutoff: 5 Oct</a:t>
            </a:r>
          </a:p>
          <a:p xmlns:a="http://schemas.openxmlformats.org/drawingml/2006/main">
            <a:pPr>
              <a:defRPr sz="1500" b="0">
                <a:solidFill>
                  <a:srgbClr val="53656B"/>
                </a:solidFill>
                <a:latin typeface="Arial"/>
                <a:ea typeface="Arial"/>
                <a:cs typeface="Arial"/>
              </a:defRPr>
            </a:pPr>
            <a:r>
              <a:rPr sz="1500" b="0">
                <a:solidFill>
                  <a:srgbClr val="53656B"/>
                </a:solidFill>
                <a:latin typeface="Arial"/>
                <a:ea typeface="Arial"/>
                <a:cs typeface="Arial"/>
              </a:rPr>
              <a:t>Display: 10-16 Oct</a:t>
            </a:r>
          </a:p>
        </p:txBody>
      </p:sp>
      <p:sp>
        <p:nvSpPr>
          <p:cNvPr id="9" name="">
            <a:extLst xmlns:a="http://schemas.openxmlformats.org/drawingml/2006/main">
              <a:ext uri="{FF2B5EF4-FFF2-40B4-BE49-F238E27FC236}">
                <a16:creationId xmlns:a16="http://schemas.microsoft.com/office/drawing/2014/main" id="{E8C551B2-24B3-460B-924C-8B1847AB711D}"/>
              </a:ext>
            </a:extLst>
          </p:cNvPr>
          <p:cNvSpPr>
            <a:spLocks xmlns:a="http://schemas.openxmlformats.org/drawingml/2006/main" noGrp="1"/>
          </p:cNvSpPr>
          <p:nvPr/>
        </p:nvSpPr>
        <p:spPr>
          <a:xfrm xmlns:a="http://schemas.openxmlformats.org/drawingml/2006/main">
            <a:off x="762000" y="5857875"/>
            <a:ext cx="1057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56B"/>
                </a:solidFill>
                <a:latin typeface="Arial"/>
                <a:ea typeface="Arial"/>
                <a:cs typeface="Arial"/>
              </a:defRPr>
            </a:defPPr>
          </a:lstStyle>
          <a:p xmlns:a="http://schemas.openxmlformats.org/drawingml/2006/main">
            <a:pPr>
              <a:defRPr sz="1350" b="0">
                <a:solidFill>
                  <a:srgbClr val="53656B"/>
                </a:solidFill>
                <a:latin typeface="Arial"/>
                <a:ea typeface="Arial"/>
                <a:cs typeface="Arial"/>
              </a:defRPr>
            </a:pPr>
            <a:r>
              <a:rPr sz="1350" b="0">
                <a:solidFill>
                  <a:srgbClr val="53656B"/>
                </a:solidFill>
                <a:latin typeface="Arial"/>
                <a:ea typeface="Arial"/>
                <a:cs typeface="Arial"/>
              </a:rPr>
              <a:t>If the station is more than five days old, the app switches to a CAMS outlook.</a:t>
            </a:r>
          </a:p>
        </p:txBody>
      </p:sp>
    </p:spTree>
    <p:extLst>
      <p:ext uri="{BB962C8B-B14F-4D97-AF65-F5344CB8AC3E}">
        <p14:creationId xmlns:p14="http://schemas.microsoft.com/office/powerpoint/2010/main" val="384593615"/>
      </p:ext>
    </p:extLst>
  </p:cSld>
</p:sld>
</file>

<file path=ppt/slides/slide9.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5416CC-2323-4496-BC33-B2962773A2B3}"/>
              </a:ext>
            </a:extLst>
          </p:cNvPr>
          <p:cNvSpPr>
            <a:spLocks xmlns:a="http://schemas.openxmlformats.org/drawingml/2006/main" noGrp="1"/>
          </p:cNvSpPr>
          <p:nvPr/>
        </p:nvSpPr>
        <p:spPr>
          <a:xfrm xmlns:a="http://schemas.openxmlformats.org/drawingml/2006/main">
            <a:off x="723900" y="5143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14272E"/>
                </a:solidFill>
                <a:latin typeface="Arial"/>
                <a:ea typeface="Arial"/>
                <a:cs typeface="Arial"/>
              </a:defRPr>
            </a:defPPr>
          </a:lstStyle>
          <a:p xmlns:a="http://schemas.openxmlformats.org/drawingml/2006/main">
            <a:pPr>
              <a:defRPr sz="2700" b="1">
                <a:solidFill>
                  <a:srgbClr val="14272E"/>
                </a:solidFill>
                <a:latin typeface="Arial"/>
                <a:ea typeface="Arial"/>
                <a:cs typeface="Arial"/>
              </a:defRPr>
            </a:pPr>
            <a:r>
              <a:rPr sz="2700" b="1">
                <a:solidFill>
                  <a:srgbClr val="14272E"/>
                </a:solidFill>
                <a:latin typeface="Arial"/>
                <a:ea typeface="Arial"/>
                <a:cs typeface="Arial"/>
              </a:rPr>
              <a:t>What the mid-semester result does not establish</a:t>
            </a:r>
          </a:p>
        </p:txBody>
      </p:sp>
      <p:sp>
        <p:nvSpPr>
          <p:cNvPr id="2" name="">
            <a:extLst xmlns:a="http://schemas.openxmlformats.org/drawingml/2006/main">
              <a:ext uri="{FF2B5EF4-FFF2-40B4-BE49-F238E27FC236}">
                <a16:creationId xmlns:a16="http://schemas.microsoft.com/office/drawing/2014/main" id="{F67504B0-13BC-474F-A12E-A0CC3606D212}"/>
              </a:ext>
            </a:extLst>
          </p:cNvPr>
          <p:cNvSpPr>
            <a:spLocks xmlns:a="http://schemas.openxmlformats.org/drawingml/2006/main" noGrp="1"/>
          </p:cNvSpPr>
          <p:nvPr/>
        </p:nvSpPr>
        <p:spPr>
          <a:xfrm xmlns:a="http://schemas.openxmlformats.org/drawingml/2006/main">
            <a:off x="11115675" y="62865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56B"/>
                </a:solidFill>
                <a:latin typeface="Arial"/>
                <a:ea typeface="Arial"/>
                <a:cs typeface="Arial"/>
              </a:defRPr>
            </a:defPPr>
          </a:lstStyle>
          <a:p xmlns:a="http://schemas.openxmlformats.org/drawingml/2006/main">
            <a:pPr>
              <a:defRPr sz="1050" b="0">
                <a:solidFill>
                  <a:srgbClr val="53656B"/>
                </a:solidFill>
                <a:latin typeface="Arial"/>
                <a:ea typeface="Arial"/>
                <a:cs typeface="Arial"/>
              </a:defRPr>
            </a:pPr>
            <a:r>
              <a:rPr sz="1050" b="0">
                <a:solidFill>
                  <a:srgbClr val="53656B"/>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6C753AAA-8501-46E8-A371-1CEBD5C1A62F}"/>
              </a:ext>
            </a:extLst>
          </p:cNvPr>
          <p:cNvSpPr>
            <a:spLocks xmlns:a="http://schemas.openxmlformats.org/drawingml/2006/main" noGrp="1"/>
          </p:cNvSpPr>
          <p:nvPr/>
        </p:nvSpPr>
        <p:spPr>
          <a:xfrm xmlns:a="http://schemas.openxmlformats.org/drawingml/2006/main">
            <a:off x="781050" y="1752600"/>
            <a:ext cx="4476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D05D4C"/>
                </a:solidFill>
                <a:latin typeface="Arial"/>
                <a:ea typeface="Arial"/>
                <a:cs typeface="Arial"/>
              </a:defRPr>
            </a:defPPr>
          </a:lstStyle>
          <a:p xmlns:a="http://schemas.openxmlformats.org/drawingml/2006/main">
            <a:pPr>
              <a:defRPr sz="1875" b="1">
                <a:solidFill>
                  <a:srgbClr val="D05D4C"/>
                </a:solidFill>
                <a:latin typeface="Arial"/>
                <a:ea typeface="Arial"/>
                <a:cs typeface="Arial"/>
              </a:defRPr>
            </a:pPr>
            <a:r>
              <a:rPr sz="1875" b="1">
                <a:solidFill>
                  <a:srgbClr val="D05D4C"/>
                </a:solidFill>
                <a:latin typeface="Arial"/>
                <a:ea typeface="Arial"/>
                <a:cs typeface="Arial"/>
              </a:rPr>
              <a:t>Current limits</a:t>
            </a:r>
          </a:p>
        </p:txBody>
      </p:sp>
      <p:sp>
        <p:nvSpPr>
          <p:cNvPr id="4" name="">
            <a:extLst xmlns:a="http://schemas.openxmlformats.org/drawingml/2006/main">
              <a:ext uri="{FF2B5EF4-FFF2-40B4-BE49-F238E27FC236}">
                <a16:creationId xmlns:a16="http://schemas.microsoft.com/office/drawing/2014/main" id="{EFF86319-C1D9-445B-8356-A16F106CA078}"/>
              </a:ext>
            </a:extLst>
          </p:cNvPr>
          <p:cNvSpPr>
            <a:spLocks xmlns:a="http://schemas.openxmlformats.org/drawingml/2006/main" noGrp="1"/>
          </p:cNvSpPr>
          <p:nvPr/>
        </p:nvSpPr>
        <p:spPr>
          <a:xfrm xmlns:a="http://schemas.openxmlformats.org/drawingml/2006/main">
            <a:off x="781050" y="2305050"/>
            <a:ext cx="4714875"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4272E"/>
                </a:solidFill>
                <a:latin typeface="Arial"/>
                <a:ea typeface="Arial"/>
                <a:cs typeface="Arial"/>
              </a:defRPr>
            </a:defPPr>
          </a:lstStyle>
          <a:p xmlns:a="http://schemas.openxmlformats.org/drawingml/2006/main">
            <a:pPr>
              <a:defRPr sz="1650" b="0">
                <a:solidFill>
                  <a:srgbClr val="14272E"/>
                </a:solidFill>
                <a:latin typeface="Arial"/>
                <a:ea typeface="Arial"/>
                <a:cs typeface="Arial"/>
              </a:defRPr>
            </a:pPr>
            <a:r>
              <a:rPr sz="1650" b="0">
                <a:solidFill>
                  <a:srgbClr val="14272E"/>
                </a:solidFill>
                <a:latin typeface="Arial"/>
                <a:ea typeface="Arial"/>
                <a:cs typeface="Arial"/>
              </a:rPr>
              <a:t>CAMS is modeled, not field truth</a:t>
            </a:r>
          </a:p>
          <a:p xmlns:a="http://schemas.openxmlformats.org/drawingml/2006/main">
            <a:pPr>
              <a:defRPr sz="1650" b="0">
                <a:solidFill>
                  <a:srgbClr val="14272E"/>
                </a:solidFill>
                <a:latin typeface="Arial"/>
                <a:ea typeface="Arial"/>
                <a:cs typeface="Arial"/>
              </a:defRPr>
            </a:pPr>
            <a:r>
              <a:rPr sz="1650" b="0">
                <a:solidFill>
                  <a:srgbClr val="14272E"/>
                </a:solidFill>
                <a:latin typeface="Arial"/>
                <a:ea typeface="Arial"/>
                <a:cs typeface="Arial"/>
              </a:rPr>
              <a:t>Station test loses dates to missingness</a:t>
            </a:r>
          </a:p>
          <a:p xmlns:a="http://schemas.openxmlformats.org/drawingml/2006/main">
            <a:pPr>
              <a:defRPr sz="1650" b="0">
                <a:solidFill>
                  <a:srgbClr val="14272E"/>
                </a:solidFill>
                <a:latin typeface="Arial"/>
                <a:ea typeface="Arial"/>
                <a:cs typeface="Arial"/>
              </a:defRPr>
            </a:pPr>
            <a:r>
              <a:rPr sz="1650" b="0">
                <a:solidFill>
                  <a:srgbClr val="14272E"/>
                </a:solidFill>
                <a:latin typeface="Arial"/>
                <a:ea typeface="Arial"/>
                <a:cs typeface="Arial"/>
              </a:rPr>
              <a:t>Historical weather is not fixed issue-time input</a:t>
            </a:r>
          </a:p>
          <a:p xmlns:a="http://schemas.openxmlformats.org/drawingml/2006/main">
            <a:pPr>
              <a:defRPr sz="1650" b="0">
                <a:solidFill>
                  <a:srgbClr val="14272E"/>
                </a:solidFill>
                <a:latin typeface="Arial"/>
                <a:ea typeface="Arial"/>
                <a:cs typeface="Arial"/>
              </a:defRPr>
            </a:pPr>
            <a:r>
              <a:rPr sz="1650" b="0">
                <a:solidFill>
                  <a:srgbClr val="14272E"/>
                </a:solidFill>
                <a:latin typeface="Arial"/>
                <a:ea typeface="Arial"/>
                <a:cs typeface="Arial"/>
              </a:rPr>
              <a:t>No mature prospective live evaluation</a:t>
            </a:r>
          </a:p>
        </p:txBody>
      </p:sp>
      <p:sp>
        <p:nvSpPr>
          <p:cNvPr id="5" name="">
            <a:extLst xmlns:a="http://schemas.openxmlformats.org/drawingml/2006/main">
              <a:ext uri="{FF2B5EF4-FFF2-40B4-BE49-F238E27FC236}">
                <a16:creationId xmlns:a16="http://schemas.microsoft.com/office/drawing/2014/main" id="{F75B6746-9306-47CC-8ABF-7794D5B10742}"/>
              </a:ext>
            </a:extLst>
          </p:cNvPr>
          <p:cNvSpPr>
            <a:spLocks xmlns:a="http://schemas.openxmlformats.org/drawingml/2006/main" noGrp="1"/>
          </p:cNvSpPr>
          <p:nvPr/>
        </p:nvSpPr>
        <p:spPr>
          <a:xfrm xmlns:a="http://schemas.openxmlformats.org/drawingml/2006/main">
            <a:off x="6381750" y="1752600"/>
            <a:ext cx="4476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C8582"/>
                </a:solidFill>
                <a:latin typeface="Arial"/>
                <a:ea typeface="Arial"/>
                <a:cs typeface="Arial"/>
              </a:defRPr>
            </a:defPPr>
          </a:lstStyle>
          <a:p xmlns:a="http://schemas.openxmlformats.org/drawingml/2006/main">
            <a:pPr>
              <a:defRPr sz="1875" b="1">
                <a:solidFill>
                  <a:srgbClr val="0C8582"/>
                </a:solidFill>
                <a:latin typeface="Arial"/>
                <a:ea typeface="Arial"/>
                <a:cs typeface="Arial"/>
              </a:defRPr>
            </a:pPr>
            <a:r>
              <a:rPr sz="1875" b="1">
                <a:solidFill>
                  <a:srgbClr val="0C8582"/>
                </a:solidFill>
                <a:latin typeface="Arial"/>
                <a:ea typeface="Arial"/>
                <a:cs typeface="Arial"/>
              </a:rPr>
              <a:t>Next work</a:t>
            </a:r>
          </a:p>
        </p:txBody>
      </p:sp>
      <p:sp>
        <p:nvSpPr>
          <p:cNvPr id="6" name="">
            <a:extLst xmlns:a="http://schemas.openxmlformats.org/drawingml/2006/main">
              <a:ext uri="{FF2B5EF4-FFF2-40B4-BE49-F238E27FC236}">
                <a16:creationId xmlns:a16="http://schemas.microsoft.com/office/drawing/2014/main" id="{7ADC0006-2C08-4B19-93FF-30981FCB5BE8}"/>
              </a:ext>
            </a:extLst>
          </p:cNvPr>
          <p:cNvSpPr>
            <a:spLocks xmlns:a="http://schemas.openxmlformats.org/drawingml/2006/main" noGrp="1"/>
          </p:cNvSpPr>
          <p:nvPr/>
        </p:nvSpPr>
        <p:spPr>
          <a:xfrm xmlns:a="http://schemas.openxmlformats.org/drawingml/2006/main">
            <a:off x="6381750" y="2305050"/>
            <a:ext cx="4857750"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4272E"/>
                </a:solidFill>
                <a:latin typeface="Arial"/>
                <a:ea typeface="Arial"/>
                <a:cs typeface="Arial"/>
              </a:defRPr>
            </a:defPPr>
          </a:lstStyle>
          <a:p xmlns:a="http://schemas.openxmlformats.org/drawingml/2006/main">
            <a:pPr>
              <a:defRPr sz="1650" b="0">
                <a:solidFill>
                  <a:srgbClr val="14272E"/>
                </a:solidFill>
                <a:latin typeface="Arial"/>
                <a:ea typeface="Arial"/>
                <a:cs typeface="Arial"/>
              </a:defRPr>
            </a:pPr>
            <a:r>
              <a:rPr sz="1650" b="0">
                <a:solidFill>
                  <a:srgbClr val="14272E"/>
                </a:solidFill>
                <a:latin typeface="Arial"/>
                <a:ea typeface="Arial"/>
                <a:cs typeface="Arial"/>
              </a:rPr>
              <a:t>Log immutable forecasts before outcomes</a:t>
            </a:r>
          </a:p>
          <a:p xmlns:a="http://schemas.openxmlformats.org/drawingml/2006/main">
            <a:pPr>
              <a:defRPr sz="1650" b="0">
                <a:solidFill>
                  <a:srgbClr val="14272E"/>
                </a:solidFill>
                <a:latin typeface="Arial"/>
                <a:ea typeface="Arial"/>
                <a:cs typeface="Arial"/>
              </a:defRPr>
            </a:pPr>
            <a:r>
              <a:rPr sz="1650" b="0">
                <a:solidFill>
                  <a:srgbClr val="14272E"/>
                </a:solidFill>
                <a:latin typeface="Arial"/>
                <a:ea typeface="Arial"/>
                <a:cs typeface="Arial"/>
              </a:rPr>
              <a:t>Score later against station actuals</a:t>
            </a:r>
          </a:p>
          <a:p xmlns:a="http://schemas.openxmlformats.org/drawingml/2006/main">
            <a:pPr>
              <a:defRPr sz="1650" b="0">
                <a:solidFill>
                  <a:srgbClr val="14272E"/>
                </a:solidFill>
                <a:latin typeface="Arial"/>
                <a:ea typeface="Arial"/>
                <a:cs typeface="Arial"/>
              </a:defRPr>
            </a:pPr>
            <a:r>
              <a:rPr sz="1650" b="0">
                <a:solidFill>
                  <a:srgbClr val="14272E"/>
                </a:solidFill>
                <a:latin typeface="Arial"/>
                <a:ea typeface="Arial"/>
                <a:cs typeface="Arial"/>
              </a:rPr>
              <a:t>Test fixed issue-time weather forecasts</a:t>
            </a:r>
          </a:p>
          <a:p xmlns:a="http://schemas.openxmlformats.org/drawingml/2006/main">
            <a:pPr>
              <a:defRPr sz="1650" b="0">
                <a:solidFill>
                  <a:srgbClr val="14272E"/>
                </a:solidFill>
                <a:latin typeface="Arial"/>
                <a:ea typeface="Arial"/>
                <a:cs typeface="Arial"/>
              </a:defRPr>
            </a:pPr>
            <a:r>
              <a:rPr sz="1650" b="0">
                <a:solidFill>
                  <a:srgbClr val="14272E"/>
                </a:solidFill>
                <a:latin typeface="Arial"/>
                <a:ea typeface="Arial"/>
                <a:cs typeface="Arial"/>
              </a:rPr>
              <a:t>Expand and audit external signals</a:t>
            </a:r>
          </a:p>
        </p:txBody>
      </p:sp>
      <p:sp>
        <p:nvSpPr>
          <p:cNvPr id="7" name="">
            <a:extLst xmlns:a="http://schemas.openxmlformats.org/drawingml/2006/main">
              <a:ext uri="{FF2B5EF4-FFF2-40B4-BE49-F238E27FC236}">
                <a16:creationId xmlns:a16="http://schemas.microsoft.com/office/drawing/2014/main" id="{CDC3BC4C-0F6E-4B87-A17A-576518F4D554}"/>
              </a:ext>
            </a:extLst>
          </p:cNvPr>
          <p:cNvSpPr>
            <a:spLocks xmlns:a="http://schemas.openxmlformats.org/drawingml/2006/main" noGrp="1"/>
          </p:cNvSpPr>
          <p:nvPr/>
        </p:nvSpPr>
        <p:spPr>
          <a:xfrm xmlns:a="http://schemas.openxmlformats.org/drawingml/2006/main">
            <a:off x="781050" y="5229225"/>
            <a:ext cx="10287000" cy="19050"/>
          </a:xfrm>
          <a:prstGeom xmlns:a="http://schemas.openxmlformats.org/drawingml/2006/main" prst="rect">
            <a:avLst/>
          </a:prstGeom>
          <a:solidFill xmlns:a="http://schemas.openxmlformats.org/drawingml/2006/main">
            <a:srgbClr val="D8E0E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47E3621-0561-4B0D-9B86-091B26BF4E30}"/>
              </a:ext>
            </a:extLst>
          </p:cNvPr>
          <p:cNvSpPr>
            <a:spLocks xmlns:a="http://schemas.openxmlformats.org/drawingml/2006/main" noGrp="1"/>
          </p:cNvSpPr>
          <p:nvPr/>
        </p:nvSpPr>
        <p:spPr>
          <a:xfrm xmlns:a="http://schemas.openxmlformats.org/drawingml/2006/main">
            <a:off x="781050" y="5534025"/>
            <a:ext cx="1038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14272E"/>
                </a:solidFill>
                <a:latin typeface="Arial"/>
                <a:ea typeface="Arial"/>
                <a:cs typeface="Arial"/>
              </a:defRPr>
            </a:defPPr>
          </a:lstStyle>
          <a:p xmlns:a="http://schemas.openxmlformats.org/drawingml/2006/main">
            <a:pPr>
              <a:defRPr sz="1725" b="1">
                <a:solidFill>
                  <a:srgbClr val="14272E"/>
                </a:solidFill>
                <a:latin typeface="Arial"/>
                <a:ea typeface="Arial"/>
                <a:cs typeface="Arial"/>
              </a:defRPr>
            </a:pPr>
            <a:r>
              <a:rPr sz="1725" b="1">
                <a:solidFill>
                  <a:srgbClr val="14272E"/>
                </a:solidFill>
                <a:latin typeface="Arial"/>
                <a:ea typeface="Arial"/>
                <a:cs typeface="Arial"/>
              </a:rPr>
              <a:t>The honest finding: model complexity helps observed PM10 here, but not consistently elsewhere.</a:t>
            </a:r>
          </a:p>
        </p:txBody>
      </p:sp>
    </p:spTree>
    <p:extLst>
      <p:ext uri="{BB962C8B-B14F-4D97-AF65-F5344CB8AC3E}">
        <p14:creationId xmlns:p14="http://schemas.microsoft.com/office/powerpoint/2010/main" val="3697556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2026-10-09T12:15:45.6610000Z</dcterms:created>
  <dcterms:modified xsi:type="dcterms:W3CDTF">2026-10-09T12:15:45.6610000Z</dcterms:modified>
</coreProperties>
</file>